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77" r:id="rId28"/>
    <p:sldId id="263" r:id="rId9"/>
    <p:sldId id="264" r:id="rId10"/>
    <p:sldId id="265" r:id="rId11"/>
    <p:sldId id="266" r:id="rId12"/>
    <p:sldId id="267" r:id="rId13"/>
    <p:sldId id="275" r:id="rId26"/>
    <p:sldId id="278" r:id="rId29"/>
    <p:sldId id="276" r:id="rId27"/>
    <p:sldId id="279" r:id="rId30"/>
    <p:sldId id="280" r:id="rId31"/>
    <p:sldId id="268" r:id="rId14"/>
    <p:sldId id="281" r:id="rId32"/>
    <p:sldId id="270" r:id="rId16"/>
    <p:sldId id="271" r:id="rId17"/>
    <p:sldId id="272" r:id="rId18"/>
    <p:sldId id="273" r:id="rId19"/>
    <p:sldId id="274" r:id="rId20"/>
  </p:sldIdLst>
  <p:notesMasterIdLst>
    <p:notesMasterId r:id="rId21"/>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9.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5.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14.xml"/><Relationship Id="rId27" Type="http://schemas.openxmlformats.org/officeDocument/2006/relationships/slide" Target="slides/slide16.xml"/><Relationship Id="rId28" Type="http://schemas.openxmlformats.org/officeDocument/2006/relationships/slide" Target="slides/slide8.xml"/><Relationship Id="rId29" Type="http://schemas.openxmlformats.org/officeDocument/2006/relationships/slide" Target="slides/slide15.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My name is Theodore Abbey Gyaqueh, student number [INSERT student number], and this is my BSc Computer Science project defence, supervised by Mr. Julius Ludu.</a:t>
            </a:r>
          </a:p>
          <a:p/>
          <a:p>
            <a:r>
              <a:t>My project is CampusFinder: a mobile lost-and-found application for university campuses. It lets a student report a lost or found item, search what others have reported, and arrange the return through a private, encrypted chat.</a:t>
            </a:r>
          </a:p>
          <a:p/>
          <a:p>
            <a:r>
              <a:t>I will take about fifteen minutes, then I welcome your questions. (~30 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the route through the talk. I start with the problem and why it matters, then the aim, objectives and research questions. After that I look at related systems and how CampusFinder compares with the informal way students recover items today. Then come the methodology, requirements, architecture and design, followed by the implementation: reporting and browsing, the path from report to reunion, the security layers, and a demonstration. I finish with the evaluation plan, where each objective stands, the limitations and the conclusion. (~30 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university campus is a place where thousands of people move between lecture halls, libraries and halls of residence every day, and things get left behind: student ID cards, phones, keys, bags and books.</a:t>
            </a:r>
          </a:p>
          <a:p/>
          <a:p>
            <a:r>
              <a:t>Today, recovering an item is informal. The owner or the finder posts in a WhatsApp group, pins a note on a notice board or simply asks around. The post is soon buried under other messages, it cannot be searched, and it often exposes a personal phone number to a large group of strangers.</a:t>
            </a:r>
          </a:p>
          <a:p/>
          <a:p>
            <a:r>
              <a:t>What has changed is the technology available. Smartphones are common among students, and cloud services such as Firebase make it possible for one developer to build a real-time application without running a server. Existing lost-and-found products are aimed at organisations with a staffed lost-property office, or they depend on tracking tags. That left room for a student-to-student solution. (~90 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Stated plainly: a student who loses or finds an item on campus has no single, trusted place to report it, search for it and contact the other person without exposing a phone number to strangers.</a:t>
            </a:r>
          </a:p>
          <a:p/>
          <a:p>
            <a:r>
              <a:t>The evidence is the way recovery works today, through group chats, notice boards and word of mouth. [INSERT: one sentence of evidence from your survey or literature.]</a:t>
            </a:r>
          </a:p>
          <a:p/>
          <a:p>
            <a:r>
              <a:t>The people affected are students who lose things and the students and staff who find them. The cost of leaving the problem unsolved is that posts get buried, finders cannot reach owners, personal contact details are shared publicly, and items stay unclaimed. (~60 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aim has two halves: build an application that lets students report, search for and securely arrange the return of items, and find out whether it actually improves on the informal channels.</a:t>
            </a:r>
          </a:p>
          <a:p/>
          <a:p>
            <a:r>
              <a:t>Each objective serves a named part of that aim. O1 sets the baseline: how students recover items today. O2 covers the word secure: verified accounts, database access rules and encrypted chat. O3 is the platform itself: reporting with photos, live browsing, search, the chat inbox and message alerts. O4 is the comparison and the evaluation.</a:t>
            </a:r>
          </a:p>
          <a:p/>
          <a:p>
            <a:r>
              <a:t>The right-hand column shows the part of the aim each objective serves and the evidence that will demonstrate it. (~60 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three research questions. RQ1 asks whether students can report and locate an item faster in one application than through WhatsApp groups, measured by time on task. RQ2 asks how usable the application is, measured with the System Usability Scale. RQ3 asks which safeguard users value most: verified accounts, private chat or message encryption.</a:t>
            </a:r>
          </a:p>
          <a:p/>
          <a:p>
            <a:r>
              <a:t>On scope: the users are University of Ghana students, the features are the ones listed, and the application runs on Android and iOS from one Expo codebase, with Firebase and Cloudinary behind it. Deliberately out of scope for this version are a formal claim approval step, administrator moderation and automatic matching of lost and found reports.</a:t>
            </a:r>
          </a:p>
          <a:p/>
          <a:p>
            <a:r>
              <a:t>On significance: students get one private, searchable place to recover belongings, the campus gets a base that security or hall offices could adopt, and the project documents a serverless pattern for private peer-to-peer reporting. (~75 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reviewed three existing systems. Chargerback is a cloud lost-property system used by airlines, resorts and public venues. It is proven at scale, but it assumes an organisation with staff who log every item. Crowdfind takes an image-based approach, where each found item starts with a photo. It is quick to log and search, but again it is run by an organisation rather than by the finders and owners themselves. Apple's AirTag solves the problem with hardware: a tag located through the Find My network. It works well, but the tag has to be bought and attached before the item is lost, and it needs an Apple device.</a:t>
            </a:r>
          </a:p>
          <a:p/>
          <a:p>
            <a:r>
              <a:t>The gap is the bottom row. Among the systems I reviewed, none gives students a peer-to-peer place to report, search and privately arrange a return, tied to verified accounts. I state the limits of my own system openly: it is at prototype scale, and it has no formal claim step or moderation yet. (~90 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follows design science research as set out by Peffers and colleagues: an artefact is designed, built and evaluated to solve a real problem.</a:t>
            </a:r>
          </a:p>
          <a:p/>
          <a:p>
            <a:r>
              <a:t>Problem identification came from the literature and the review of three systems. The objectives became O1 to O4 and twelve functional requirements. Design and development produced the architecture, the Firestore data model, five service modules and ten screens. The demonstration is the walkthrough you will see shortly. Evaluation so far is manual functional testing on a phone, and the usability study is planned. Communication is the report and this defence.</a:t>
            </a:r>
          </a:p>
          <a:p/>
          <a:p>
            <a:r>
              <a:t>The work was iterative. I built the core screens and navigation first, then the Firebase services, and then redesigned the interface and moved photo storage to Cloudinary. [INSERT: any change made after supervisor feedback.] (~60 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requirements came from the literature and the review of existing systems, and I wrote them as twelve numbered functional requirements. They follow the user's path: register and verify, report an item with an optional photo, browse and search, open the details, chat privately with the reporter, and receive alerts for new messages.</a:t>
            </a:r>
          </a:p>
          <a:p/>
          <a:p>
            <a:r>
              <a:t>On the right are the qualities the system is judged by: usability, performance, security, reliability and portability. Each one is tied to something concrete in the code. For example, reliability means a message that fails to send is put back in the input box so that nothing is lost, and security means verified email, database rules and encrypted chat. (~75 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architecture is serverless. There is no custom backend server. The Expo application contains the screens and five service modules, and those modules talk directly to cloud services through their SDKs over HTTPS.</a:t>
            </a:r>
          </a:p>
          <a:p/>
          <a:p>
            <a:r>
              <a:t>Firebase Authentication handles accounts and email verification. Cloud Firestore stores three collections, users, items and chats, with messages held in a sub-collection under each chat. Firestore's real-time listeners are what make the Browse list and the chat update live. Security rules on the database decide who can read and write each document.</a:t>
            </a:r>
          </a:p>
          <a:p/>
          <a:p>
            <a:r>
              <a:t>Item photos go to Cloudinary through an unsigned upload preset, and only the resulting HTTPS address is saved in Firestore. Notifications are local to the device, using Expo Notifications. I chose this design deliberately: for one developer it removes the cost of building, hosting and securing a server. (~75 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are three views of the design. On the left are the use cases by actor. A visitor can only sign up or log in. A user whose email is not yet verified can only request the link again and confirm. A verified student can report, browse, search, chat and manage the account.</a:t>
            </a:r>
          </a:p>
          <a:p/>
          <a:p>
            <a:r>
              <a:t>In the middle is the data model. A Firebase Authentication account has one profile document in users. A user can report many items, an item can have many chats, and each chat has exactly two participants and many messages. Because Firestore is a document database, these links are stored as identifiers such as reportedBy and itemId.</a:t>
            </a:r>
          </a:p>
          <a:p/>
          <a:p>
            <a:r>
              <a:t>On the right is the Welcome screen, one of the ten screens, which shows the visual style used throughout: a navy to teal header, white cards and line icons. (~75 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client is React Native 0.86 with Expo 57, written in JavaScript, with React Navigation 7 for the stack and the bottom tabs. The backend is Firebase version 12: Authentication and Cloud Firestore, protected by security rules. Item photos are stored on Cloudinary.</a:t>
            </a:r>
          </a:p>
          <a:p/>
          <a:p>
            <a:r>
              <a:t>Two engineering points. First, all access to Firebase and Cloudinary goes through five small service modules, so the screens never query the database directly. Second, the root of the app listens to the authentication state and shows only the screens that state allows: the login screen, the verification screen or the full application.</a:t>
            </a:r>
          </a:p>
          <a:p/>
          <a:p>
            <a:r>
              <a:t>The screenshots on the right are the Sign up and Log in views, which are one screen with a sliding tab, captured on a phone running the app through Expo Go. (~60 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will now show four scenarios, which take about four minutes.</a:t>
            </a:r>
          </a:p>
          <a:p/>
          <a:p>
            <a:r>
              <a:t>One: I sign up with an email address, open the verification link and reach the Welcome screen. Two: I report a found item with a photo, and it appears on the Browse list at once. Three: on a second phone, another user searches for the item, opens its details and starts a secure chat. Four: the two users exchange messages in real time, and I show the stored ciphertext in the Firestore console.</a:t>
            </a:r>
          </a:p>
          <a:p/>
          <a:p>
            <a:r>
              <a:t>If the network fails, I have a screen recording of the same four scenarios. [INSERT: confirm the recording is ready.] (~60 s plus demo)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where each objective stands. O1: the related systems are reviewed, and the survey of students still has to run. O2: the verification gate, the database rules and the encrypted chat are implemented, with key handling still to be hardened. O3: reporting, browsing, search, chat and alerts are built and running on a phone, and the claim step is not built yet. O4: testing so far is manual, and the usability study is planned.</a:t>
            </a:r>
          </a:p>
          <a:p/>
          <a:p>
            <a:r>
              <a:t>The contribution is a working, serverless reference design for a campus lost-and-found service that combines verified accounts, database access rules, photo reports, live search and encrypted private chat in one mobile application. (~60 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honest limits. There is no claim approval, no proof of ownership and no returned status, so reports stay listed. There is no administrator role and no way to report a user or a false post. On security, the chat key can be derived from the application, and email verification is checked in the app rather than in the database rules. And on evaluation, there are no automated tests and the usability study has not been run.</a:t>
            </a:r>
          </a:p>
          <a:p/>
          <a:p>
            <a:r>
              <a:t>Each limit has a next step: a claim workflow with proof questions and a returned status, an administrator console with user reporting, per-user key exchange together with rules that require a verified university email, and then finishing the placeholder features, adding tests and running the study. (~60 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close. The problem: lost items on campus are chased through WhatsApp posts and notice boards that quickly get buried. The artefact: a mobile application that takes an item from a report, through live search, to a private encrypted chat between two verified accounts. The evidence so far: twelve requirements built across ten screens and five service modules, running on a phone, with the usability study still to come.</a:t>
            </a:r>
          </a:p>
          <a:p/>
          <a:p>
            <a:r>
              <a:t>CampusFinder shows that verified accounts, access rules, live search and encrypted chat can be delivered in one serverless mobile application, and it leaves a documented base that the Department can extend with claims and moderation. Thank you. (~45 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 reference list is in the project report. These are the sources that shaped the design and the evaluation method: Peffers and Hevner for the methodology, Brooke for the System Usability Scale, the Data Protection Act for the handling of personal data, the Firebase and Cloudinary documentation for the implementation, and the existing systems I reviewed. (~15 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listening. I am happy to take questions on the architecture choices, the security layers and their limits, the evaluation plan, or anything you saw in the demonstration. (~15 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screens a student uses most. Browse shows live totals of lost and found items, a search box that matches the name, location and description, and filters for all, lost or found. A report that is less than an hour old carries a NEW badge.</a:t>
            </a:r>
          </a:p>
          <a:p/>
          <a:p>
            <a:r>
              <a:t>Reporting an item means choosing lost or found, then entering a name, a description and a location. A photo is optional and can come from the camera or the gallery. On submit, the photo is uploaded first and the report is then saved, and it appears on every user's list immediately.</a:t>
            </a:r>
          </a:p>
          <a:p/>
          <a:p>
            <a:r>
              <a:t>Tapping an item opens its details, with the location, the time, the reporter's name and a button to start a secure chat. (~60 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screens. The Chats tab is an inbox that lists every conversation with the latest message and its time, newest first. The chat screen shows messages live, with a notice that they are encrypted. When a new message arrives while the app is open, a banner slides down from the top. When the app is in the background, a local notification is shown instead.</a:t>
            </a:r>
          </a:p>
          <a:p/>
          <a:p>
            <a:r>
              <a:t>The Account tab shows the profile, the number of items I have reported and the log out button.</a:t>
            </a:r>
          </a:p>
          <a:p/>
          <a:p>
            <a:r>
              <a:t>Some entries on that screen are placeholders in this version: dark mode, the list of my reported items, privacy and safety, and help and support. They are laid out in the interface but not yet implemented, and there is no administrator or moderation side yet. (~60 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fair question is what makes this better than a WhatsApp group. The informal way works because students are willing to help each other. But a post in a group is unstructured, it is quickly buried, it cannot be searched, and the poster's phone number is visible to everyone.</a:t>
            </a:r>
          </a:p>
          <a:p/>
          <a:p>
            <a:r>
              <a:t>CampusFinder does not replace that goodwill. The finder and the owner still talk to each other and still agree where to meet. What changes is that the report is structured and searchable, the account behind it has a confirmed email address, and the conversation happens in a private chat without sharing a phone number.</a:t>
            </a:r>
          </a:p>
          <a:p/>
          <a:p>
            <a:r>
              <a:t>I am presenting these as claims, not results. RQ1 and RQ3 are designed to test exactly these rows. (~60 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follows one item from report to reunion. A student reports it. It is listed for everyone in real time. The other student finds it through search or a filter, opens the details and starts a private chat, and the two agree on a public place on campus to hand it over.</a:t>
            </a:r>
          </a:p>
          <a:p/>
          <a:p>
            <a:r>
              <a:t>Along the way the code enforces a few rules. A report needs a name, a description and a location. Each report stores the reporter's user identifier, and the database rules allow only that user to change or delete it. A user cannot open a chat about their own report. And there is one chat per item and pair of users, so reopening it resumes the same thread.</a:t>
            </a:r>
          </a:p>
          <a:p/>
          <a:p>
            <a:r>
              <a:t>I want to be clear about what is not built yet. There is no formal claim step, no proof of ownership question and no returned status. Today the two students settle ownership in the chat. That is the first item in my future work. (~75 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is layered. First, account authentication through Firebase with an email and password. The session is kept on the device, and Firebase locks out repeated failed attempts.</a:t>
            </a:r>
          </a:p>
          <a:p/>
          <a:p>
            <a:r>
              <a:t>Second, email verification. A link is emailed at sign-up, and until it is opened the user sees only the verification screen. I mark this as app-side, because the check is made in the application and not yet in the database rules.</a:t>
            </a:r>
          </a:p>
          <a:p/>
          <a:p>
            <a:r>
              <a:t>Third, the Firestore security rules. Only the reporter can edit or delete an item, only the two participants can read or write a chat, and messages cannot be edited or deleted once sent.</a:t>
            </a:r>
          </a:p>
          <a:p/>
          <a:p>
            <a:r>
              <a:t>Fourth, chat messages are encrypted with AES before they are saved, so the database holds ciphertext.</a:t>
            </a:r>
          </a:p>
          <a:p/>
          <a:p>
            <a:r>
              <a:t>The honest gaps are in the gold box: the rules check that a user is signed in, not that the email is verified, any email domain is accepted, and the chat key is derived from the chat identifier and a constant in the app. On privacy, the app never shows a phone number, and it holds no secret keys. (~90 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one chat message is protected. The message is typed on the phone. A key is derived for that chat by hashing the chat identifier with SHA-256, and the text is encrypted with AES using the crypto-js library. Only the ciphertext is sent to Firestore, and the inbox preview is encrypted in the same way.</a:t>
            </a:r>
          </a:p>
          <a:p/>
          <a:p>
            <a:r>
              <a:t>The steps at the bottom show the protection building up. Plain text exists only on the two phones. In the database the message is encrypted, it is restricted by the rules to the two participants, and it is immutable: it cannot be edited or deleted.</a:t>
            </a:r>
          </a:p>
          <a:p/>
          <a:p>
            <a:r>
              <a:t>The limit is stated in the box. The application calls this end-to-end encryption, but it is not truly end-to-end yet, because the key can be rebuilt by anyone who has the chat identifier and the application code. It does protect the messages from being read directly in the database. Real end-to-end encryption needs per-user keys, and that is future work. (~75 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evaluation plan, and I want to be clear about what is done and what is not.</a:t>
            </a:r>
          </a:p>
          <a:p/>
          <a:p>
            <a:r>
              <a:t>So far the system has been tested by hand on a physical phone through Expo Go. [INSERT: number of manual test cases, the devices used and the results.] There are no automated tests in the repository yet, and unit tests for the five service modules are planned.</a:t>
            </a:r>
          </a:p>
          <a:p/>
          <a:p>
            <a:r>
              <a:t>The usability study has not been run yet. Participants will carry out representative tasks while I time them. Time on task against a described WhatsApp scenario answers RQ1. The System Usability Scale answers RQ2. Rating questions and open questions about the safeguards answer RQ3. [INSERT: number of participants and how they will be recruited.] (~75 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G Title Only">
    <p:bg>
      <p:bgPr>
        <a:solidFill>
          <a:srgbClr val="EEEEF6"/>
        </a:solidFill>
      </p:bgPr>
    </p:bg>
    <p:spTree>
      <p:nvGrpSpPr>
        <p:cNvPr id="1" name=""/>
        <p:cNvGrpSpPr/>
        <p:nvPr/>
      </p:nvGrpSpPr>
      <p:grpSpPr>
        <a:xfrm>
          <a:off x="0" y="0"/>
          <a:ext cx="0" cy="0"/>
          <a:chOff x="0" y="0"/>
          <a:chExt cx="0" cy="0"/>
        </a:xfrm>
      </p:grpSpPr>
      <p:sp>
        <p:nvSpPr>
          <p:cNvPr id="2" name="Shape 0"/>
          <p:cNvSpPr/>
          <p:nvPr/>
        </p:nvSpPr>
        <p:spPr>
          <a:xfrm>
            <a:off x="0" y="274320"/>
            <a:ext cx="9144000" cy="91440"/>
          </a:xfrm>
          <a:prstGeom prst="rect">
            <a:avLst/>
          </a:prstGeom>
          <a:solidFill>
            <a:srgbClr val="B08B57"/>
          </a:solidFill>
          <a:ln/>
        </p:spPr>
      </p:sp>
      <p:sp>
        <p:nvSpPr>
          <p:cNvPr id="3" name="Shape 1"/>
          <p:cNvSpPr/>
          <p:nvPr/>
        </p:nvSpPr>
        <p:spPr>
          <a:xfrm>
            <a:off x="0" y="365760"/>
            <a:ext cx="9144000" cy="1143000"/>
          </a:xfrm>
          <a:prstGeom prst="rect">
            <a:avLst/>
          </a:prstGeom>
          <a:solidFill>
            <a:srgbClr val="000066"/>
          </a:solidFill>
          <a:ln/>
        </p:spPr>
      </p:sp>
      <p:sp>
        <p:nvSpPr>
          <p:cNvPr id="4" name="Shape 2"/>
          <p:cNvSpPr/>
          <p:nvPr/>
        </p:nvSpPr>
        <p:spPr>
          <a:xfrm>
            <a:off x="0" y="1508760"/>
            <a:ext cx="9144000" cy="91440"/>
          </a:xfrm>
          <a:prstGeom prst="rect">
            <a:avLst/>
          </a:prstGeom>
          <a:solidFill>
            <a:srgbClr val="B08B57"/>
          </a:solidFill>
          <a:ln/>
        </p:spPr>
      </p:sp>
      <p:pic>
        <p:nvPicPr>
          <p:cNvPr id="5" name="Image 0" descr="crest.png">    </p:cNvPr>
          <p:cNvPicPr>
            <a:picLocks noChangeAspect="1"/>
          </p:cNvPicPr>
          <p:nvPr/>
        </p:nvPicPr>
        <p:blipFill>
          <a:blip r:embed="rId1"/>
          <a:stretch>
            <a:fillRect/>
          </a:stretch>
        </p:blipFill>
        <p:spPr>
          <a:xfrm>
            <a:off x="6876288" y="6309360"/>
            <a:ext cx="329184" cy="402336"/>
          </a:xfrm>
          <a:prstGeom prst="rect">
            <a:avLst/>
          </a:prstGeom>
        </p:spPr>
      </p:pic>
      <p:pic>
        <p:nvPicPr>
          <p:cNvPr id="6" name="Image 1" descr="wordmark.png">    </p:cNvPr>
          <p:cNvPicPr>
            <a:picLocks noChangeAspect="1"/>
          </p:cNvPicPr>
          <p:nvPr/>
        </p:nvPicPr>
        <p:blipFill>
          <a:blip r:embed="rId2"/>
          <a:stretch>
            <a:fillRect/>
          </a:stretch>
        </p:blipFill>
        <p:spPr>
          <a:xfrm>
            <a:off x="7287768" y="6460236"/>
            <a:ext cx="1371600" cy="94183"/>
          </a:xfrm>
          <a:prstGeom prst="rect">
            <a:avLst/>
          </a:prstGeom>
        </p:spPr>
      </p:pic>
      <p:sp>
        <p:nvSpPr>
          <p:cNvPr id="7" name="Text 3"/>
          <p:cNvSpPr/>
          <p:nvPr>
            <p:ph idx="105" type="title" hasCustomPrompt="1"/>
          </p:nvPr>
        </p:nvSpPr>
        <p:spPr>
          <a:xfrm>
            <a:off x="548640" y="365760"/>
            <a:ext cx="8046720" cy="1143000"/>
          </a:xfrm>
          <a:prstGeom prst="rect">
            <a:avLst/>
          </a:prstGeom>
          <a:noFill/>
          <a:ln/>
        </p:spPr>
        <p:txBody>
          <a:bodyPr wrap="square" rtlCol="0"/>
          <a:lstStyle>
            <a:lvl1pPr algn="l" indent="0" marL="0">
              <a:buNone/>
              <a:defRPr lang="en-US" sz="3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G Title and Content">
    <p:bg>
      <p:bgPr>
        <a:solidFill>
          <a:srgbClr val="EEEEF6"/>
        </a:solidFill>
      </p:bgPr>
    </p:bg>
    <p:spTree>
      <p:nvGrpSpPr>
        <p:cNvPr id="1" name=""/>
        <p:cNvGrpSpPr/>
        <p:nvPr/>
      </p:nvGrpSpPr>
      <p:grpSpPr>
        <a:xfrm>
          <a:off x="0" y="0"/>
          <a:ext cx="0" cy="0"/>
          <a:chOff x="0" y="0"/>
          <a:chExt cx="0" cy="0"/>
        </a:xfrm>
      </p:grpSpPr>
      <p:sp>
        <p:nvSpPr>
          <p:cNvPr id="2" name="Shape 0"/>
          <p:cNvSpPr/>
          <p:nvPr/>
        </p:nvSpPr>
        <p:spPr>
          <a:xfrm>
            <a:off x="0" y="274320"/>
            <a:ext cx="9144000" cy="91440"/>
          </a:xfrm>
          <a:prstGeom prst="rect">
            <a:avLst/>
          </a:prstGeom>
          <a:solidFill>
            <a:srgbClr val="B08B57"/>
          </a:solidFill>
          <a:ln/>
        </p:spPr>
      </p:sp>
      <p:sp>
        <p:nvSpPr>
          <p:cNvPr id="3" name="Shape 1"/>
          <p:cNvSpPr/>
          <p:nvPr/>
        </p:nvSpPr>
        <p:spPr>
          <a:xfrm>
            <a:off x="0" y="365760"/>
            <a:ext cx="9144000" cy="1143000"/>
          </a:xfrm>
          <a:prstGeom prst="rect">
            <a:avLst/>
          </a:prstGeom>
          <a:solidFill>
            <a:srgbClr val="000066"/>
          </a:solidFill>
          <a:ln/>
        </p:spPr>
      </p:sp>
      <p:sp>
        <p:nvSpPr>
          <p:cNvPr id="4" name="Shape 2"/>
          <p:cNvSpPr/>
          <p:nvPr/>
        </p:nvSpPr>
        <p:spPr>
          <a:xfrm>
            <a:off x="0" y="1508760"/>
            <a:ext cx="9144000" cy="91440"/>
          </a:xfrm>
          <a:prstGeom prst="rect">
            <a:avLst/>
          </a:prstGeom>
          <a:solidFill>
            <a:srgbClr val="B08B57"/>
          </a:solidFill>
          <a:ln/>
        </p:spPr>
      </p:sp>
      <p:pic>
        <p:nvPicPr>
          <p:cNvPr id="5" name="Image 0" descr="crest.png">    </p:cNvPr>
          <p:cNvPicPr>
            <a:picLocks noChangeAspect="1"/>
          </p:cNvPicPr>
          <p:nvPr/>
        </p:nvPicPr>
        <p:blipFill>
          <a:blip r:embed="rId1"/>
          <a:stretch>
            <a:fillRect/>
          </a:stretch>
        </p:blipFill>
        <p:spPr>
          <a:xfrm>
            <a:off x="6876288" y="6309360"/>
            <a:ext cx="329184" cy="402336"/>
          </a:xfrm>
          <a:prstGeom prst="rect">
            <a:avLst/>
          </a:prstGeom>
        </p:spPr>
      </p:pic>
      <p:pic>
        <p:nvPicPr>
          <p:cNvPr id="6" name="Image 1" descr="wordmark.png">    </p:cNvPr>
          <p:cNvPicPr>
            <a:picLocks noChangeAspect="1"/>
          </p:cNvPicPr>
          <p:nvPr/>
        </p:nvPicPr>
        <p:blipFill>
          <a:blip r:embed="rId2"/>
          <a:stretch>
            <a:fillRect/>
          </a:stretch>
        </p:blipFill>
        <p:spPr>
          <a:xfrm>
            <a:off x="7287768" y="6460236"/>
            <a:ext cx="1371600" cy="94183"/>
          </a:xfrm>
          <a:prstGeom prst="rect">
            <a:avLst/>
          </a:prstGeom>
        </p:spPr>
      </p:pic>
      <p:sp>
        <p:nvSpPr>
          <p:cNvPr id="7" name="Text 3"/>
          <p:cNvSpPr/>
          <p:nvPr>
            <p:ph idx="105" type="title" hasCustomPrompt="1"/>
          </p:nvPr>
        </p:nvSpPr>
        <p:spPr>
          <a:xfrm>
            <a:off x="548640" y="365760"/>
            <a:ext cx="8046720" cy="1143000"/>
          </a:xfrm>
          <a:prstGeom prst="rect">
            <a:avLst/>
          </a:prstGeom>
          <a:noFill/>
          <a:ln/>
        </p:spPr>
        <p:txBody>
          <a:bodyPr wrap="square" rtlCol="0"/>
          <a:lstStyle>
            <a:lvl1pPr algn="l" indent="0" marL="0">
              <a:buNone/>
              <a:defRPr lang="en-US" sz="32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8" name="Text 3"/>
          <p:cNvSpPr/>
          <p:nvPr>
            <p:ph idx="106" type="body" hasCustomPrompt="1"/>
          </p:nvPr>
        </p:nvSpPr>
        <p:spPr>
          <a:xfrm>
            <a:off x="548640" y="1874520"/>
            <a:ext cx="8046720" cy="4206240"/>
          </a:xfrm>
          <a:prstGeom prst="rect">
            <a:avLst/>
          </a:prstGeom>
          <a:noFill/>
          <a:ln/>
        </p:spPr>
        <p:txBody>
          <a:bodyPr wrap="square" rtlCol="0"/>
          <a:lstStyle>
            <a:lvl1pPr indent="0" marL="0">
              <a:buNone/>
              <a:defRPr lang="en-US" sz="1800" dirty="0">
                <a:solidFill>
                  <a:srgbClr val="000066"/>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 Id="rId9" Type="http://schemas.openxmlformats.org/officeDocument/2006/relationships/image" Target="../media/image4.jpg"/><Relationship Id="rId10"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notesSlide" Target="../notesSlides/notesSlide20.xml"/><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 Id="rId10"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6" Type="http://schemas.openxmlformats.org/officeDocument/2006/relationships/notesSlide" Target="../notesSlides/notesSlide21.xml"/><Relationship Id="rId7" Type="http://schemas.openxmlformats.org/officeDocument/2006/relationships/image" Target="../media/image10.jpg"/><Relationship Id="rId8" Type="http://schemas.openxmlformats.org/officeDocument/2006/relationships/image" Target="../media/image11.jpg"/><Relationship Id="rId9" Type="http://schemas.openxmlformats.org/officeDocument/2006/relationships/image" Target="../media/image12.png"/><Relationship Id="rId10"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notesSlide" Target="../notesSlides/notesSlide25.xml"/><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617720"/>
          </a:xfrm>
          <a:prstGeom prst="rect">
            <a:avLst/>
          </a:prstGeom>
          <a:solidFill>
            <a:srgbClr val="000066"/>
          </a:solidFill>
          <a:ln w="12700">
            <a:solidFill>
              <a:srgbClr val="000066"/>
            </a:solidFill>
            <a:prstDash val="solid"/>
          </a:ln>
        </p:spPr>
      </p:sp>
      <p:sp>
        <p:nvSpPr>
          <p:cNvPr id="3" name="Shape 1"/>
          <p:cNvSpPr/>
          <p:nvPr/>
        </p:nvSpPr>
        <p:spPr>
          <a:xfrm>
            <a:off x="0" y="4617720"/>
            <a:ext cx="9144000" cy="201168"/>
          </a:xfrm>
          <a:prstGeom prst="rect">
            <a:avLst/>
          </a:prstGeom>
          <a:solidFill>
            <a:srgbClr val="B08B57"/>
          </a:solidFill>
          <a:ln w="12700">
            <a:solidFill>
              <a:srgbClr val="B08B57"/>
            </a:solidFill>
            <a:prstDash val="solid"/>
          </a:ln>
        </p:spPr>
      </p:sp>
      <p:sp>
        <p:nvSpPr>
          <p:cNvPr id="4" name="Text 2"/>
          <p:cNvSpPr txBox="1"/>
          <p:nvPr/>
        </p:nvSpPr>
        <p:spPr>
          <a:xfrm>
            <a:off x="548640" y="411480"/>
            <a:ext cx="8046720" cy="1828800"/>
          </a:xfrm>
          <a:prstGeom prst="rect">
            <a:avLst/>
          </a:prstGeom>
          <a:noFill/>
          <a:ln/>
        </p:spPr>
        <p:txBody>
          <a:bodyPr wrap="square" lIns="0" tIns="0" rIns="0" bIns="0" rtlCol="0" anchor="ctr">
            <a:normAutofit/>
          </a:bodyPr>
          <a:lstStyle/>
          <a:p>
            <a:pPr algn="ctr" indent="0" marL="0">
              <a:buNone/>
            </a:pPr>
            <a:r>
              <a:rPr lang="en-US" sz="3200" b="1" dirty="0">
                <a:solidFill>
                  <a:srgbClr val="FFFFFF"/>
                </a:solidFill>
                <a:latin typeface="Calibri" pitchFamily="34" charset="0"/>
                <a:ea typeface="Calibri" pitchFamily="34" charset="-122"/>
                <a:cs typeface="Calibri" pitchFamily="34" charset="-120"/>
              </a:rPr>
              <a:t>CampusFinder: A Secure Mobile Lost-and-Found Platform for University Campuses</a:t>
            </a:r>
            <a:endParaRPr lang="en-US" sz="4000" dirty="0"/>
          </a:p>
        </p:txBody>
      </p:sp>
      <p:sp>
        <p:nvSpPr>
          <p:cNvPr id="5" name="Text 3"/>
          <p:cNvSpPr txBox="1"/>
          <p:nvPr/>
        </p:nvSpPr>
        <p:spPr>
          <a:xfrm>
            <a:off x="548640" y="2514600"/>
            <a:ext cx="8046720" cy="594360"/>
          </a:xfrm>
          <a:prstGeom prst="rect">
            <a:avLst/>
          </a:prstGeom>
          <a:noFill/>
          <a:ln/>
          <a:effectLst>
            <a:outerShdw sx="100000" sy="100000" kx="0" ky="0" algn="bl" rotWithShape="0" blurRad="38100" dist="25400" dir="2700000">
              <a:srgbClr val="000000">
                <a:alpha val="60000"/>
              </a:srgbClr>
            </a:outerShdw>
          </a:effectLst>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BSc Computer Science Project Defence</a:t>
            </a:r>
            <a:endParaRPr lang="en-US" sz="3000" dirty="0"/>
          </a:p>
        </p:txBody>
      </p:sp>
      <p:sp>
        <p:nvSpPr>
          <p:cNvPr id="6" name="Text 4"/>
          <p:cNvSpPr txBox="1"/>
          <p:nvPr/>
        </p:nvSpPr>
        <p:spPr>
          <a:xfrm>
            <a:off x="548640" y="3383280"/>
            <a:ext cx="8046720" cy="868680"/>
          </a:xfrm>
          <a:prstGeom prst="rect">
            <a:avLst/>
          </a:prstGeom>
          <a:noFill/>
          <a:ln/>
        </p:spPr>
        <p:txBody>
          <a:bodyPr wrap="square" lIns="0" tIns="0" rIns="0" bIns="0" rtlCol="0" anchor="ctr"/>
          <a:lstStyle/>
          <a:p>
            <a:pPr algn="ctr" indent="0" marL="0">
              <a:buNone/>
            </a:pPr>
            <a:r>
              <a:rPr lang="en-US" sz="2000" b="1" dirty="0">
                <a:solidFill>
                  <a:srgbClr val="DCE6F2"/>
                </a:solidFill>
                <a:latin typeface="Times New Roman" pitchFamily="34" charset="0"/>
                <a:ea typeface="Times New Roman" pitchFamily="34" charset="-122"/>
                <a:cs typeface="Times New Roman" pitchFamily="34" charset="-120"/>
              </a:rPr>
              <a:t>Presented by: Theodore Abbey Gyaqueh ([INSERT student number])</a:t>
            </a:r>
            <a:endParaRPr lang="en-US" sz="2000" dirty="0"/>
          </a:p>
          <a:p>
            <a:pPr algn="ctr" indent="0" marL="0">
              <a:buNone/>
            </a:pPr>
            <a:r>
              <a:rPr lang="en-US" sz="2000" dirty="0" b="0">
                <a:solidFill>
                  <a:srgbClr val="FFFFFF"/>
                </a:solidFill>
                <a:latin typeface="Times New Roman" pitchFamily="34" charset="0"/>
                <a:ea typeface="Times New Roman" pitchFamily="34" charset="-122"/>
                <a:cs typeface="Times New Roman" pitchFamily="34" charset="-120"/>
              </a:rPr>
              <a:t>Supervisor: Mr. Julius Ludu</a:t>
            </a:r>
            <a:endParaRPr lang="en-US" sz="2000" dirty="0"/>
          </a:p>
        </p:txBody>
      </p:sp>
      <p:pic>
        <p:nvPicPr>
          <p:cNvPr id="7" name="Image 0" descr="crest.png">    </p:cNvPr>
          <p:cNvPicPr>
            <a:picLocks noChangeAspect="1"/>
          </p:cNvPicPr>
          <p:nvPr/>
        </p:nvPicPr>
        <p:blipFill>
          <a:blip r:embed="rId1"/>
          <a:stretch>
            <a:fillRect/>
          </a:stretch>
        </p:blipFill>
        <p:spPr>
          <a:xfrm>
            <a:off x="822960" y="5001768"/>
            <a:ext cx="868680" cy="1064362"/>
          </a:xfrm>
          <a:prstGeom prst="rect">
            <a:avLst/>
          </a:prstGeom>
        </p:spPr>
      </p:pic>
      <p:pic>
        <p:nvPicPr>
          <p:cNvPr id="8" name="Image 1" descr="wordmark.png">    </p:cNvPr>
          <p:cNvPicPr>
            <a:picLocks noChangeAspect="1"/>
          </p:cNvPicPr>
          <p:nvPr/>
        </p:nvPicPr>
        <p:blipFill>
          <a:blip r:embed="rId2"/>
          <a:stretch>
            <a:fillRect/>
          </a:stretch>
        </p:blipFill>
        <p:spPr>
          <a:xfrm>
            <a:off x="2121408" y="5074920"/>
            <a:ext cx="6053328" cy="416966"/>
          </a:xfrm>
          <a:prstGeom prst="rect">
            <a:avLst/>
          </a:prstGeom>
        </p:spPr>
      </p:pic>
      <p:sp>
        <p:nvSpPr>
          <p:cNvPr id="9" name="Text 5"/>
          <p:cNvSpPr txBox="1"/>
          <p:nvPr/>
        </p:nvSpPr>
        <p:spPr>
          <a:xfrm>
            <a:off x="1920240" y="5559552"/>
            <a:ext cx="6492240" cy="274320"/>
          </a:xfrm>
          <a:prstGeom prst="rect">
            <a:avLst/>
          </a:prstGeom>
          <a:noFill/>
          <a:ln/>
        </p:spPr>
        <p:txBody>
          <a:bodyPr wrap="square" lIns="0" tIns="0" rIns="0" bIns="0" rtlCol="0" anchor="ctr"/>
          <a:lstStyle/>
          <a:p>
            <a:pPr algn="ctr" indent="0" marL="0">
              <a:buNone/>
            </a:pPr>
            <a:r>
              <a:rPr lang="en-US" sz="1600" dirty="0">
                <a:solidFill>
                  <a:srgbClr val="002060"/>
                </a:solidFill>
                <a:latin typeface="Tw Cen MT" pitchFamily="34" charset="0"/>
                <a:ea typeface="Tw Cen MT" pitchFamily="34" charset="-122"/>
                <a:cs typeface="Tw Cen MT" pitchFamily="34" charset="-120"/>
              </a:rPr>
              <a:t>College of Basic and Applied Sciences (CBAS)</a:t>
            </a:r>
            <a:endParaRPr lang="en-US" sz="1600" dirty="0"/>
          </a:p>
        </p:txBody>
      </p:sp>
      <p:sp>
        <p:nvSpPr>
          <p:cNvPr id="10" name="Text 6"/>
          <p:cNvSpPr txBox="1"/>
          <p:nvPr/>
        </p:nvSpPr>
        <p:spPr>
          <a:xfrm>
            <a:off x="1920240" y="5833872"/>
            <a:ext cx="6492240" cy="274320"/>
          </a:xfrm>
          <a:prstGeom prst="rect">
            <a:avLst/>
          </a:prstGeom>
          <a:noFill/>
          <a:ln/>
        </p:spPr>
        <p:txBody>
          <a:bodyPr wrap="square" lIns="0" tIns="0" rIns="0" bIns="0" rtlCol="0" anchor="ctr"/>
          <a:lstStyle/>
          <a:p>
            <a:pPr algn="ctr" indent="0" marL="0">
              <a:buNone/>
            </a:pPr>
            <a:r>
              <a:rPr lang="en-US" sz="1600" b="1" dirty="0">
                <a:solidFill>
                  <a:srgbClr val="002060"/>
                </a:solidFill>
                <a:latin typeface="Tw Cen MT" pitchFamily="34" charset="0"/>
                <a:ea typeface="Tw Cen MT" pitchFamily="34" charset="-122"/>
                <a:cs typeface="Tw Cen MT" pitchFamily="34" charset="-120"/>
              </a:rPr>
              <a:t>School of Physical and Mathematical Sciences (SPMS)</a:t>
            </a:r>
            <a:endParaRPr lang="en-US" sz="1600" dirty="0"/>
          </a:p>
        </p:txBody>
      </p:sp>
      <p:sp>
        <p:nvSpPr>
          <p:cNvPr id="11" name="Text 7"/>
          <p:cNvSpPr txBox="1"/>
          <p:nvPr/>
        </p:nvSpPr>
        <p:spPr>
          <a:xfrm>
            <a:off x="1920240" y="6108192"/>
            <a:ext cx="6492240" cy="274320"/>
          </a:xfrm>
          <a:prstGeom prst="rect">
            <a:avLst/>
          </a:prstGeom>
          <a:noFill/>
          <a:ln/>
        </p:spPr>
        <p:txBody>
          <a:bodyPr wrap="square" lIns="0" tIns="0" rIns="0" bIns="0" rtlCol="0" anchor="ctr"/>
          <a:lstStyle/>
          <a:p>
            <a:pPr algn="ctr" indent="0" marL="0">
              <a:buNone/>
            </a:pPr>
            <a:r>
              <a:rPr lang="en-US" sz="1600" b="1" dirty="0">
                <a:solidFill>
                  <a:srgbClr val="002060"/>
                </a:solidFill>
                <a:latin typeface="Tw Cen MT" pitchFamily="34" charset="0"/>
                <a:ea typeface="Tw Cen MT" pitchFamily="34" charset="-122"/>
                <a:cs typeface="Tw Cen MT" pitchFamily="34" charset="-120"/>
              </a:rPr>
              <a:t>Department of Computer Science</a:t>
            </a:r>
            <a:endParaRPr lang="en-US" sz="1600" dirty="0"/>
          </a:p>
        </p:txBody>
      </p:sp>
      <p:sp>
        <p:nvSpPr>
          <p:cNvPr id="12" name="Text 8"/>
          <p:cNvSpPr txBox="1"/>
          <p:nvPr/>
        </p:nvSpPr>
        <p:spPr>
          <a:xfrm>
            <a:off x="1920240" y="6400800"/>
            <a:ext cx="6492240" cy="237744"/>
          </a:xfrm>
          <a:prstGeom prst="rect">
            <a:avLst/>
          </a:prstGeom>
          <a:noFill/>
          <a:ln/>
        </p:spPr>
        <p:txBody>
          <a:bodyPr wrap="square" lIns="0" tIns="0" rIns="0" bIns="0" rtlCol="0" anchor="ctr"/>
          <a:lstStyle/>
          <a:p>
            <a:pPr algn="ctr" indent="0" marL="0">
              <a:buNone/>
            </a:pPr>
            <a:r>
              <a:rPr lang="en-US" sz="1200" dirty="0">
                <a:solidFill>
                  <a:srgbClr val="002060"/>
                </a:solidFill>
                <a:latin typeface="Tw Cen MT" pitchFamily="34" charset="0"/>
                <a:ea typeface="Tw Cen MT" pitchFamily="34" charset="-122"/>
                <a:cs typeface="Tw Cen MT" pitchFamily="34" charset="-120"/>
              </a:rPr>
              <a:t>[INSERT defence month and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Presentation Outline</a:t>
            </a:r>
            <a:endParaRPr lang="en-US" sz="3200" dirty="0"/>
          </a:p>
        </p:txBody>
      </p:sp>
      <p:sp>
        <p:nvSpPr>
          <p:cNvPr id="3" name="Shape 1"/>
          <p:cNvSpPr/>
          <p:nvPr/>
        </p:nvSpPr>
        <p:spPr>
          <a:xfrm>
            <a:off x="548640" y="1920240"/>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621792" y="1975104"/>
            <a:ext cx="420624" cy="420624"/>
          </a:xfrm>
          <a:prstGeom prst="ellipse">
            <a:avLst/>
          </a:prstGeom>
          <a:solidFill>
            <a:srgbClr val="000066"/>
          </a:solidFill>
          <a:ln w="12700">
            <a:solidFill>
              <a:srgbClr val="000066"/>
            </a:solidFill>
            <a:prstDash val="solid"/>
          </a:ln>
        </p:spPr>
      </p:sp>
      <p:sp>
        <p:nvSpPr>
          <p:cNvPr id="5" name="Text 3"/>
          <p:cNvSpPr txBox="1"/>
          <p:nvPr/>
        </p:nvSpPr>
        <p:spPr>
          <a:xfrm>
            <a:off x="621792" y="19751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920240"/>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Introduction &amp; Background</a:t>
            </a:r>
            <a:endParaRPr lang="en-US" sz="1600" dirty="0"/>
          </a:p>
        </p:txBody>
      </p:sp>
      <p:sp>
        <p:nvSpPr>
          <p:cNvPr id="7" name="Shape 5"/>
          <p:cNvSpPr/>
          <p:nvPr/>
        </p:nvSpPr>
        <p:spPr>
          <a:xfrm>
            <a:off x="548640" y="2596896"/>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8" name="Shape 6"/>
          <p:cNvSpPr/>
          <p:nvPr/>
        </p:nvSpPr>
        <p:spPr>
          <a:xfrm>
            <a:off x="621792" y="2651760"/>
            <a:ext cx="420624" cy="420624"/>
          </a:xfrm>
          <a:prstGeom prst="ellipse">
            <a:avLst/>
          </a:prstGeom>
          <a:solidFill>
            <a:srgbClr val="000066"/>
          </a:solidFill>
          <a:ln w="12700">
            <a:solidFill>
              <a:srgbClr val="000066"/>
            </a:solidFill>
            <a:prstDash val="solid"/>
          </a:ln>
        </p:spPr>
      </p:sp>
      <p:sp>
        <p:nvSpPr>
          <p:cNvPr id="9" name="Text 7"/>
          <p:cNvSpPr txBox="1"/>
          <p:nvPr/>
        </p:nvSpPr>
        <p:spPr>
          <a:xfrm>
            <a:off x="621792" y="26517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188720" y="2596896"/>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Problem Statement</a:t>
            </a:r>
            <a:endParaRPr lang="en-US" sz="1600" dirty="0"/>
          </a:p>
        </p:txBody>
      </p:sp>
      <p:sp>
        <p:nvSpPr>
          <p:cNvPr id="11" name="Shape 9"/>
          <p:cNvSpPr/>
          <p:nvPr/>
        </p:nvSpPr>
        <p:spPr>
          <a:xfrm>
            <a:off x="548640" y="3273552"/>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2" name="Shape 10"/>
          <p:cNvSpPr/>
          <p:nvPr/>
        </p:nvSpPr>
        <p:spPr>
          <a:xfrm>
            <a:off x="621792" y="3328416"/>
            <a:ext cx="420624" cy="420624"/>
          </a:xfrm>
          <a:prstGeom prst="ellipse">
            <a:avLst/>
          </a:prstGeom>
          <a:solidFill>
            <a:srgbClr val="000066"/>
          </a:solidFill>
          <a:ln w="12700">
            <a:solidFill>
              <a:srgbClr val="000066"/>
            </a:solidFill>
            <a:prstDash val="solid"/>
          </a:ln>
        </p:spPr>
      </p:sp>
      <p:sp>
        <p:nvSpPr>
          <p:cNvPr id="13" name="Text 11"/>
          <p:cNvSpPr txBox="1"/>
          <p:nvPr/>
        </p:nvSpPr>
        <p:spPr>
          <a:xfrm>
            <a:off x="621792" y="33284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88720" y="3273552"/>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Aim &amp; Objectives</a:t>
            </a:r>
            <a:endParaRPr lang="en-US" sz="1600" dirty="0"/>
          </a:p>
        </p:txBody>
      </p:sp>
      <p:sp>
        <p:nvSpPr>
          <p:cNvPr id="15" name="Shape 13"/>
          <p:cNvSpPr/>
          <p:nvPr/>
        </p:nvSpPr>
        <p:spPr>
          <a:xfrm>
            <a:off x="548640" y="3950208"/>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6" name="Shape 14"/>
          <p:cNvSpPr/>
          <p:nvPr/>
        </p:nvSpPr>
        <p:spPr>
          <a:xfrm>
            <a:off x="621792" y="4005072"/>
            <a:ext cx="420624" cy="420624"/>
          </a:xfrm>
          <a:prstGeom prst="ellipse">
            <a:avLst/>
          </a:prstGeom>
          <a:solidFill>
            <a:srgbClr val="000066"/>
          </a:solidFill>
          <a:ln w="12700">
            <a:solidFill>
              <a:srgbClr val="000066"/>
            </a:solidFill>
            <a:prstDash val="solid"/>
          </a:ln>
        </p:spPr>
      </p:sp>
      <p:sp>
        <p:nvSpPr>
          <p:cNvPr id="17" name="Text 15"/>
          <p:cNvSpPr txBox="1"/>
          <p:nvPr/>
        </p:nvSpPr>
        <p:spPr>
          <a:xfrm>
            <a:off x="62179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188720" y="3950208"/>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Research Questions &amp; Scope</a:t>
            </a:r>
            <a:endParaRPr lang="en-US" sz="1600" dirty="0"/>
          </a:p>
        </p:txBody>
      </p:sp>
      <p:sp>
        <p:nvSpPr>
          <p:cNvPr id="19" name="Shape 17"/>
          <p:cNvSpPr/>
          <p:nvPr/>
        </p:nvSpPr>
        <p:spPr>
          <a:xfrm>
            <a:off x="548640" y="4626864"/>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20" name="Shape 18"/>
          <p:cNvSpPr/>
          <p:nvPr/>
        </p:nvSpPr>
        <p:spPr>
          <a:xfrm>
            <a:off x="621792" y="4681728"/>
            <a:ext cx="420624" cy="420624"/>
          </a:xfrm>
          <a:prstGeom prst="ellipse">
            <a:avLst/>
          </a:prstGeom>
          <a:solidFill>
            <a:srgbClr val="000066"/>
          </a:solidFill>
          <a:ln w="12700">
            <a:solidFill>
              <a:srgbClr val="000066"/>
            </a:solidFill>
            <a:prstDash val="solid"/>
          </a:ln>
        </p:spPr>
      </p:sp>
      <p:sp>
        <p:nvSpPr>
          <p:cNvPr id="21" name="Text 19"/>
          <p:cNvSpPr txBox="1"/>
          <p:nvPr/>
        </p:nvSpPr>
        <p:spPr>
          <a:xfrm>
            <a:off x="621792" y="46817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txBox="1"/>
          <p:nvPr/>
        </p:nvSpPr>
        <p:spPr>
          <a:xfrm>
            <a:off x="1188720" y="4626864"/>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Related Work &amp; Current Practice</a:t>
            </a:r>
            <a:endParaRPr lang="en-US" sz="1600" dirty="0"/>
          </a:p>
        </p:txBody>
      </p:sp>
      <p:sp>
        <p:nvSpPr>
          <p:cNvPr id="23" name="Shape 21"/>
          <p:cNvSpPr/>
          <p:nvPr/>
        </p:nvSpPr>
        <p:spPr>
          <a:xfrm>
            <a:off x="548640" y="5303520"/>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24" name="Shape 22"/>
          <p:cNvSpPr/>
          <p:nvPr/>
        </p:nvSpPr>
        <p:spPr>
          <a:xfrm>
            <a:off x="621792" y="5358384"/>
            <a:ext cx="420624" cy="420624"/>
          </a:xfrm>
          <a:prstGeom prst="ellipse">
            <a:avLst/>
          </a:prstGeom>
          <a:solidFill>
            <a:srgbClr val="000066"/>
          </a:solidFill>
          <a:ln w="12700">
            <a:solidFill>
              <a:srgbClr val="000066"/>
            </a:solidFill>
            <a:prstDash val="solid"/>
          </a:ln>
        </p:spPr>
      </p:sp>
      <p:sp>
        <p:nvSpPr>
          <p:cNvPr id="25" name="Text 23"/>
          <p:cNvSpPr txBox="1"/>
          <p:nvPr/>
        </p:nvSpPr>
        <p:spPr>
          <a:xfrm>
            <a:off x="621792" y="5358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txBox="1"/>
          <p:nvPr/>
        </p:nvSpPr>
        <p:spPr>
          <a:xfrm>
            <a:off x="1188720" y="5303520"/>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Design Science Methodology</a:t>
            </a:r>
            <a:endParaRPr lang="en-US" sz="1600" dirty="0"/>
          </a:p>
        </p:txBody>
      </p:sp>
      <p:sp>
        <p:nvSpPr>
          <p:cNvPr id="27" name="Shape 25"/>
          <p:cNvSpPr/>
          <p:nvPr/>
        </p:nvSpPr>
        <p:spPr>
          <a:xfrm>
            <a:off x="4754880" y="1920240"/>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28" name="Shape 26"/>
          <p:cNvSpPr/>
          <p:nvPr/>
        </p:nvSpPr>
        <p:spPr>
          <a:xfrm>
            <a:off x="4828032" y="1975104"/>
            <a:ext cx="420624" cy="420624"/>
          </a:xfrm>
          <a:prstGeom prst="ellipse">
            <a:avLst/>
          </a:prstGeom>
          <a:solidFill>
            <a:srgbClr val="000066"/>
          </a:solidFill>
          <a:ln w="12700">
            <a:solidFill>
              <a:srgbClr val="000066"/>
            </a:solidFill>
            <a:prstDash val="solid"/>
          </a:ln>
        </p:spPr>
      </p:sp>
      <p:sp>
        <p:nvSpPr>
          <p:cNvPr id="29" name="Text 27"/>
          <p:cNvSpPr txBox="1"/>
          <p:nvPr/>
        </p:nvSpPr>
        <p:spPr>
          <a:xfrm>
            <a:off x="4828032" y="197510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txBox="1"/>
          <p:nvPr/>
        </p:nvSpPr>
        <p:spPr>
          <a:xfrm>
            <a:off x="5394960" y="1920240"/>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Requirements</a:t>
            </a:r>
            <a:endParaRPr lang="en-US" sz="1600" dirty="0"/>
          </a:p>
        </p:txBody>
      </p:sp>
      <p:sp>
        <p:nvSpPr>
          <p:cNvPr id="31" name="Shape 29"/>
          <p:cNvSpPr/>
          <p:nvPr/>
        </p:nvSpPr>
        <p:spPr>
          <a:xfrm>
            <a:off x="4754880" y="2596896"/>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32" name="Shape 30"/>
          <p:cNvSpPr/>
          <p:nvPr/>
        </p:nvSpPr>
        <p:spPr>
          <a:xfrm>
            <a:off x="4828032" y="2651760"/>
            <a:ext cx="420624" cy="420624"/>
          </a:xfrm>
          <a:prstGeom prst="ellipse">
            <a:avLst/>
          </a:prstGeom>
          <a:solidFill>
            <a:srgbClr val="000066"/>
          </a:solidFill>
          <a:ln w="12700">
            <a:solidFill>
              <a:srgbClr val="000066"/>
            </a:solidFill>
            <a:prstDash val="solid"/>
          </a:ln>
        </p:spPr>
      </p:sp>
      <p:sp>
        <p:nvSpPr>
          <p:cNvPr id="33" name="Text 31"/>
          <p:cNvSpPr txBox="1"/>
          <p:nvPr/>
        </p:nvSpPr>
        <p:spPr>
          <a:xfrm>
            <a:off x="4828032" y="26517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4" name="Text 32"/>
          <p:cNvSpPr txBox="1"/>
          <p:nvPr/>
        </p:nvSpPr>
        <p:spPr>
          <a:xfrm>
            <a:off x="5394960" y="2596896"/>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System Architecture &amp; Design</a:t>
            </a:r>
            <a:endParaRPr lang="en-US" sz="1600" dirty="0"/>
          </a:p>
        </p:txBody>
      </p:sp>
      <p:sp>
        <p:nvSpPr>
          <p:cNvPr id="35" name="Shape 33"/>
          <p:cNvSpPr/>
          <p:nvPr/>
        </p:nvSpPr>
        <p:spPr>
          <a:xfrm>
            <a:off x="4754880" y="3273552"/>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36" name="Shape 34"/>
          <p:cNvSpPr/>
          <p:nvPr/>
        </p:nvSpPr>
        <p:spPr>
          <a:xfrm>
            <a:off x="4828032" y="3328416"/>
            <a:ext cx="420624" cy="420624"/>
          </a:xfrm>
          <a:prstGeom prst="ellipse">
            <a:avLst/>
          </a:prstGeom>
          <a:solidFill>
            <a:srgbClr val="000066"/>
          </a:solidFill>
          <a:ln w="12700">
            <a:solidFill>
              <a:srgbClr val="000066"/>
            </a:solidFill>
            <a:prstDash val="solid"/>
          </a:ln>
        </p:spPr>
      </p:sp>
      <p:sp>
        <p:nvSpPr>
          <p:cNvPr id="37" name="Text 35"/>
          <p:cNvSpPr txBox="1"/>
          <p:nvPr/>
        </p:nvSpPr>
        <p:spPr>
          <a:xfrm>
            <a:off x="4828032" y="332841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8" name="Text 36"/>
          <p:cNvSpPr txBox="1"/>
          <p:nvPr/>
        </p:nvSpPr>
        <p:spPr>
          <a:xfrm>
            <a:off x="5394960" y="3273552"/>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Implementation, Security &amp; Demo</a:t>
            </a:r>
            <a:endParaRPr lang="en-US" sz="1600" dirty="0"/>
          </a:p>
        </p:txBody>
      </p:sp>
      <p:sp>
        <p:nvSpPr>
          <p:cNvPr id="39" name="Shape 37"/>
          <p:cNvSpPr/>
          <p:nvPr/>
        </p:nvSpPr>
        <p:spPr>
          <a:xfrm>
            <a:off x="4754880" y="3950208"/>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0" name="Shape 38"/>
          <p:cNvSpPr/>
          <p:nvPr/>
        </p:nvSpPr>
        <p:spPr>
          <a:xfrm>
            <a:off x="4828032" y="4005072"/>
            <a:ext cx="420624" cy="420624"/>
          </a:xfrm>
          <a:prstGeom prst="ellipse">
            <a:avLst/>
          </a:prstGeom>
          <a:solidFill>
            <a:srgbClr val="000066"/>
          </a:solidFill>
          <a:ln w="12700">
            <a:solidFill>
              <a:srgbClr val="000066"/>
            </a:solidFill>
            <a:prstDash val="solid"/>
          </a:ln>
        </p:spPr>
      </p:sp>
      <p:sp>
        <p:nvSpPr>
          <p:cNvPr id="41" name="Text 39"/>
          <p:cNvSpPr txBox="1"/>
          <p:nvPr/>
        </p:nvSpPr>
        <p:spPr>
          <a:xfrm>
            <a:off x="4828032" y="40050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2" name="Text 40"/>
          <p:cNvSpPr txBox="1"/>
          <p:nvPr/>
        </p:nvSpPr>
        <p:spPr>
          <a:xfrm>
            <a:off x="5394960" y="3950208"/>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Evaluation Plan</a:t>
            </a:r>
            <a:endParaRPr lang="en-US" sz="1600" dirty="0"/>
          </a:p>
        </p:txBody>
      </p:sp>
      <p:sp>
        <p:nvSpPr>
          <p:cNvPr id="43" name="Shape 41"/>
          <p:cNvSpPr/>
          <p:nvPr/>
        </p:nvSpPr>
        <p:spPr>
          <a:xfrm>
            <a:off x="4754880" y="4626864"/>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4" name="Shape 42"/>
          <p:cNvSpPr/>
          <p:nvPr/>
        </p:nvSpPr>
        <p:spPr>
          <a:xfrm>
            <a:off x="4828032" y="4681728"/>
            <a:ext cx="420624" cy="420624"/>
          </a:xfrm>
          <a:prstGeom prst="ellipse">
            <a:avLst/>
          </a:prstGeom>
          <a:solidFill>
            <a:srgbClr val="000066"/>
          </a:solidFill>
          <a:ln w="12700">
            <a:solidFill>
              <a:srgbClr val="000066"/>
            </a:solidFill>
            <a:prstDash val="solid"/>
          </a:ln>
        </p:spPr>
      </p:sp>
      <p:sp>
        <p:nvSpPr>
          <p:cNvPr id="45" name="Text 43"/>
          <p:cNvSpPr txBox="1"/>
          <p:nvPr/>
        </p:nvSpPr>
        <p:spPr>
          <a:xfrm>
            <a:off x="4828032" y="46817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6" name="Text 44"/>
          <p:cNvSpPr txBox="1"/>
          <p:nvPr/>
        </p:nvSpPr>
        <p:spPr>
          <a:xfrm>
            <a:off x="5394960" y="4626864"/>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Objectives Revisited</a:t>
            </a:r>
            <a:endParaRPr lang="en-US" sz="1600" dirty="0"/>
          </a:p>
        </p:txBody>
      </p:sp>
      <p:sp>
        <p:nvSpPr>
          <p:cNvPr id="47" name="Shape 45"/>
          <p:cNvSpPr/>
          <p:nvPr/>
        </p:nvSpPr>
        <p:spPr>
          <a:xfrm>
            <a:off x="4754880" y="5303520"/>
            <a:ext cx="3840480" cy="53035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8" name="Shape 46"/>
          <p:cNvSpPr/>
          <p:nvPr/>
        </p:nvSpPr>
        <p:spPr>
          <a:xfrm>
            <a:off x="4828032" y="5358384"/>
            <a:ext cx="420624" cy="420624"/>
          </a:xfrm>
          <a:prstGeom prst="ellipse">
            <a:avLst/>
          </a:prstGeom>
          <a:solidFill>
            <a:srgbClr val="000066"/>
          </a:solidFill>
          <a:ln w="12700">
            <a:solidFill>
              <a:srgbClr val="000066"/>
            </a:solidFill>
            <a:prstDash val="solid"/>
          </a:ln>
        </p:spPr>
      </p:sp>
      <p:sp>
        <p:nvSpPr>
          <p:cNvPr id="49" name="Text 47"/>
          <p:cNvSpPr txBox="1"/>
          <p:nvPr/>
        </p:nvSpPr>
        <p:spPr>
          <a:xfrm>
            <a:off x="4828032" y="53583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50" name="Text 48"/>
          <p:cNvSpPr txBox="1"/>
          <p:nvPr/>
        </p:nvSpPr>
        <p:spPr>
          <a:xfrm>
            <a:off x="5394960" y="5303520"/>
            <a:ext cx="3108960" cy="530352"/>
          </a:xfrm>
          <a:prstGeom prst="rect">
            <a:avLst/>
          </a:prstGeom>
          <a:noFill/>
          <a:ln/>
        </p:spPr>
        <p:txBody>
          <a:bodyPr wrap="square" lIns="0" tIns="0" rIns="0" bIns="0" rtlCol="0" anchor="ctr"/>
          <a:lstStyle/>
          <a:p>
            <a:pPr indent="0" marL="0">
              <a:buNone/>
            </a:pPr>
            <a:r>
              <a:rPr lang="en-US" sz="1600" dirty="0">
                <a:solidFill>
                  <a:srgbClr val="000066"/>
                </a:solidFill>
                <a:latin typeface="Calibri" pitchFamily="34" charset="0"/>
                <a:ea typeface="Calibri" pitchFamily="34" charset="-122"/>
                <a:cs typeface="Calibri" pitchFamily="34" charset="-120"/>
              </a:rPr>
              <a:t>Limitations &amp; Conclusion</a:t>
            </a:r>
            <a:endParaRPr lang="en-US" sz="16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Introduction &amp; Background</a:t>
            </a:r>
            <a:endParaRPr lang="en-US" sz="3200" dirty="0"/>
          </a:p>
        </p:txBody>
      </p:sp>
      <p:sp>
        <p:nvSpPr>
          <p:cNvPr id="3" name="Text 1"/>
          <p:cNvSpPr txBox="1"/>
          <p:nvPr/>
        </p:nvSpPr>
        <p:spPr>
          <a:xfrm>
            <a:off x="548640" y="1965960"/>
            <a:ext cx="4480560" cy="3977640"/>
          </a:xfrm>
          <a:prstGeom prst="rect">
            <a:avLst/>
          </a:prstGeom>
          <a:noFill/>
          <a:ln/>
        </p:spPr>
        <p:txBody>
          <a:bodyPr wrap="square" lIns="0" tIns="0" rIns="0" bIns="0" rtlCol="0" anchor="t"/>
          <a:lstStyle/>
          <a:p>
            <a:pPr indent="0" marL="0">
              <a:spcAft>
                <a:spcPts val="1400"/>
              </a:spcAft>
              <a:buNone/>
            </a:pPr>
            <a:r>
              <a:rPr lang="en-US" sz="1700" b="1" dirty="0">
                <a:solidFill>
                  <a:srgbClr val="000066"/>
                </a:solidFill>
                <a:latin typeface="Calibri" pitchFamily="34" charset="0"/>
                <a:ea typeface="Calibri" pitchFamily="34" charset="-122"/>
                <a:cs typeface="Calibri" pitchFamily="34" charset="-120"/>
              </a:rPr>
              <a:t xml:space="preserve">Context: </a:t>
            </a:r>
            <a:pPr indent="0" marL="0">
              <a:spcAft>
                <a:spcPts val="1400"/>
              </a:spcAft>
              <a:buNone/>
            </a:pPr>
            <a:r>
              <a:rPr lang="en-US" sz="1700" dirty="0" b="0">
                <a:solidFill>
                  <a:srgbClr val="000066"/>
                </a:solidFill>
                <a:latin typeface="Calibri" pitchFamily="34" charset="0"/>
                <a:ea typeface="Calibri" pitchFamily="34" charset="-122"/>
                <a:cs typeface="Calibri" pitchFamily="34" charset="-120"/>
              </a:rPr>
              <a:t>student ID cards, phones, keys and bags are regularly left behind in lecture halls, libraries and halls of residence.</a:t>
            </a:r>
            <a:endParaRPr lang="en-US" sz="1700" dirty="0"/>
          </a:p>
          <a:p>
            <a:pPr indent="0" marL="0">
              <a:spcAft>
                <a:spcPts val="1400"/>
              </a:spcAft>
              <a:buNone/>
            </a:pPr>
            <a:r>
              <a:rPr lang="en-US" sz="1700" b="1" dirty="0">
                <a:solidFill>
                  <a:srgbClr val="000066"/>
                </a:solidFill>
                <a:latin typeface="Calibri" pitchFamily="34" charset="0"/>
                <a:ea typeface="Calibri" pitchFamily="34" charset="-122"/>
                <a:cs typeface="Calibri" pitchFamily="34" charset="-120"/>
              </a:rPr>
              <a:t xml:space="preserve">Current practice: </a:t>
            </a:r>
            <a:pPr indent="0" marL="0">
              <a:spcAft>
                <a:spcPts val="1400"/>
              </a:spcAft>
              <a:buNone/>
            </a:pPr>
            <a:r>
              <a:rPr lang="en-US" sz="1700" dirty="0" b="0">
                <a:solidFill>
                  <a:srgbClr val="000066"/>
                </a:solidFill>
                <a:latin typeface="Calibri" pitchFamily="34" charset="0"/>
                <a:ea typeface="Calibri" pitchFamily="34" charset="-122"/>
                <a:cs typeface="Calibri" pitchFamily="34" charset="-120"/>
              </a:rPr>
              <a:t>owners and finders post in WhatsApp groups, pin notes on notice boards or ask around; posts are soon buried.</a:t>
            </a:r>
            <a:endParaRPr lang="en-US" sz="1700" dirty="0"/>
          </a:p>
          <a:p>
            <a:pPr indent="0" marL="0">
              <a:spcAft>
                <a:spcPts val="1400"/>
              </a:spcAft>
              <a:buNone/>
            </a:pPr>
            <a:r>
              <a:rPr lang="en-US" sz="1700" b="1" dirty="0">
                <a:solidFill>
                  <a:srgbClr val="000066"/>
                </a:solidFill>
                <a:latin typeface="Calibri" pitchFamily="34" charset="0"/>
                <a:ea typeface="Calibri" pitchFamily="34" charset="-122"/>
                <a:cs typeface="Calibri" pitchFamily="34" charset="-120"/>
              </a:rPr>
              <a:t xml:space="preserve">Why now: </a:t>
            </a:r>
            <a:pPr indent="0" marL="0">
              <a:spcAft>
                <a:spcPts val="1400"/>
              </a:spcAft>
              <a:buNone/>
            </a:pPr>
            <a:r>
              <a:rPr lang="en-US" sz="1700" dirty="0" b="0">
                <a:solidFill>
                  <a:srgbClr val="000066"/>
                </a:solidFill>
                <a:latin typeface="Calibri" pitchFamily="34" charset="0"/>
                <a:ea typeface="Calibri" pitchFamily="34" charset="-122"/>
                <a:cs typeface="Calibri" pitchFamily="34" charset="-120"/>
              </a:rPr>
              <a:t>smartphones are common among students, and cloud services such as Firebase let one developer build a real-time app without a server.</a:t>
            </a:r>
            <a:endParaRPr lang="en-US" sz="1700" dirty="0"/>
          </a:p>
          <a:p>
            <a:pPr indent="0" marL="0">
              <a:spcAft>
                <a:spcPts val="1400"/>
              </a:spcAft>
              <a:buNone/>
            </a:pPr>
            <a:r>
              <a:rPr lang="en-US" sz="1700" b="1" dirty="0">
                <a:solidFill>
                  <a:srgbClr val="000066"/>
                </a:solidFill>
                <a:latin typeface="Calibri" pitchFamily="34" charset="0"/>
                <a:ea typeface="Calibri" pitchFamily="34" charset="-122"/>
                <a:cs typeface="Calibri" pitchFamily="34" charset="-120"/>
              </a:rPr>
              <a:t xml:space="preserve">Motivation: </a:t>
            </a:r>
            <a:pPr indent="0" marL="0">
              <a:spcAft>
                <a:spcPts val="1400"/>
              </a:spcAft>
              <a:buNone/>
            </a:pPr>
            <a:r>
              <a:rPr lang="en-US" sz="1700" dirty="0" b="0">
                <a:solidFill>
                  <a:srgbClr val="000066"/>
                </a:solidFill>
                <a:latin typeface="Calibri" pitchFamily="34" charset="0"/>
                <a:ea typeface="Calibri" pitchFamily="34" charset="-122"/>
                <a:cs typeface="Calibri" pitchFamily="34" charset="-120"/>
              </a:rPr>
              <a:t>existing lost-and-found products serve staffed lost-property offices or rely on tracking tags, not student-to-student recovery.</a:t>
            </a:r>
            <a:endParaRPr lang="en-US" sz="1700" dirty="0"/>
          </a:p>
        </p:txBody>
      </p:sp>
      <p:sp>
        <p:nvSpPr>
          <p:cNvPr id="4" name="Shape 2"/>
          <p:cNvSpPr/>
          <p:nvPr/>
        </p:nvSpPr>
        <p:spPr>
          <a:xfrm>
            <a:off x="5349240" y="1965960"/>
            <a:ext cx="3246120" cy="3977640"/>
          </a:xfrm>
          <a:prstGeom prst="rect">
            <a:avLst/>
          </a:prstGeom>
          <a:solidFill>
            <a:srgbClr val="FFFFFF"/>
          </a:solidFill>
          <a:ln w="9525">
            <a:solidFill>
              <a:srgbClr val="D3D3E6"/>
            </a:solidFill>
            <a:prstDash val="solid"/>
          </a:ln>
        </p:spPr>
      </p:sp>
      <p:sp>
        <p:nvSpPr>
          <p:cNvPr id="5" name="Text 3"/>
          <p:cNvSpPr txBox="1"/>
          <p:nvPr/>
        </p:nvSpPr>
        <p:spPr>
          <a:xfrm>
            <a:off x="5623560" y="1965960"/>
            <a:ext cx="2697480" cy="3977640"/>
          </a:xfrm>
          <a:prstGeom prst="rect">
            <a:avLst/>
          </a:prstGeom>
          <a:noFill/>
          <a:ln/>
        </p:spPr>
        <p:txBody>
          <a:bodyPr wrap="square" lIns="0" tIns="0" rIns="0" bIns="0" rtlCol="0" anchor="ctr"/>
          <a:lstStyle/>
          <a:p>
            <a:pPr algn="l" indent="0" marL="0">
              <a:buNone/>
            </a:pPr>
            <a:r>
              <a:rPr lang="en-US" sz="1050" i="0" dirty="0" b="1">
                <a:solidFill>
                  <a:srgbClr val="B08B57"/>
                </a:solidFill>
                <a:latin typeface="Calibri" pitchFamily="34" charset="0"/>
                <a:ea typeface="Calibri" pitchFamily="34" charset="-122"/>
                <a:cs typeface="Calibri" pitchFamily="34" charset="-120"/>
              </a:rPr>
              <a:t>HOW AN ITEM IS RECOVERED TODAY</a:t>
            </a:r>
            <a:endParaRPr lang="en-US" sz="1300" dirty="0"/>
          </a:p>
          <a:p>
            <a:pPr algn="l" indent="0" marL="0">
              <a:buNone/>
            </a:pPr>
            <a:r>
              <a:rPr lang="en-US" sz="1300" i="0" dirty="0" b="0">
                <a:solidFill>
                  <a:srgbClr val="000066"/>
                </a:solidFill>
                <a:latin typeface="Calibri" pitchFamily="34" charset="0"/>
                <a:ea typeface="Calibri" pitchFamily="34" charset="-122"/>
                <a:cs typeface="Calibri" pitchFamily="34" charset="-120"/>
              </a:rPr>
              <a:t>1  Post in a WhatsApp group</a:t>
            </a:r>
            <a:endParaRPr lang="en-US" sz="1300" dirty="0"/>
          </a:p>
          <a:p>
            <a:pPr algn="l" indent="0" marL="0">
              <a:buNone/>
            </a:pPr>
            <a:r>
              <a:rPr lang="en-US" sz="1300" i="0" dirty="0" b="0">
                <a:solidFill>
                  <a:srgbClr val="000066"/>
                </a:solidFill>
                <a:latin typeface="Calibri" pitchFamily="34" charset="0"/>
                <a:ea typeface="Calibri" pitchFamily="34" charset="-122"/>
                <a:cs typeface="Calibri" pitchFamily="34" charset="-120"/>
              </a:rPr>
              <a:t>2  Pin a note on a notice board</a:t>
            </a:r>
            <a:endParaRPr lang="en-US" sz="1300" dirty="0"/>
          </a:p>
          <a:p>
            <a:pPr algn="l" indent="0" marL="0">
              <a:buNone/>
            </a:pPr>
            <a:r>
              <a:rPr lang="en-US" sz="1300" i="0" dirty="0" b="0">
                <a:solidFill>
                  <a:srgbClr val="000066"/>
                </a:solidFill>
                <a:latin typeface="Calibri" pitchFamily="34" charset="0"/>
                <a:ea typeface="Calibri" pitchFamily="34" charset="-122"/>
                <a:cs typeface="Calibri" pitchFamily="34" charset="-120"/>
              </a:rPr>
              <a:t>3  Share a phone number publicly</a:t>
            </a:r>
            <a:endParaRPr lang="en-US" sz="1300" dirty="0"/>
          </a:p>
          <a:p>
            <a:pPr algn="l" indent="0" marL="0">
              <a:buNone/>
            </a:pPr>
            <a:r>
              <a:rPr lang="en-US" sz="1300" i="0" dirty="0" b="0">
                <a:solidFill>
                  <a:srgbClr val="000066"/>
                </a:solidFill>
                <a:latin typeface="Calibri" pitchFamily="34" charset="0"/>
                <a:ea typeface="Calibri" pitchFamily="34" charset="-122"/>
                <a:cs typeface="Calibri" pitchFamily="34" charset="-120"/>
              </a:rPr>
              <a:t>4  Wait and hope the owner sees it</a:t>
            </a:r>
            <a:endParaRPr lang="en-US" sz="1300" dirty="0"/>
          </a:p>
          <a:p>
            <a:pPr algn="l" indent="0" marL="0">
              <a:buNone/>
            </a:pPr>
            <a:r>
              <a:rPr lang="en-US" sz="1150" i="0" dirty="0" b="1">
                <a:solidFill>
                  <a:srgbClr val="B08B57"/>
                </a:solidFill>
                <a:latin typeface="Calibri" pitchFamily="34" charset="0"/>
                <a:ea typeface="Calibri" pitchFamily="34" charset="-122"/>
                <a:cs typeface="Calibri" pitchFamily="34" charset="-120"/>
              </a:rPr>
              <a:t>No search, no record, no privacy.</a:t>
            </a:r>
            <a:endParaRPr lang="en-US" sz="13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Problem Statement</a:t>
            </a:r>
            <a:endParaRPr lang="en-US" sz="3200" dirty="0"/>
          </a:p>
        </p:txBody>
      </p:sp>
      <p:sp>
        <p:nvSpPr>
          <p:cNvPr id="3" name="Shape 1"/>
          <p:cNvSpPr/>
          <p:nvPr/>
        </p:nvSpPr>
        <p:spPr>
          <a:xfrm>
            <a:off x="548640" y="1874520"/>
            <a:ext cx="8046720" cy="12801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822960" y="2011680"/>
            <a:ext cx="7498080" cy="274320"/>
          </a:xfrm>
          <a:prstGeom prst="rect">
            <a:avLst/>
          </a:prstGeom>
          <a:noFill/>
          <a:ln/>
        </p:spPr>
        <p:txBody>
          <a:bodyPr wrap="square" lIns="0" tIns="0" rIns="0" bIns="0" rtlCol="0" anchor="ctr"/>
          <a:lstStyle/>
          <a:p>
            <a:pPr indent="0" marL="0">
              <a:buNone/>
            </a:pPr>
            <a:r>
              <a:rPr lang="en-US" sz="1100" b="1" spc="200" kern="0" dirty="0">
                <a:solidFill>
                  <a:srgbClr val="B08B57"/>
                </a:solidFill>
                <a:latin typeface="Calibri" pitchFamily="34" charset="0"/>
                <a:ea typeface="Calibri" pitchFamily="34" charset="-122"/>
                <a:cs typeface="Calibri" pitchFamily="34" charset="-120"/>
              </a:rPr>
              <a:t>PROBLEM STATEMENT</a:t>
            </a:r>
            <a:endParaRPr lang="en-US" sz="1100" dirty="0"/>
          </a:p>
        </p:txBody>
      </p:sp>
      <p:sp>
        <p:nvSpPr>
          <p:cNvPr id="5" name="Text 3"/>
          <p:cNvSpPr txBox="1"/>
          <p:nvPr/>
        </p:nvSpPr>
        <p:spPr>
          <a:xfrm>
            <a:off x="822960" y="2286000"/>
            <a:ext cx="7498080" cy="777240"/>
          </a:xfrm>
          <a:prstGeom prst="rect">
            <a:avLst/>
          </a:prstGeom>
          <a:noFill/>
          <a:ln/>
        </p:spPr>
        <p:txBody>
          <a:bodyPr wrap="square" lIns="0" tIns="0" rIns="0" bIns="0" rtlCol="0" anchor="ctr"/>
          <a:lstStyle/>
          <a:p>
            <a:pPr indent="0" marL="0">
              <a:buNone/>
            </a:pPr>
            <a:r>
              <a:rPr lang="en-US" sz="1900" i="1" dirty="0">
                <a:solidFill>
                  <a:srgbClr val="000066"/>
                </a:solidFill>
                <a:latin typeface="Calibri" pitchFamily="34" charset="0"/>
                <a:ea typeface="Calibri" pitchFamily="34" charset="-122"/>
                <a:cs typeface="Calibri" pitchFamily="34" charset="-120"/>
              </a:rPr>
              <a:t>Students who lose or find an item on campus have no single, trusted place to report it, search for it and contact the other person without exposing their phone number to strangers.</a:t>
            </a:r>
            <a:endParaRPr lang="en-US" sz="1900" dirty="0"/>
          </a:p>
        </p:txBody>
      </p:sp>
      <p:sp>
        <p:nvSpPr>
          <p:cNvPr id="6" name="Shape 4"/>
          <p:cNvSpPr/>
          <p:nvPr/>
        </p:nvSpPr>
        <p:spPr>
          <a:xfrm>
            <a:off x="548640" y="3429000"/>
            <a:ext cx="2514600" cy="23774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777240" y="3639312"/>
            <a:ext cx="640080" cy="640080"/>
          </a:xfrm>
          <a:prstGeom prst="ellipse">
            <a:avLst/>
          </a:prstGeom>
          <a:solidFill>
            <a:srgbClr val="000066"/>
          </a:solidFill>
          <a:ln w="12700">
            <a:solidFill>
              <a:srgbClr val="000066"/>
            </a:solidFill>
            <a:prstDash val="solid"/>
          </a:ln>
        </p:spPr>
      </p:sp>
      <p:pic>
        <p:nvPicPr>
          <p:cNvPr id="8" name="Image 0" descr="preencoded.png">    </p:cNvPr>
          <p:cNvPicPr>
            <a:picLocks noChangeAspect="1"/>
          </p:cNvPicPr>
          <p:nvPr/>
        </p:nvPicPr>
        <p:blipFill>
          <a:blip r:embed="rId1"/>
          <a:stretch>
            <a:fillRect/>
          </a:stretch>
        </p:blipFill>
        <p:spPr>
          <a:xfrm>
            <a:off x="937260" y="3799332"/>
            <a:ext cx="320040" cy="320040"/>
          </a:xfrm>
          <a:prstGeom prst="rect">
            <a:avLst/>
          </a:prstGeom>
        </p:spPr>
      </p:pic>
      <p:sp>
        <p:nvSpPr>
          <p:cNvPr id="9" name="Text 6"/>
          <p:cNvSpPr txBox="1"/>
          <p:nvPr/>
        </p:nvSpPr>
        <p:spPr>
          <a:xfrm>
            <a:off x="777240" y="4434840"/>
            <a:ext cx="2103120" cy="36576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Evidence</a:t>
            </a:r>
            <a:endParaRPr lang="en-US" sz="1700" dirty="0"/>
          </a:p>
        </p:txBody>
      </p:sp>
      <p:sp>
        <p:nvSpPr>
          <p:cNvPr id="10" name="Text 7"/>
          <p:cNvSpPr txBox="1"/>
          <p:nvPr/>
        </p:nvSpPr>
        <p:spPr>
          <a:xfrm>
            <a:off x="777240" y="4846320"/>
            <a:ext cx="2103120" cy="868680"/>
          </a:xfrm>
          <a:prstGeom prst="rect">
            <a:avLst/>
          </a:prstGeom>
          <a:noFill/>
          <a:ln/>
        </p:spPr>
        <p:txBody>
          <a:bodyPr wrap="square" lIns="0" tIns="0" rIns="0" bIns="0" rtlCol="0" anchor="t"/>
          <a:lstStyle/>
          <a:p>
            <a:pPr indent="0" marL="0">
              <a:buNone/>
            </a:pPr>
            <a:r>
              <a:rPr lang="en-US" sz="1250" dirty="0">
                <a:solidFill>
                  <a:srgbClr val="4A4A7A"/>
                </a:solidFill>
                <a:latin typeface="Calibri" pitchFamily="34" charset="0"/>
                <a:ea typeface="Calibri" pitchFamily="34" charset="-122"/>
                <a:cs typeface="Calibri" pitchFamily="34" charset="-120"/>
              </a:rPr>
              <a:t>Recovery runs on WhatsApp group posts, notice boards and word of mouth. [INSERT: survey figure or citation]</a:t>
            </a:r>
            <a:endParaRPr lang="en-US" sz="1400" dirty="0"/>
          </a:p>
        </p:txBody>
      </p:sp>
      <p:sp>
        <p:nvSpPr>
          <p:cNvPr id="11" name="Shape 8"/>
          <p:cNvSpPr/>
          <p:nvPr/>
        </p:nvSpPr>
        <p:spPr>
          <a:xfrm>
            <a:off x="3314700" y="3429000"/>
            <a:ext cx="2514600" cy="23774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2" name="Shape 9"/>
          <p:cNvSpPr/>
          <p:nvPr/>
        </p:nvSpPr>
        <p:spPr>
          <a:xfrm>
            <a:off x="3543300" y="3639312"/>
            <a:ext cx="640080" cy="640080"/>
          </a:xfrm>
          <a:prstGeom prst="ellipse">
            <a:avLst/>
          </a:prstGeom>
          <a:solidFill>
            <a:srgbClr val="000066"/>
          </a:solidFill>
          <a:ln w="12700">
            <a:solidFill>
              <a:srgbClr val="000066"/>
            </a:solidFill>
            <a:prstDash val="solid"/>
          </a:ln>
        </p:spPr>
      </p:sp>
      <p:pic>
        <p:nvPicPr>
          <p:cNvPr id="13" name="Image 1" descr="preencoded.png">    </p:cNvPr>
          <p:cNvPicPr>
            <a:picLocks noChangeAspect="1"/>
          </p:cNvPicPr>
          <p:nvPr/>
        </p:nvPicPr>
        <p:blipFill>
          <a:blip r:embed="rId2"/>
          <a:stretch>
            <a:fillRect/>
          </a:stretch>
        </p:blipFill>
        <p:spPr>
          <a:xfrm>
            <a:off x="3703320" y="3799332"/>
            <a:ext cx="320040" cy="320040"/>
          </a:xfrm>
          <a:prstGeom prst="rect">
            <a:avLst/>
          </a:prstGeom>
        </p:spPr>
      </p:pic>
      <p:sp>
        <p:nvSpPr>
          <p:cNvPr id="14" name="Text 10"/>
          <p:cNvSpPr txBox="1"/>
          <p:nvPr/>
        </p:nvSpPr>
        <p:spPr>
          <a:xfrm>
            <a:off x="3543300" y="4434840"/>
            <a:ext cx="2103120" cy="36576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Affected users</a:t>
            </a:r>
            <a:endParaRPr lang="en-US" sz="1700" dirty="0"/>
          </a:p>
        </p:txBody>
      </p:sp>
      <p:sp>
        <p:nvSpPr>
          <p:cNvPr id="15" name="Text 11"/>
          <p:cNvSpPr txBox="1"/>
          <p:nvPr/>
        </p:nvSpPr>
        <p:spPr>
          <a:xfrm>
            <a:off x="3543300" y="4846320"/>
            <a:ext cx="2103120" cy="868680"/>
          </a:xfrm>
          <a:prstGeom prst="rect">
            <a:avLst/>
          </a:prstGeom>
          <a:noFill/>
          <a:ln/>
        </p:spPr>
        <p:txBody>
          <a:bodyPr wrap="square" lIns="0" tIns="0" rIns="0" bIns="0" rtlCol="0" anchor="t"/>
          <a:lstStyle/>
          <a:p>
            <a:pPr indent="0" marL="0">
              <a:buNone/>
            </a:pPr>
            <a:r>
              <a:rPr lang="en-US" sz="1250" dirty="0">
                <a:solidFill>
                  <a:srgbClr val="4A4A7A"/>
                </a:solidFill>
                <a:latin typeface="Calibri" pitchFamily="34" charset="0"/>
                <a:ea typeface="Calibri" pitchFamily="34" charset="-122"/>
                <a:cs typeface="Calibri" pitchFamily="34" charset="-120"/>
              </a:rPr>
              <a:t>Students who lose ID cards, phones, keys or bags, and the students and staff who find them.</a:t>
            </a:r>
            <a:endParaRPr lang="en-US" sz="1400" dirty="0"/>
          </a:p>
        </p:txBody>
      </p:sp>
      <p:sp>
        <p:nvSpPr>
          <p:cNvPr id="16" name="Shape 12"/>
          <p:cNvSpPr/>
          <p:nvPr/>
        </p:nvSpPr>
        <p:spPr>
          <a:xfrm>
            <a:off x="6080760" y="3429000"/>
            <a:ext cx="2514600" cy="23774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7" name="Shape 13"/>
          <p:cNvSpPr/>
          <p:nvPr/>
        </p:nvSpPr>
        <p:spPr>
          <a:xfrm>
            <a:off x="6309360" y="3639312"/>
            <a:ext cx="640080" cy="640080"/>
          </a:xfrm>
          <a:prstGeom prst="ellipse">
            <a:avLst/>
          </a:prstGeom>
          <a:solidFill>
            <a:srgbClr val="000066"/>
          </a:solidFill>
          <a:ln w="12700">
            <a:solidFill>
              <a:srgbClr val="000066"/>
            </a:solidFill>
            <a:prstDash val="solid"/>
          </a:ln>
        </p:spPr>
      </p:sp>
      <p:pic>
        <p:nvPicPr>
          <p:cNvPr id="18" name="Image 2" descr="preencoded.png">    </p:cNvPr>
          <p:cNvPicPr>
            <a:picLocks noChangeAspect="1"/>
          </p:cNvPicPr>
          <p:nvPr/>
        </p:nvPicPr>
        <p:blipFill>
          <a:blip r:embed="rId3"/>
          <a:stretch>
            <a:fillRect/>
          </a:stretch>
        </p:blipFill>
        <p:spPr>
          <a:xfrm>
            <a:off x="6469380" y="3799332"/>
            <a:ext cx="320040" cy="320040"/>
          </a:xfrm>
          <a:prstGeom prst="rect">
            <a:avLst/>
          </a:prstGeom>
        </p:spPr>
      </p:pic>
      <p:sp>
        <p:nvSpPr>
          <p:cNvPr id="19" name="Text 14"/>
          <p:cNvSpPr txBox="1"/>
          <p:nvPr/>
        </p:nvSpPr>
        <p:spPr>
          <a:xfrm>
            <a:off x="6309360" y="4434840"/>
            <a:ext cx="2103120" cy="36576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Impact</a:t>
            </a:r>
            <a:endParaRPr lang="en-US" sz="1700" dirty="0"/>
          </a:p>
        </p:txBody>
      </p:sp>
      <p:sp>
        <p:nvSpPr>
          <p:cNvPr id="20" name="Text 15"/>
          <p:cNvSpPr txBox="1"/>
          <p:nvPr/>
        </p:nvSpPr>
        <p:spPr>
          <a:xfrm>
            <a:off x="6309360" y="4846320"/>
            <a:ext cx="2103120" cy="868680"/>
          </a:xfrm>
          <a:prstGeom prst="rect">
            <a:avLst/>
          </a:prstGeom>
          <a:noFill/>
          <a:ln/>
        </p:spPr>
        <p:txBody>
          <a:bodyPr wrap="square" lIns="0" tIns="0" rIns="0" bIns="0" rtlCol="0" anchor="t"/>
          <a:lstStyle/>
          <a:p>
            <a:pPr indent="0" marL="0">
              <a:buNone/>
            </a:pPr>
            <a:r>
              <a:rPr lang="en-US" sz="1250" dirty="0">
                <a:solidFill>
                  <a:srgbClr val="4A4A7A"/>
                </a:solidFill>
                <a:latin typeface="Calibri" pitchFamily="34" charset="0"/>
                <a:ea typeface="Calibri" pitchFamily="34" charset="-122"/>
                <a:cs typeface="Calibri" pitchFamily="34" charset="-120"/>
              </a:rPr>
              <a:t>Posts get buried, finders cannot reach owners, phone numbers are shared publicly and items stay unclaimed.</a:t>
            </a:r>
            <a:endParaRPr lang="en-US" sz="14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Aim &amp; Objectives</a:t>
            </a:r>
            <a:endParaRPr lang="en-US" sz="3200" dirty="0"/>
          </a:p>
        </p:txBody>
      </p:sp>
      <p:sp>
        <p:nvSpPr>
          <p:cNvPr id="101" name="Shape 101"/>
          <p:cNvSpPr/>
          <p:nvPr/>
        </p:nvSpPr>
        <p:spPr>
          <a:xfrm>
            <a:off x="548640" y="1874520"/>
            <a:ext cx="8046720" cy="914400"/>
          </a:xfrm>
          <a:prstGeom prst="rect">
            <a:avLst/>
          </a:prstGeom>
          <a:solidFill>
            <a:srgbClr val="000066"/>
          </a:solidFill>
          <a:ln w="9525">
            <a:solidFill>
              <a:srgbClr val="000066"/>
            </a:solidFill>
            <a:prstDash val="solid"/>
          </a:ln>
        </p:spPr>
        <p:txBody>
          <a:bodyPr wrap="square" lIns="201168" tIns="54864" rIns="201168" bIns="54864" rtlCol="0" anchor="ctr"/>
          <a:lstStyle/>
          <a:p>
            <a:pPr marL="0" indent="0" algn="l">
              <a:buNone/>
            </a:pPr>
            <a:r>
              <a:rPr lang="en-US" sz="1100" b="1" i="0" dirty="0">
                <a:solidFill>
                  <a:srgbClr val="B08B57"/>
                </a:solidFill>
                <a:latin typeface="Calibri" pitchFamily="34" charset="0"/>
                <a:ea typeface="Calibri" pitchFamily="34" charset="-122"/>
                <a:cs typeface="Calibri" pitchFamily="34" charset="-120"/>
              </a:rPr>
              <a:t xml:space="preserve">AIM   </a:t>
            </a:r>
            <a:r>
              <a:rPr lang="en-US" sz="1250" b="0" i="0" dirty="0">
                <a:solidFill>
                  <a:srgbClr val="FFFFFF"/>
                </a:solidFill>
                <a:latin typeface="Calibri" pitchFamily="34" charset="0"/>
                <a:ea typeface="Calibri" pitchFamily="34" charset="-122"/>
                <a:cs typeface="Calibri" pitchFamily="34" charset="-120"/>
              </a:rPr>
              <a:t>To design, develop and evaluate a cross-platform mobile application that lets university students report, search for and securely arrange the return of lost and found items, and to assess whether it improves on the informal channels students use today.</a:t>
            </a:r>
            <a:endParaRPr lang="en-US" sz="1200" dirty="0"/>
          </a:p>
        </p:txBody>
      </p:sp>
      <p:sp>
        <p:nvSpPr>
          <p:cNvPr id="102" name="Text 102"/>
          <p:cNvSpPr txBox="1"/>
          <p:nvPr/>
        </p:nvSpPr>
        <p:spPr>
          <a:xfrm>
            <a:off x="548640" y="2926080"/>
            <a:ext cx="2743200" cy="219456"/>
          </a:xfrm>
          <a:prstGeom prst="rect">
            <a:avLst/>
          </a:prstGeom>
          <a:noFill/>
          <a:ln>
            <a:noFill/>
          </a:ln>
        </p:spPr>
        <p:txBody>
          <a:bodyPr wrap="square" lIns="0" tIns="0" rIns="0" bIns="0" rtlCol="0" anchor="t"/>
          <a:lstStyle/>
          <a:p>
            <a:pPr marL="0" indent="0" algn="l">
              <a:buNone/>
            </a:pPr>
            <a:r>
              <a:rPr lang="en-US" sz="1000" b="1" i="0" dirty="0">
                <a:solidFill>
                  <a:srgbClr val="B08B57"/>
                </a:solidFill>
                <a:latin typeface="Calibri" pitchFamily="34" charset="0"/>
                <a:ea typeface="Calibri" pitchFamily="34" charset="-122"/>
                <a:cs typeface="Calibri" pitchFamily="34" charset="-120"/>
              </a:rPr>
              <a:t>OBJECTIVE</a:t>
            </a:r>
            <a:endParaRPr lang="en-US" sz="1200" dirty="0"/>
          </a:p>
        </p:txBody>
      </p:sp>
      <p:sp>
        <p:nvSpPr>
          <p:cNvPr id="103" name="Text 103"/>
          <p:cNvSpPr txBox="1"/>
          <p:nvPr/>
        </p:nvSpPr>
        <p:spPr>
          <a:xfrm>
            <a:off x="5760720" y="2926080"/>
            <a:ext cx="2834640" cy="219456"/>
          </a:xfrm>
          <a:prstGeom prst="rect">
            <a:avLst/>
          </a:prstGeom>
          <a:noFill/>
          <a:ln>
            <a:noFill/>
          </a:ln>
        </p:spPr>
        <p:txBody>
          <a:bodyPr wrap="square" lIns="0" tIns="0" rIns="0" bIns="0" rtlCol="0" anchor="t"/>
          <a:lstStyle/>
          <a:p>
            <a:pPr marL="0" indent="0" algn="l">
              <a:buNone/>
            </a:pPr>
            <a:r>
              <a:rPr lang="en-US" sz="1000" b="1" i="0" dirty="0">
                <a:solidFill>
                  <a:srgbClr val="B08B57"/>
                </a:solidFill>
                <a:latin typeface="Calibri" pitchFamily="34" charset="0"/>
                <a:ea typeface="Calibri" pitchFamily="34" charset="-122"/>
                <a:cs typeface="Calibri" pitchFamily="34" charset="-120"/>
              </a:rPr>
              <a:t>PART OF THE AIM IT SERVES  ·  EVIDENCE</a:t>
            </a:r>
            <a:endParaRPr lang="en-US" sz="1200" dirty="0"/>
          </a:p>
        </p:txBody>
      </p:sp>
      <p:sp>
        <p:nvSpPr>
          <p:cNvPr id="104" name="Shape 104"/>
          <p:cNvSpPr/>
          <p:nvPr/>
        </p:nvSpPr>
        <p:spPr>
          <a:xfrm>
            <a:off x="548640" y="3172968"/>
            <a:ext cx="5120640" cy="71323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05" name="Shape 105"/>
          <p:cNvSpPr/>
          <p:nvPr/>
        </p:nvSpPr>
        <p:spPr>
          <a:xfrm>
            <a:off x="658368" y="3328416"/>
            <a:ext cx="475488" cy="402336"/>
          </a:xfrm>
          <a:prstGeom prst="rect">
            <a:avLst/>
          </a:prstGeom>
          <a:solidFill>
            <a:srgbClr val="B08B57"/>
          </a:solidFill>
          <a:ln w="9525">
            <a:solidFill>
              <a:srgbClr val="B08B57"/>
            </a:solidFill>
            <a:prstDash val="solid"/>
          </a:ln>
        </p:spPr>
        <p:txBody>
          <a:bodyPr wrap="square" lIns="0" tIns="0" rIns="0" bIns="0" rtlCol="0" anchor="ctr"/>
          <a:lstStyle/>
          <a:p>
            <a:pPr marL="0" indent="0" algn="ctr">
              <a:buNone/>
            </a:pPr>
            <a:r>
              <a:rPr lang="en-US" sz="1300" b="1" i="0" dirty="0">
                <a:solidFill>
                  <a:srgbClr val="FFFFFF"/>
                </a:solidFill>
                <a:latin typeface="Calibri" pitchFamily="34" charset="0"/>
                <a:ea typeface="Calibri" pitchFamily="34" charset="-122"/>
                <a:cs typeface="Calibri" pitchFamily="34" charset="-120"/>
              </a:rPr>
              <a:t>O1</a:t>
            </a:r>
            <a:endParaRPr lang="en-US" sz="1200" dirty="0"/>
          </a:p>
        </p:txBody>
      </p:sp>
      <p:sp>
        <p:nvSpPr>
          <p:cNvPr id="106" name="Text 106"/>
          <p:cNvSpPr txBox="1"/>
          <p:nvPr/>
        </p:nvSpPr>
        <p:spPr>
          <a:xfrm>
            <a:off x="1261872" y="3227832"/>
            <a:ext cx="4297680" cy="621792"/>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Understand the baseline</a:t>
            </a:r>
            <a:endParaRPr lang="en-US" sz="1200" dirty="0"/>
          </a:p>
          <a:p>
            <a:pPr marL="0" indent="0" algn="l">
              <a:buNone/>
            </a:pPr>
            <a:r>
              <a:rPr lang="en-US" sz="1050" b="0" i="0" dirty="0">
                <a:solidFill>
                  <a:srgbClr val="4A4A7A"/>
                </a:solidFill>
                <a:latin typeface="Calibri" pitchFamily="34" charset="0"/>
                <a:ea typeface="Calibri" pitchFamily="34" charset="-122"/>
                <a:cs typeface="Calibri" pitchFamily="34" charset="-120"/>
              </a:rPr>
              <a:t>How students report and recover lost items today: literature review and a short survey.</a:t>
            </a:r>
            <a:endParaRPr lang="en-US" sz="1200" dirty="0"/>
          </a:p>
        </p:txBody>
      </p:sp>
      <p:sp>
        <p:nvSpPr>
          <p:cNvPr id="107" name="Shape 107"/>
          <p:cNvSpPr/>
          <p:nvPr/>
        </p:nvSpPr>
        <p:spPr>
          <a:xfrm>
            <a:off x="5760720" y="3172968"/>
            <a:ext cx="2834640" cy="713232"/>
          </a:xfrm>
          <a:prstGeom prst="rect">
            <a:avLst/>
          </a:prstGeom>
          <a:solidFill>
            <a:srgbClr val="F3ECDF"/>
          </a:solidFill>
          <a:ln w="9525">
            <a:solidFill>
              <a:srgbClr val="D3D3E6"/>
            </a:solidFill>
            <a:prstDash val="solid"/>
          </a:ln>
        </p:spPr>
        <p:txBody>
          <a:bodyPr wrap="square" lIns="109728" tIns="36576" rIns="91440" bIns="36576" rtlCol="0" anchor="ctr"/>
          <a:lstStyle/>
          <a:p>
            <a:pPr marL="0" indent="0" algn="l">
              <a:spcAft>
                <a:spcPts val="100"/>
              </a:spcAft>
              <a:buNone/>
            </a:pPr>
            <a:r>
              <a:rPr lang="en-US" sz="1050" b="1" i="1" dirty="0">
                <a:solidFill>
                  <a:srgbClr val="000066"/>
                </a:solidFill>
                <a:latin typeface="Calibri" pitchFamily="34" charset="0"/>
                <a:ea typeface="Calibri" pitchFamily="34" charset="-122"/>
                <a:cs typeface="Calibri" pitchFamily="34" charset="-120"/>
              </a:rPr>
              <a:t>“…improves on the informal channels”</a:t>
            </a:r>
            <a:endParaRPr lang="en-US" sz="1200" dirty="0"/>
          </a:p>
          <a:p>
            <a:pPr marL="0" indent="0" algn="l">
              <a:buNone/>
            </a:pPr>
            <a:r>
              <a:rPr lang="en-US" sz="950" b="0" i="0" dirty="0">
                <a:solidFill>
                  <a:srgbClr val="4A4A7A"/>
                </a:solidFill>
                <a:latin typeface="Calibri" pitchFamily="34" charset="0"/>
                <a:ea typeface="Calibri" pitchFamily="34" charset="-122"/>
                <a:cs typeface="Calibri" pitchFamily="34" charset="-120"/>
              </a:rPr>
              <a:t>Literature + survey</a:t>
            </a:r>
            <a:endParaRPr lang="en-US" sz="1200" dirty="0"/>
          </a:p>
        </p:txBody>
      </p:sp>
      <p:sp>
        <p:nvSpPr>
          <p:cNvPr id="108" name="Shape 108"/>
          <p:cNvSpPr/>
          <p:nvPr/>
        </p:nvSpPr>
        <p:spPr>
          <a:xfrm>
            <a:off x="548640" y="3950208"/>
            <a:ext cx="5120640" cy="71323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09" name="Shape 109"/>
          <p:cNvSpPr/>
          <p:nvPr/>
        </p:nvSpPr>
        <p:spPr>
          <a:xfrm>
            <a:off x="658368" y="4105656"/>
            <a:ext cx="475488" cy="402336"/>
          </a:xfrm>
          <a:prstGeom prst="rect">
            <a:avLst/>
          </a:prstGeom>
          <a:solidFill>
            <a:srgbClr val="B08B57"/>
          </a:solidFill>
          <a:ln w="9525">
            <a:solidFill>
              <a:srgbClr val="B08B57"/>
            </a:solidFill>
            <a:prstDash val="solid"/>
          </a:ln>
        </p:spPr>
        <p:txBody>
          <a:bodyPr wrap="square" lIns="0" tIns="0" rIns="0" bIns="0" rtlCol="0" anchor="ctr"/>
          <a:lstStyle/>
          <a:p>
            <a:pPr marL="0" indent="0" algn="ctr">
              <a:buNone/>
            </a:pPr>
            <a:r>
              <a:rPr lang="en-US" sz="1300" b="1" i="0" dirty="0">
                <a:solidFill>
                  <a:srgbClr val="FFFFFF"/>
                </a:solidFill>
                <a:latin typeface="Calibri" pitchFamily="34" charset="0"/>
                <a:ea typeface="Calibri" pitchFamily="34" charset="-122"/>
                <a:cs typeface="Calibri" pitchFamily="34" charset="-120"/>
              </a:rPr>
              <a:t>O2</a:t>
            </a:r>
            <a:endParaRPr lang="en-US" sz="1200" dirty="0"/>
          </a:p>
        </p:txBody>
      </p:sp>
      <p:sp>
        <p:nvSpPr>
          <p:cNvPr id="110" name="Text 110"/>
          <p:cNvSpPr txBox="1"/>
          <p:nvPr/>
        </p:nvSpPr>
        <p:spPr>
          <a:xfrm>
            <a:off x="1261872" y="4005072"/>
            <a:ext cx="4297680" cy="621792"/>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Secure access and communication</a:t>
            </a:r>
            <a:endParaRPr lang="en-US" sz="1200" dirty="0"/>
          </a:p>
          <a:p>
            <a:pPr marL="0" indent="0" algn="l">
              <a:buNone/>
            </a:pPr>
            <a:r>
              <a:rPr lang="en-US" sz="1050" b="0" i="0" dirty="0">
                <a:solidFill>
                  <a:srgbClr val="4A4A7A"/>
                </a:solidFill>
                <a:latin typeface="Calibri" pitchFamily="34" charset="0"/>
                <a:ea typeface="Calibri" pitchFamily="34" charset="-122"/>
                <a:cs typeface="Calibri" pitchFamily="34" charset="-120"/>
              </a:rPr>
              <a:t>Verified accounts, database access rules and encrypted one-to-one chat.</a:t>
            </a:r>
            <a:endParaRPr lang="en-US" sz="1200" dirty="0"/>
          </a:p>
        </p:txBody>
      </p:sp>
      <p:sp>
        <p:nvSpPr>
          <p:cNvPr id="111" name="Shape 111"/>
          <p:cNvSpPr/>
          <p:nvPr/>
        </p:nvSpPr>
        <p:spPr>
          <a:xfrm>
            <a:off x="5760720" y="3950208"/>
            <a:ext cx="2834640" cy="713232"/>
          </a:xfrm>
          <a:prstGeom prst="rect">
            <a:avLst/>
          </a:prstGeom>
          <a:solidFill>
            <a:srgbClr val="F3ECDF"/>
          </a:solidFill>
          <a:ln w="9525">
            <a:solidFill>
              <a:srgbClr val="D3D3E6"/>
            </a:solidFill>
            <a:prstDash val="solid"/>
          </a:ln>
        </p:spPr>
        <p:txBody>
          <a:bodyPr wrap="square" lIns="109728" tIns="36576" rIns="91440" bIns="36576" rtlCol="0" anchor="ctr"/>
          <a:lstStyle/>
          <a:p>
            <a:pPr marL="0" indent="0" algn="l">
              <a:spcAft>
                <a:spcPts val="100"/>
              </a:spcAft>
              <a:buNone/>
            </a:pPr>
            <a:r>
              <a:rPr lang="en-US" sz="1050" b="1" i="1" dirty="0">
                <a:solidFill>
                  <a:srgbClr val="000066"/>
                </a:solidFill>
                <a:latin typeface="Calibri" pitchFamily="34" charset="0"/>
                <a:ea typeface="Calibri" pitchFamily="34" charset="-122"/>
                <a:cs typeface="Calibri" pitchFamily="34" charset="-120"/>
              </a:rPr>
              <a:t>“…securely arrange the return”</a:t>
            </a:r>
            <a:endParaRPr lang="en-US" sz="1200" dirty="0"/>
          </a:p>
          <a:p>
            <a:pPr marL="0" indent="0" algn="l">
              <a:buNone/>
            </a:pPr>
            <a:r>
              <a:rPr lang="en-US" sz="950" b="0" i="0" dirty="0">
                <a:solidFill>
                  <a:srgbClr val="4A4A7A"/>
                </a:solidFill>
                <a:latin typeface="Calibri" pitchFamily="34" charset="0"/>
                <a:ea typeface="Calibri" pitchFamily="34" charset="-122"/>
                <a:cs typeface="Calibri" pitchFamily="34" charset="-120"/>
              </a:rPr>
              <a:t>FR-01 to FR-03, FR-09; security rules</a:t>
            </a:r>
            <a:endParaRPr lang="en-US" sz="1200" dirty="0"/>
          </a:p>
        </p:txBody>
      </p:sp>
      <p:sp>
        <p:nvSpPr>
          <p:cNvPr id="112" name="Shape 112"/>
          <p:cNvSpPr/>
          <p:nvPr/>
        </p:nvSpPr>
        <p:spPr>
          <a:xfrm>
            <a:off x="548640" y="4727448"/>
            <a:ext cx="5120640" cy="71323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13" name="Shape 113"/>
          <p:cNvSpPr/>
          <p:nvPr/>
        </p:nvSpPr>
        <p:spPr>
          <a:xfrm>
            <a:off x="658368" y="4882896"/>
            <a:ext cx="475488" cy="402336"/>
          </a:xfrm>
          <a:prstGeom prst="rect">
            <a:avLst/>
          </a:prstGeom>
          <a:solidFill>
            <a:srgbClr val="B08B57"/>
          </a:solidFill>
          <a:ln w="9525">
            <a:solidFill>
              <a:srgbClr val="B08B57"/>
            </a:solidFill>
            <a:prstDash val="solid"/>
          </a:ln>
        </p:spPr>
        <p:txBody>
          <a:bodyPr wrap="square" lIns="0" tIns="0" rIns="0" bIns="0" rtlCol="0" anchor="ctr"/>
          <a:lstStyle/>
          <a:p>
            <a:pPr marL="0" indent="0" algn="ctr">
              <a:buNone/>
            </a:pPr>
            <a:r>
              <a:rPr lang="en-US" sz="1300" b="1" i="0" dirty="0">
                <a:solidFill>
                  <a:srgbClr val="FFFFFF"/>
                </a:solidFill>
                <a:latin typeface="Calibri" pitchFamily="34" charset="0"/>
                <a:ea typeface="Calibri" pitchFamily="34" charset="-122"/>
                <a:cs typeface="Calibri" pitchFamily="34" charset="-120"/>
              </a:rPr>
              <a:t>O3</a:t>
            </a:r>
            <a:endParaRPr lang="en-US" sz="1200" dirty="0"/>
          </a:p>
        </p:txBody>
      </p:sp>
      <p:sp>
        <p:nvSpPr>
          <p:cNvPr id="114" name="Text 114"/>
          <p:cNvSpPr txBox="1"/>
          <p:nvPr/>
        </p:nvSpPr>
        <p:spPr>
          <a:xfrm>
            <a:off x="1261872" y="4782312"/>
            <a:ext cx="4297680" cy="621792"/>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Build the platform</a:t>
            </a:r>
            <a:endParaRPr lang="en-US" sz="1200" dirty="0"/>
          </a:p>
          <a:p>
            <a:pPr marL="0" indent="0" algn="l">
              <a:buNone/>
            </a:pPr>
            <a:r>
              <a:rPr lang="en-US" sz="1050" b="0" i="0" dirty="0">
                <a:solidFill>
                  <a:srgbClr val="4A4A7A"/>
                </a:solidFill>
                <a:latin typeface="Calibri" pitchFamily="34" charset="0"/>
                <a:ea typeface="Calibri" pitchFamily="34" charset="-122"/>
                <a:cs typeface="Calibri" pitchFamily="34" charset="-120"/>
              </a:rPr>
              <a:t>Reporting with photos, live browsing, search and filters, a chat inbox and message alerts.</a:t>
            </a:r>
            <a:endParaRPr lang="en-US" sz="1200" dirty="0"/>
          </a:p>
        </p:txBody>
      </p:sp>
      <p:sp>
        <p:nvSpPr>
          <p:cNvPr id="115" name="Shape 115"/>
          <p:cNvSpPr/>
          <p:nvPr/>
        </p:nvSpPr>
        <p:spPr>
          <a:xfrm>
            <a:off x="5760720" y="4727448"/>
            <a:ext cx="2834640" cy="713232"/>
          </a:xfrm>
          <a:prstGeom prst="rect">
            <a:avLst/>
          </a:prstGeom>
          <a:solidFill>
            <a:srgbClr val="F3ECDF"/>
          </a:solidFill>
          <a:ln w="9525">
            <a:solidFill>
              <a:srgbClr val="D3D3E6"/>
            </a:solidFill>
            <a:prstDash val="solid"/>
          </a:ln>
        </p:spPr>
        <p:txBody>
          <a:bodyPr wrap="square" lIns="109728" tIns="36576" rIns="91440" bIns="36576" rtlCol="0" anchor="ctr"/>
          <a:lstStyle/>
          <a:p>
            <a:pPr marL="0" indent="0" algn="l">
              <a:spcAft>
                <a:spcPts val="100"/>
              </a:spcAft>
              <a:buNone/>
            </a:pPr>
            <a:r>
              <a:rPr lang="en-US" sz="1050" b="1" i="1" dirty="0">
                <a:solidFill>
                  <a:srgbClr val="000066"/>
                </a:solidFill>
                <a:latin typeface="Calibri" pitchFamily="34" charset="0"/>
                <a:ea typeface="Calibri" pitchFamily="34" charset="-122"/>
                <a:cs typeface="Calibri" pitchFamily="34" charset="-120"/>
              </a:rPr>
              <a:t>“…report, search for and arrange the return”</a:t>
            </a:r>
            <a:endParaRPr lang="en-US" sz="1200" dirty="0"/>
          </a:p>
          <a:p>
            <a:pPr marL="0" indent="0" algn="l">
              <a:buNone/>
            </a:pPr>
            <a:r>
              <a:rPr lang="en-US" sz="950" b="0" i="0" dirty="0">
                <a:solidFill>
                  <a:srgbClr val="4A4A7A"/>
                </a:solidFill>
                <a:latin typeface="Calibri" pitchFamily="34" charset="0"/>
                <a:ea typeface="Calibri" pitchFamily="34" charset="-122"/>
                <a:cs typeface="Calibri" pitchFamily="34" charset="-120"/>
              </a:rPr>
              <a:t>FR-04 to FR-12; the working app</a:t>
            </a:r>
            <a:endParaRPr lang="en-US" sz="1200" dirty="0"/>
          </a:p>
        </p:txBody>
      </p:sp>
      <p:sp>
        <p:nvSpPr>
          <p:cNvPr id="116" name="Shape 116"/>
          <p:cNvSpPr/>
          <p:nvPr/>
        </p:nvSpPr>
        <p:spPr>
          <a:xfrm>
            <a:off x="548640" y="5504688"/>
            <a:ext cx="5120640" cy="71323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17" name="Shape 117"/>
          <p:cNvSpPr/>
          <p:nvPr/>
        </p:nvSpPr>
        <p:spPr>
          <a:xfrm>
            <a:off x="658368" y="5660136"/>
            <a:ext cx="475488" cy="402336"/>
          </a:xfrm>
          <a:prstGeom prst="rect">
            <a:avLst/>
          </a:prstGeom>
          <a:solidFill>
            <a:srgbClr val="B08B57"/>
          </a:solidFill>
          <a:ln w="9525">
            <a:solidFill>
              <a:srgbClr val="B08B57"/>
            </a:solidFill>
            <a:prstDash val="solid"/>
          </a:ln>
        </p:spPr>
        <p:txBody>
          <a:bodyPr wrap="square" lIns="0" tIns="0" rIns="0" bIns="0" rtlCol="0" anchor="ctr"/>
          <a:lstStyle/>
          <a:p>
            <a:pPr marL="0" indent="0" algn="ctr">
              <a:buNone/>
            </a:pPr>
            <a:r>
              <a:rPr lang="en-US" sz="1300" b="1" i="0" dirty="0">
                <a:solidFill>
                  <a:srgbClr val="FFFFFF"/>
                </a:solidFill>
                <a:latin typeface="Calibri" pitchFamily="34" charset="0"/>
                <a:ea typeface="Calibri" pitchFamily="34" charset="-122"/>
                <a:cs typeface="Calibri" pitchFamily="34" charset="-120"/>
              </a:rPr>
              <a:t>O4</a:t>
            </a:r>
            <a:endParaRPr lang="en-US" sz="1200" dirty="0"/>
          </a:p>
        </p:txBody>
      </p:sp>
      <p:sp>
        <p:nvSpPr>
          <p:cNvPr id="118" name="Text 118"/>
          <p:cNvSpPr txBox="1"/>
          <p:nvPr/>
        </p:nvSpPr>
        <p:spPr>
          <a:xfrm>
            <a:off x="1261872" y="5559552"/>
            <a:ext cx="4297680" cy="621792"/>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Evaluate against informal channels</a:t>
            </a:r>
            <a:endParaRPr lang="en-US" sz="1200" dirty="0"/>
          </a:p>
          <a:p>
            <a:pPr marL="0" indent="0" algn="l">
              <a:buNone/>
            </a:pPr>
            <a:r>
              <a:rPr lang="en-US" sz="1050" b="0" i="0" dirty="0">
                <a:solidFill>
                  <a:srgbClr val="4A4A7A"/>
                </a:solidFill>
                <a:latin typeface="Calibri" pitchFamily="34" charset="0"/>
                <a:ea typeface="Calibri" pitchFamily="34" charset="-122"/>
                <a:cs typeface="Calibri" pitchFamily="34" charset="-120"/>
              </a:rPr>
              <a:t>Time on task (RQ1), usability (RQ2) and trust in the safeguards (RQ3), plus functional testing.</a:t>
            </a:r>
            <a:endParaRPr lang="en-US" sz="1200" dirty="0"/>
          </a:p>
        </p:txBody>
      </p:sp>
      <p:sp>
        <p:nvSpPr>
          <p:cNvPr id="119" name="Shape 119"/>
          <p:cNvSpPr/>
          <p:nvPr/>
        </p:nvSpPr>
        <p:spPr>
          <a:xfrm>
            <a:off x="5760720" y="5504688"/>
            <a:ext cx="2834640" cy="713232"/>
          </a:xfrm>
          <a:prstGeom prst="rect">
            <a:avLst/>
          </a:prstGeom>
          <a:solidFill>
            <a:srgbClr val="F3ECDF"/>
          </a:solidFill>
          <a:ln w="9525">
            <a:solidFill>
              <a:srgbClr val="D3D3E6"/>
            </a:solidFill>
            <a:prstDash val="solid"/>
          </a:ln>
        </p:spPr>
        <p:txBody>
          <a:bodyPr wrap="square" lIns="109728" tIns="36576" rIns="91440" bIns="36576" rtlCol="0" anchor="ctr"/>
          <a:lstStyle/>
          <a:p>
            <a:pPr marL="0" indent="0" algn="l">
              <a:spcAft>
                <a:spcPts val="100"/>
              </a:spcAft>
              <a:buNone/>
            </a:pPr>
            <a:r>
              <a:rPr lang="en-US" sz="1050" b="1" i="1" dirty="0">
                <a:solidFill>
                  <a:srgbClr val="000066"/>
                </a:solidFill>
                <a:latin typeface="Calibri" pitchFamily="34" charset="0"/>
                <a:ea typeface="Calibri" pitchFamily="34" charset="-122"/>
                <a:cs typeface="Calibri" pitchFamily="34" charset="-120"/>
              </a:rPr>
              <a:t>“…assess whether it improves”</a:t>
            </a:r>
            <a:endParaRPr lang="en-US" sz="1200" dirty="0"/>
          </a:p>
          <a:p>
            <a:pPr marL="0" indent="0" algn="l">
              <a:buNone/>
            </a:pPr>
            <a:r>
              <a:rPr lang="en-US" sz="950" b="0" i="0" dirty="0">
                <a:solidFill>
                  <a:srgbClr val="4A4A7A"/>
                </a:solidFill>
                <a:latin typeface="Calibri" pitchFamily="34" charset="0"/>
                <a:ea typeface="Calibri" pitchFamily="34" charset="-122"/>
                <a:cs typeface="Calibri" pitchFamily="34" charset="-120"/>
              </a:rPr>
              <a:t>RQ1 to RQ3 results; test log</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Research Questions, Scope &amp; Significance</a:t>
            </a:r>
            <a:endParaRPr lang="en-US" sz="3200" dirty="0"/>
          </a:p>
        </p:txBody>
      </p:sp>
      <p:sp>
        <p:nvSpPr>
          <p:cNvPr id="3" name="Shape 1"/>
          <p:cNvSpPr/>
          <p:nvPr/>
        </p:nvSpPr>
        <p:spPr>
          <a:xfrm>
            <a:off x="548640" y="1874520"/>
            <a:ext cx="2514600" cy="41605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777240" y="2084832"/>
            <a:ext cx="548640" cy="548640"/>
          </a:xfrm>
          <a:prstGeom prst="ellipse">
            <a:avLst/>
          </a:prstGeom>
          <a:solidFill>
            <a:srgbClr val="000066"/>
          </a:solidFill>
          <a:ln w="12700">
            <a:solidFill>
              <a:srgbClr val="000066"/>
            </a:solidFill>
            <a:prstDash val="solid"/>
          </a:ln>
        </p:spPr>
      </p:sp>
      <p:pic>
        <p:nvPicPr>
          <p:cNvPr id="5" name="Image 0" descr="preencoded.png">    </p:cNvPr>
          <p:cNvPicPr>
            <a:picLocks noChangeAspect="1"/>
          </p:cNvPicPr>
          <p:nvPr/>
        </p:nvPicPr>
        <p:blipFill>
          <a:blip r:embed="rId1"/>
          <a:stretch>
            <a:fillRect/>
          </a:stretch>
        </p:blipFill>
        <p:spPr>
          <a:xfrm>
            <a:off x="914400" y="2221992"/>
            <a:ext cx="274320" cy="274320"/>
          </a:xfrm>
          <a:prstGeom prst="rect">
            <a:avLst/>
          </a:prstGeom>
        </p:spPr>
      </p:pic>
      <p:sp>
        <p:nvSpPr>
          <p:cNvPr id="6" name="Text 3"/>
          <p:cNvSpPr txBox="1"/>
          <p:nvPr/>
        </p:nvSpPr>
        <p:spPr>
          <a:xfrm>
            <a:off x="777240" y="2743200"/>
            <a:ext cx="2103120" cy="41148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Research Questions</a:t>
            </a:r>
            <a:endParaRPr lang="en-US" sz="1700" dirty="0"/>
          </a:p>
        </p:txBody>
      </p:sp>
      <p:sp>
        <p:nvSpPr>
          <p:cNvPr id="7" name="Text 4"/>
          <p:cNvSpPr txBox="1"/>
          <p:nvPr/>
        </p:nvSpPr>
        <p:spPr>
          <a:xfrm>
            <a:off x="777240" y="3200400"/>
            <a:ext cx="2148840" cy="2697480"/>
          </a:xfrm>
          <a:prstGeom prst="rect">
            <a:avLst/>
          </a:prstGeom>
          <a:noFill/>
          <a:ln/>
        </p:spPr>
        <p:txBody>
          <a:bodyPr wrap="square" lIns="0" tIns="0" rIns="0" bIns="0" rtlCol="0" anchor="t"/>
          <a:lstStyle/>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RQ1: </a:t>
            </a:r>
            <a:r>
              <a:rPr lang="en-US" sz="1300" dirty="0" b="0">
                <a:solidFill>
                  <a:srgbClr val="4A4A7A"/>
                </a:solidFill>
                <a:latin typeface="Calibri" pitchFamily="34" charset="0"/>
                <a:ea typeface="Calibri" pitchFamily="34" charset="-122"/>
                <a:cs typeface="Calibri" pitchFamily="34" charset="-120"/>
              </a:rPr>
              <a:t>Can students report and locate an item faster in one app than through WhatsApp groups?</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RQ2: </a:t>
            </a:r>
            <a:r>
              <a:rPr lang="en-US" sz="1300" dirty="0" b="0">
                <a:solidFill>
                  <a:srgbClr val="4A4A7A"/>
                </a:solidFill>
                <a:latin typeface="Calibri" pitchFamily="34" charset="0"/>
                <a:ea typeface="Calibri" pitchFamily="34" charset="-122"/>
                <a:cs typeface="Calibri" pitchFamily="34" charset="-120"/>
              </a:rPr>
              <a:t>How do students rate CampusFinder on the System Usability Scale?</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RQ3: </a:t>
            </a:r>
            <a:r>
              <a:rPr lang="en-US" sz="1300" dirty="0" b="0">
                <a:solidFill>
                  <a:srgbClr val="4A4A7A"/>
                </a:solidFill>
                <a:latin typeface="Calibri" pitchFamily="34" charset="0"/>
                <a:ea typeface="Calibri" pitchFamily="34" charset="-122"/>
                <a:cs typeface="Calibri" pitchFamily="34" charset="-120"/>
              </a:rPr>
              <a:t>Which safeguard matters most: verified accounts, private chat or encryption?</a:t>
            </a:r>
            <a:endParaRPr lang="en-US" sz="1300" dirty="0"/>
          </a:p>
        </p:txBody>
      </p:sp>
      <p:sp>
        <p:nvSpPr>
          <p:cNvPr id="8" name="Shape 5"/>
          <p:cNvSpPr/>
          <p:nvPr/>
        </p:nvSpPr>
        <p:spPr>
          <a:xfrm>
            <a:off x="3314700" y="1874520"/>
            <a:ext cx="2514600" cy="41605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9" name="Shape 6"/>
          <p:cNvSpPr/>
          <p:nvPr/>
        </p:nvSpPr>
        <p:spPr>
          <a:xfrm>
            <a:off x="3543300" y="2084832"/>
            <a:ext cx="548640" cy="548640"/>
          </a:xfrm>
          <a:prstGeom prst="ellipse">
            <a:avLst/>
          </a:prstGeom>
          <a:solidFill>
            <a:srgbClr val="000066"/>
          </a:solidFill>
          <a:ln w="12700">
            <a:solidFill>
              <a:srgbClr val="000066"/>
            </a:solidFill>
            <a:prstDash val="solid"/>
          </a:ln>
        </p:spPr>
      </p:sp>
      <p:pic>
        <p:nvPicPr>
          <p:cNvPr id="10" name="Image 1" descr="preencoded.png">    </p:cNvPr>
          <p:cNvPicPr>
            <a:picLocks noChangeAspect="1"/>
          </p:cNvPicPr>
          <p:nvPr/>
        </p:nvPicPr>
        <p:blipFill>
          <a:blip r:embed="rId2"/>
          <a:stretch>
            <a:fillRect/>
          </a:stretch>
        </p:blipFill>
        <p:spPr>
          <a:xfrm>
            <a:off x="3680460" y="2221992"/>
            <a:ext cx="274320" cy="274320"/>
          </a:xfrm>
          <a:prstGeom prst="rect">
            <a:avLst/>
          </a:prstGeom>
        </p:spPr>
      </p:pic>
      <p:sp>
        <p:nvSpPr>
          <p:cNvPr id="11" name="Text 7"/>
          <p:cNvSpPr txBox="1"/>
          <p:nvPr/>
        </p:nvSpPr>
        <p:spPr>
          <a:xfrm>
            <a:off x="3543300" y="2743200"/>
            <a:ext cx="2103120" cy="41148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Scope</a:t>
            </a:r>
            <a:endParaRPr lang="en-US" sz="1700" dirty="0"/>
          </a:p>
        </p:txBody>
      </p:sp>
      <p:sp>
        <p:nvSpPr>
          <p:cNvPr id="12" name="Text 8"/>
          <p:cNvSpPr txBox="1"/>
          <p:nvPr/>
        </p:nvSpPr>
        <p:spPr>
          <a:xfrm>
            <a:off x="3543300" y="3200400"/>
            <a:ext cx="2148840" cy="2697480"/>
          </a:xfrm>
          <a:prstGeom prst="rect">
            <a:avLst/>
          </a:prstGeom>
          <a:noFill/>
          <a:ln/>
        </p:spPr>
        <p:txBody>
          <a:bodyPr wrap="square" lIns="0" tIns="0" rIns="0" bIns="0" rtlCol="0" anchor="t"/>
          <a:lstStyle/>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Users: </a:t>
            </a:r>
            <a:r>
              <a:rPr lang="en-US" sz="1300" dirty="0" b="0">
                <a:solidFill>
                  <a:srgbClr val="4A4A7A"/>
                </a:solidFill>
                <a:latin typeface="Calibri" pitchFamily="34" charset="0"/>
                <a:ea typeface="Calibri" pitchFamily="34" charset="-122"/>
                <a:cs typeface="Calibri" pitchFamily="34" charset="-120"/>
              </a:rPr>
              <a:t>University of Ghana students</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Features: </a:t>
            </a:r>
            <a:r>
              <a:rPr lang="en-US" sz="1300" dirty="0" b="0">
                <a:solidFill>
                  <a:srgbClr val="4A4A7A"/>
                </a:solidFill>
                <a:latin typeface="Calibri" pitchFamily="34" charset="0"/>
                <a:ea typeface="Calibri" pitchFamily="34" charset="-122"/>
                <a:cs typeface="Calibri" pitchFamily="34" charset="-120"/>
              </a:rPr>
              <a:t>reports with photos, search, filters, private chat, alerts</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Platform: </a:t>
            </a:r>
            <a:r>
              <a:rPr lang="en-US" sz="1300" dirty="0" b="0">
                <a:solidFill>
                  <a:srgbClr val="4A4A7A"/>
                </a:solidFill>
                <a:latin typeface="Calibri" pitchFamily="34" charset="0"/>
                <a:ea typeface="Calibri" pitchFamily="34" charset="-122"/>
                <a:cs typeface="Calibri" pitchFamily="34" charset="-120"/>
              </a:rPr>
              <a:t>Android and iOS through Expo; Firebase, Cloudinary</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Out of scope: </a:t>
            </a:r>
            <a:r>
              <a:rPr lang="en-US" sz="1300" dirty="0" b="0">
                <a:solidFill>
                  <a:srgbClr val="4A4A7A"/>
                </a:solidFill>
                <a:latin typeface="Calibri" pitchFamily="34" charset="0"/>
                <a:ea typeface="Calibri" pitchFamily="34" charset="-122"/>
                <a:cs typeface="Calibri" pitchFamily="34" charset="-120"/>
              </a:rPr>
              <a:t>claim approval, admin moderation, automatic matching</a:t>
            </a:r>
            <a:endParaRPr lang="en-US" sz="1300" dirty="0"/>
          </a:p>
        </p:txBody>
      </p:sp>
      <p:sp>
        <p:nvSpPr>
          <p:cNvPr id="13" name="Shape 9"/>
          <p:cNvSpPr/>
          <p:nvPr/>
        </p:nvSpPr>
        <p:spPr>
          <a:xfrm>
            <a:off x="6080760" y="1874520"/>
            <a:ext cx="2514600" cy="41605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4" name="Shape 10"/>
          <p:cNvSpPr/>
          <p:nvPr/>
        </p:nvSpPr>
        <p:spPr>
          <a:xfrm>
            <a:off x="6309360" y="2084832"/>
            <a:ext cx="548640" cy="548640"/>
          </a:xfrm>
          <a:prstGeom prst="ellipse">
            <a:avLst/>
          </a:prstGeom>
          <a:solidFill>
            <a:srgbClr val="000066"/>
          </a:solidFill>
          <a:ln w="12700">
            <a:solidFill>
              <a:srgbClr val="000066"/>
            </a:solidFill>
            <a:prstDash val="solid"/>
          </a:ln>
        </p:spPr>
      </p:sp>
      <p:pic>
        <p:nvPicPr>
          <p:cNvPr id="15" name="Image 2" descr="preencoded.png">    </p:cNvPr>
          <p:cNvPicPr>
            <a:picLocks noChangeAspect="1"/>
          </p:cNvPicPr>
          <p:nvPr/>
        </p:nvPicPr>
        <p:blipFill>
          <a:blip r:embed="rId3"/>
          <a:stretch>
            <a:fillRect/>
          </a:stretch>
        </p:blipFill>
        <p:spPr>
          <a:xfrm>
            <a:off x="6446520" y="2221992"/>
            <a:ext cx="274320" cy="274320"/>
          </a:xfrm>
          <a:prstGeom prst="rect">
            <a:avLst/>
          </a:prstGeom>
        </p:spPr>
      </p:pic>
      <p:sp>
        <p:nvSpPr>
          <p:cNvPr id="16" name="Text 11"/>
          <p:cNvSpPr txBox="1"/>
          <p:nvPr/>
        </p:nvSpPr>
        <p:spPr>
          <a:xfrm>
            <a:off x="6309360" y="2743200"/>
            <a:ext cx="2103120" cy="41148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Significance</a:t>
            </a:r>
            <a:endParaRPr lang="en-US" sz="1700" dirty="0"/>
          </a:p>
        </p:txBody>
      </p:sp>
      <p:sp>
        <p:nvSpPr>
          <p:cNvPr id="17" name="Text 12"/>
          <p:cNvSpPr txBox="1"/>
          <p:nvPr/>
        </p:nvSpPr>
        <p:spPr>
          <a:xfrm>
            <a:off x="6309360" y="3200400"/>
            <a:ext cx="2148840" cy="2697480"/>
          </a:xfrm>
          <a:prstGeom prst="rect">
            <a:avLst/>
          </a:prstGeom>
          <a:noFill/>
          <a:ln/>
        </p:spPr>
        <p:txBody>
          <a:bodyPr wrap="square" lIns="0" tIns="0" rIns="0" bIns="0" rtlCol="0" anchor="t"/>
          <a:lstStyle/>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Users: </a:t>
            </a:r>
            <a:r>
              <a:rPr lang="en-US" sz="1300" dirty="0" b="0">
                <a:solidFill>
                  <a:srgbClr val="4A4A7A"/>
                </a:solidFill>
                <a:latin typeface="Calibri" pitchFamily="34" charset="0"/>
                <a:ea typeface="Calibri" pitchFamily="34" charset="-122"/>
                <a:cs typeface="Calibri" pitchFamily="34" charset="-120"/>
              </a:rPr>
              <a:t>one private, searchable place to recover belongings</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Campus: </a:t>
            </a:r>
            <a:r>
              <a:rPr lang="en-US" sz="1300" dirty="0" b="0">
                <a:solidFill>
                  <a:srgbClr val="4A4A7A"/>
                </a:solidFill>
                <a:latin typeface="Calibri" pitchFamily="34" charset="0"/>
                <a:ea typeface="Calibri" pitchFamily="34" charset="-122"/>
                <a:cs typeface="Calibri" pitchFamily="34" charset="-120"/>
              </a:rPr>
              <a:t>a base that security or hall offices could adopt</a:t>
            </a:r>
            <a:endParaRPr lang="en-US" sz="1300" dirty="0"/>
          </a:p>
          <a:p>
            <a:pPr marL="190500" indent="-190500">
              <a:spcAft>
                <a:spcPts val="800"/>
              </a:spcAft>
              <a:buSzPct val="100000"/>
              <a:buChar char="•"/>
            </a:pPr>
            <a:r>
              <a:rPr lang="en-US" sz="1300" dirty="0" b="1">
                <a:solidFill>
                  <a:srgbClr val="4A4A7A"/>
                </a:solidFill>
                <a:latin typeface="Calibri" pitchFamily="34" charset="0"/>
                <a:ea typeface="Calibri" pitchFamily="34" charset="-122"/>
                <a:cs typeface="Calibri" pitchFamily="34" charset="-120"/>
              </a:rPr>
              <a:t xml:space="preserve">Knowledge: </a:t>
            </a:r>
            <a:r>
              <a:rPr lang="en-US" sz="1300" dirty="0" b="0">
                <a:solidFill>
                  <a:srgbClr val="4A4A7A"/>
                </a:solidFill>
                <a:latin typeface="Calibri" pitchFamily="34" charset="0"/>
                <a:ea typeface="Calibri" pitchFamily="34" charset="-122"/>
                <a:cs typeface="Calibri" pitchFamily="34" charset="-120"/>
              </a:rPr>
              <a:t>a serverless pattern for private peer-to-peer reporting</a:t>
            </a:r>
            <a:endParaRPr lang="en-US" sz="13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Related Work &amp; Research Gap</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8046720" cy="914400"/>
        </p:xfrm>
        <a:graphic>
          <a:graphicData uri="http://schemas.openxmlformats.org/drawingml/2006/table">
            <a:tbl>
              <a:tblPr/>
              <a:tblGrid>
                <a:gridCol w="1828800"/>
                <a:gridCol w="2011680"/>
                <a:gridCol w="2011680"/>
                <a:gridCol w="219456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Study / System</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Approach / Technology</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Strengths</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Limitations</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r>
              <a:tr h="548640">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Chargerback (2010)</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Cloud lost-property database run by an organisation, with owner notifications and shipping</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Proven in airlines, resorts and public venues</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Needs staff to log every item; no contact between finder and owner</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r>
              <a:tr h="548640">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Crowdfind (2012)</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Image-based lost and found software; each found item starts with a photo</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Photo-first records are quick to log and search</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Run by an organisation, not by students; commercial product</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r>
              <a:tr h="548640">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Apple AirTag (2021)</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Bluetooth tag located through the Find My network</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Owner sees the location; no office needed</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950" dirty="0" b="0">
                          <a:solidFill>
                            <a:srgbClr val="000066"/>
                          </a:solidFill>
                          <a:latin typeface="Calibri" pitchFamily="34" charset="0"/>
                          <a:ea typeface="Calibri" pitchFamily="34" charset="-122"/>
                          <a:cs typeface="Calibri" pitchFamily="34" charset="-120"/>
                        </a:rPr>
                        <a:t>Tag must be bought and attached before the loss; Apple devices only</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000066"/>
                          </a:solidFill>
                          <a:latin typeface="Calibri" pitchFamily="34" charset="0"/>
                          <a:ea typeface="Calibri" pitchFamily="34" charset="-122"/>
                          <a:cs typeface="Calibri" pitchFamily="34" charset="-120"/>
                        </a:rPr>
                        <a:t>CampusFinder (this project)</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c>
                  <a:txBody>
                    <a:bodyPr/>
                    <a:lstStyle/>
                    <a:p>
                      <a:pPr indent="0" marL="0">
                        <a:buNone/>
                      </a:pPr>
                      <a:r>
                        <a:rPr lang="en-US" sz="950" b="1" dirty="0">
                          <a:solidFill>
                            <a:srgbClr val="000066"/>
                          </a:solidFill>
                          <a:latin typeface="Calibri" pitchFamily="34" charset="0"/>
                          <a:ea typeface="Calibri" pitchFamily="34" charset="-122"/>
                          <a:cs typeface="Calibri" pitchFamily="34" charset="-120"/>
                        </a:rPr>
                        <a:t>Expo + Firebase; verified accounts, photo reports, live search, encrypted chat</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c>
                  <a:txBody>
                    <a:bodyPr/>
                    <a:lstStyle/>
                    <a:p>
                      <a:pPr indent="0" marL="0">
                        <a:buNone/>
                      </a:pPr>
                      <a:r>
                        <a:rPr lang="en-US" sz="950" b="1" dirty="0">
                          <a:solidFill>
                            <a:srgbClr val="000066"/>
                          </a:solidFill>
                          <a:latin typeface="Calibri" pitchFamily="34" charset="0"/>
                          <a:ea typeface="Calibri" pitchFamily="34" charset="-122"/>
                          <a:cs typeface="Calibri" pitchFamily="34" charset="-120"/>
                        </a:rPr>
                        <a:t>Report, search and private chat between students in one free app</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c>
                  <a:txBody>
                    <a:bodyPr/>
                    <a:lstStyle/>
                    <a:p>
                      <a:pPr indent="0" marL="0">
                        <a:buNone/>
                      </a:pPr>
                      <a:r>
                        <a:rPr lang="en-US" sz="950" b="1" dirty="0">
                          <a:solidFill>
                            <a:srgbClr val="000066"/>
                          </a:solidFill>
                          <a:latin typeface="Calibri" pitchFamily="34" charset="0"/>
                          <a:ea typeface="Calibri" pitchFamily="34" charset="-122"/>
                          <a:cs typeface="Calibri" pitchFamily="34" charset="-120"/>
                        </a:rPr>
                        <a:t>Prototype scale; no claim step or moderation yet; any email accepted</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bl>
          </a:graphicData>
        </a:graphic>
      </p:graphicFrame>
      <p:sp>
        <p:nvSpPr>
          <p:cNvPr id="4" name="Shape 1"/>
          <p:cNvSpPr/>
          <p:nvPr/>
        </p:nvSpPr>
        <p:spPr>
          <a:xfrm>
            <a:off x="548640" y="4846320"/>
            <a:ext cx="8046720" cy="114300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5" name="Text 2"/>
          <p:cNvSpPr txBox="1"/>
          <p:nvPr/>
        </p:nvSpPr>
        <p:spPr>
          <a:xfrm>
            <a:off x="822960" y="4956048"/>
            <a:ext cx="7498080" cy="274320"/>
          </a:xfrm>
          <a:prstGeom prst="rect">
            <a:avLst/>
          </a:prstGeom>
          <a:noFill/>
          <a:ln/>
        </p:spPr>
        <p:txBody>
          <a:bodyPr wrap="square" lIns="0" tIns="0" rIns="0" bIns="0" rtlCol="0" anchor="ctr"/>
          <a:lstStyle/>
          <a:p>
            <a:pPr indent="0" marL="0">
              <a:buNone/>
            </a:pPr>
            <a:r>
              <a:rPr lang="en-US" sz="1100" b="1" spc="200" kern="0" dirty="0">
                <a:solidFill>
                  <a:srgbClr val="B08B57"/>
                </a:solidFill>
                <a:latin typeface="Calibri" pitchFamily="34" charset="0"/>
                <a:ea typeface="Calibri" pitchFamily="34" charset="-122"/>
                <a:cs typeface="Calibri" pitchFamily="34" charset="-120"/>
              </a:rPr>
              <a:t>RESEARCH GAP</a:t>
            </a:r>
            <a:endParaRPr lang="en-US" sz="1100" dirty="0"/>
          </a:p>
        </p:txBody>
      </p:sp>
      <p:sp>
        <p:nvSpPr>
          <p:cNvPr id="6" name="Text 3"/>
          <p:cNvSpPr txBox="1"/>
          <p:nvPr/>
        </p:nvSpPr>
        <p:spPr>
          <a:xfrm>
            <a:off x="822960" y="5230368"/>
            <a:ext cx="7498080" cy="640080"/>
          </a:xfrm>
          <a:prstGeom prst="rect">
            <a:avLst/>
          </a:prstGeom>
          <a:noFill/>
          <a:ln/>
        </p:spPr>
        <p:txBody>
          <a:bodyPr wrap="square" lIns="0" tIns="0" rIns="0" bIns="0" rtlCol="0" anchor="ctr"/>
          <a:lstStyle/>
          <a:p>
            <a:pPr indent="0" marL="0">
              <a:buNone/>
            </a:pPr>
            <a:r>
              <a:rPr lang="en-US" sz="1700" i="1" dirty="0">
                <a:solidFill>
                  <a:srgbClr val="000066"/>
                </a:solidFill>
                <a:latin typeface="Calibri" pitchFamily="34" charset="0"/>
                <a:ea typeface="Calibri" pitchFamily="34" charset="-122"/>
                <a:cs typeface="Calibri" pitchFamily="34" charset="-120"/>
              </a:rPr>
              <a:t>Among the systems reviewed, none gives students a peer-to-peer place to report, search and privately arrange the return of an item, tied to verified accounts and built for a campus.</a:t>
            </a:r>
            <a:endParaRPr lang="en-US" sz="17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CampusFinder vs Informal Channels</a:t>
            </a:r>
            <a:endParaRPr lang="en-US" sz="3200" dirty="0"/>
          </a:p>
        </p:txBody>
      </p:sp>
      <p:graphicFrame>
        <p:nvGraphicFramePr>
          <p:cNvPr id="120" name="Table 120"/>
          <p:cNvGraphicFramePr>
            <a:graphicFrameLocks noGrp="1"/>
          </p:cNvGraphicFramePr>
          <p:nvPr/>
        </p:nvGraphicFramePr>
        <p:xfrm>
          <a:off x="548640" y="1874520"/>
          <a:ext cx="8046720" cy="2670048"/>
        </p:xfrm>
        <a:graphic>
          <a:graphicData uri="http://schemas.openxmlformats.org/drawingml/2006/table">
            <a:tbl>
              <a:tblPr/>
              <a:tblGrid>
                <a:gridCol w="1828800"/>
                <a:gridCol w="2926080"/>
                <a:gridCol w="3291840"/>
              </a:tblGrid>
              <a:tr h="384048">
                <a:tc>
                  <a:txBody>
                    <a:bodyPr/>
                    <a:lstStyle/>
                    <a:p>
                      <a:pPr marL="0" indent="0" algn="l">
                        <a:buNone/>
                      </a:pPr>
                      <a:r>
                        <a:rPr lang="en-US" sz="1100" b="1" i="0" dirty="0">
                          <a:solidFill>
                            <a:srgbClr val="FFFFFF"/>
                          </a:solidFill>
                          <a:latin typeface="Calibri" pitchFamily="34" charset="0"/>
                          <a:ea typeface="Calibri" pitchFamily="34" charset="-122"/>
                          <a:cs typeface="Calibri" pitchFamily="34" charset="-120"/>
                        </a:rPr>
                        <a:t>Need</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marL="0" indent="0" algn="l">
                        <a:buNone/>
                      </a:pPr>
                      <a:r>
                        <a:rPr lang="en-US" sz="1100" b="1" i="0" dirty="0">
                          <a:solidFill>
                            <a:srgbClr val="FFFFFF"/>
                          </a:solidFill>
                          <a:latin typeface="Calibri" pitchFamily="34" charset="0"/>
                          <a:ea typeface="Calibri" pitchFamily="34" charset="-122"/>
                          <a:cs typeface="Calibri" pitchFamily="34" charset="-120"/>
                        </a:rPr>
                        <a:t>Informal channels today</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marL="0" indent="0" algn="l">
                        <a:buNone/>
                      </a:pPr>
                      <a:r>
                        <a:rPr lang="en-US" sz="1100" b="1" i="0" dirty="0">
                          <a:solidFill>
                            <a:srgbClr val="FFFFFF"/>
                          </a:solidFill>
                          <a:latin typeface="Calibri" pitchFamily="34" charset="0"/>
                          <a:ea typeface="Calibri" pitchFamily="34" charset="-122"/>
                          <a:cs typeface="Calibri" pitchFamily="34" charset="-120"/>
                        </a:rPr>
                        <a:t>CampusFinder</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r>
              <a:tr h="457200">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Announcing an item</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0" i="0" dirty="0">
                          <a:solidFill>
                            <a:srgbClr val="4A4A7A"/>
                          </a:solidFill>
                          <a:latin typeface="Calibri" pitchFamily="34" charset="0"/>
                          <a:ea typeface="Calibri" pitchFamily="34" charset="-122"/>
                          <a:cs typeface="Calibri" pitchFamily="34" charset="-120"/>
                        </a:rPr>
                        <a:t>A post in a WhatsApp group or a note on a board</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Structured report: type, name, description, location, photo</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457200">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Finding a match</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0" i="0" dirty="0">
                          <a:solidFill>
                            <a:srgbClr val="4A4A7A"/>
                          </a:solidFill>
                          <a:latin typeface="Calibri" pitchFamily="34" charset="0"/>
                          <a:ea typeface="Calibri" pitchFamily="34" charset="-122"/>
                          <a:cs typeface="Calibri" pitchFamily="34" charset="-120"/>
                        </a:rPr>
                        <a:t>Scroll back through old messages; ask around</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Live list with keyword search and Lost / Found filters</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457200">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Knowing who posted</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0" i="0" dirty="0">
                          <a:solidFill>
                            <a:srgbClr val="4A4A7A"/>
                          </a:solidFill>
                          <a:latin typeface="Calibri" pitchFamily="34" charset="0"/>
                          <a:ea typeface="Calibri" pitchFamily="34" charset="-122"/>
                          <a:cs typeface="Calibri" pitchFamily="34" charset="-120"/>
                        </a:rPr>
                        <a:t>An unknown group member or phone number</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An account with a confirmed email address</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457200">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Making contact</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0" i="0" dirty="0">
                          <a:solidFill>
                            <a:srgbClr val="4A4A7A"/>
                          </a:solidFill>
                          <a:latin typeface="Calibri" pitchFamily="34" charset="0"/>
                          <a:ea typeface="Calibri" pitchFamily="34" charset="-122"/>
                          <a:cs typeface="Calibri" pitchFamily="34" charset="-120"/>
                        </a:rPr>
                        <a:t>Phone number visible to the whole group</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Private in-app chat; no phone number shared</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457200">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Keeping a record</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0" i="0" dirty="0">
                          <a:solidFill>
                            <a:srgbClr val="4A4A7A"/>
                          </a:solidFill>
                          <a:latin typeface="Calibri" pitchFamily="34" charset="0"/>
                          <a:ea typeface="Calibri" pitchFamily="34" charset="-122"/>
                          <a:cs typeface="Calibri" pitchFamily="34" charset="-120"/>
                        </a:rPr>
                        <a:t>Posts are buried within hours</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marL="0" indent="0" algn="l">
                        <a:buNone/>
                      </a:pPr>
                      <a:r>
                        <a:rPr lang="en-US" sz="1100" b="1" i="0" dirty="0">
                          <a:solidFill>
                            <a:srgbClr val="000066"/>
                          </a:solidFill>
                          <a:latin typeface="Calibri" pitchFamily="34" charset="0"/>
                          <a:ea typeface="Calibri" pitchFamily="34" charset="-122"/>
                          <a:cs typeface="Calibri" pitchFamily="34" charset="-120"/>
                        </a:rPr>
                        <a:t>Reports and chats are stored with the time and reporter</a:t>
                      </a:r>
                      <a:endParaRPr lang="en-US" sz="1200" dirty="0"/>
                    </a:p>
                  </a:txBody>
                  <a:tcPr marL="82296" marR="82296" marT="54864" marB="54864"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bl>
          </a:graphicData>
        </a:graphic>
      </p:graphicFrame>
      <p:sp>
        <p:nvSpPr>
          <p:cNvPr id="121" name="Shape 121"/>
          <p:cNvSpPr/>
          <p:nvPr/>
        </p:nvSpPr>
        <p:spPr>
          <a:xfrm>
            <a:off x="548640" y="4754880"/>
            <a:ext cx="3931920" cy="14630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txBody>
          <a:bodyPr wrap="square" lIns="164592" tIns="128016" rIns="164592" bIns="91440" rtlCol="0" anchor="t"/>
          <a:lstStyle/>
          <a:p>
            <a:pPr marL="0" indent="0" algn="l">
              <a:spcAft>
                <a:spcPts val="400"/>
              </a:spcAft>
              <a:buNone/>
            </a:pPr>
            <a:r>
              <a:rPr lang="en-US" sz="1000" b="1" i="0" dirty="0">
                <a:solidFill>
                  <a:srgbClr val="B08B57"/>
                </a:solidFill>
                <a:latin typeface="Calibri" pitchFamily="34" charset="0"/>
                <a:ea typeface="Calibri" pitchFamily="34" charset="-122"/>
                <a:cs typeface="Calibri" pitchFamily="34" charset="-120"/>
              </a:rPr>
              <a:t>WHAT WE KEEP</a:t>
            </a:r>
            <a:endParaRPr lang="en-US" sz="1200" dirty="0"/>
          </a:p>
          <a:p>
            <a:pPr marL="0" indent="0" algn="l">
              <a:buNone/>
            </a:pPr>
            <a:r>
              <a:rPr lang="en-US" sz="1250" b="0" i="0" dirty="0">
                <a:solidFill>
                  <a:srgbClr val="000066"/>
                </a:solidFill>
                <a:latin typeface="Calibri" pitchFamily="34" charset="0"/>
                <a:ea typeface="Calibri" pitchFamily="34" charset="-122"/>
                <a:cs typeface="Calibri" pitchFamily="34" charset="-120"/>
              </a:rPr>
              <a:t>Recovery still depends on goodwill between students. The finder and the owner still talk and agree where to meet. CampusFinder gives that conversation one searchable, private place.</a:t>
            </a:r>
            <a:endParaRPr lang="en-US" sz="1200" dirty="0"/>
          </a:p>
        </p:txBody>
      </p:sp>
      <p:sp>
        <p:nvSpPr>
          <p:cNvPr id="122" name="Shape 122"/>
          <p:cNvSpPr/>
          <p:nvPr/>
        </p:nvSpPr>
        <p:spPr>
          <a:xfrm>
            <a:off x="4663440" y="4754880"/>
            <a:ext cx="3931920" cy="1463040"/>
          </a:xfrm>
          <a:prstGeom prst="rect">
            <a:avLst/>
          </a:prstGeom>
          <a:solidFill>
            <a:srgbClr val="000066"/>
          </a:solidFill>
          <a:ln w="9525">
            <a:solidFill>
              <a:srgbClr val="000066"/>
            </a:solidFill>
            <a:prstDash val="solid"/>
          </a:ln>
        </p:spPr>
        <p:txBody>
          <a:bodyPr wrap="square" lIns="164592" tIns="128016" rIns="164592" bIns="91440" rtlCol="0" anchor="t"/>
          <a:lstStyle/>
          <a:p>
            <a:pPr marL="0" indent="0" algn="l">
              <a:spcAft>
                <a:spcPts val="400"/>
              </a:spcAft>
              <a:buNone/>
            </a:pPr>
            <a:r>
              <a:rPr lang="en-US" sz="1000" b="1" i="0" dirty="0">
                <a:solidFill>
                  <a:srgbClr val="B08B57"/>
                </a:solidFill>
                <a:latin typeface="Calibri" pitchFamily="34" charset="0"/>
                <a:ea typeface="Calibri" pitchFamily="34" charset="-122"/>
                <a:cs typeface="Calibri" pitchFamily="34" charset="-120"/>
              </a:rPr>
              <a:t>CLAIMS TO TEST, NOT RESULTS</a:t>
            </a:r>
            <a:endParaRPr lang="en-US" sz="1200" dirty="0"/>
          </a:p>
          <a:p>
            <a:pPr marL="0" indent="0" algn="l">
              <a:buNone/>
            </a:pPr>
            <a:r>
              <a:rPr lang="en-US" sz="1250" b="0" i="0" dirty="0">
                <a:solidFill>
                  <a:srgbClr val="FFFFFF"/>
                </a:solidFill>
                <a:latin typeface="Calibri" pitchFamily="34" charset="0"/>
                <a:ea typeface="Calibri" pitchFamily="34" charset="-122"/>
                <a:cs typeface="Calibri" pitchFamily="34" charset="-120"/>
              </a:rPr>
              <a:t>RQ1 times reporting and finding an item against a described WhatsApp scenario. RQ3 asks which of these safeguards users actually rely on.</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Methodology: Design Science Research</a:t>
            </a:r>
            <a:endParaRPr lang="en-US" sz="3200" dirty="0"/>
          </a:p>
        </p:txBody>
      </p:sp>
      <p:sp>
        <p:nvSpPr>
          <p:cNvPr id="3" name="Text 1"/>
          <p:cNvSpPr txBox="1"/>
          <p:nvPr/>
        </p:nvSpPr>
        <p:spPr>
          <a:xfrm>
            <a:off x="548640" y="1783080"/>
            <a:ext cx="8046720" cy="411480"/>
          </a:xfrm>
          <a:prstGeom prst="rect">
            <a:avLst/>
          </a:prstGeom>
          <a:noFill/>
          <a:ln/>
        </p:spPr>
        <p:txBody>
          <a:bodyPr wrap="square" lIns="0" tIns="0" rIns="0" bIns="0" rtlCol="0" anchor="ctr"/>
          <a:lstStyle/>
          <a:p>
            <a:pPr indent="0" marL="0">
              <a:buNone/>
            </a:pPr>
            <a:r>
              <a:rPr lang="en-US" sz="1400" i="1" dirty="0">
                <a:solidFill>
                  <a:srgbClr val="4A4A7A"/>
                </a:solidFill>
                <a:latin typeface="Calibri" pitchFamily="34" charset="0"/>
                <a:ea typeface="Calibri" pitchFamily="34" charset="-122"/>
                <a:cs typeface="Calibri" pitchFamily="34" charset="-120"/>
              </a:rPr>
              <a:t>Peffers et al. (2007): an artefact is designed, built and evaluated to solve a real problem.</a:t>
            </a:r>
            <a:endParaRPr lang="en-US" sz="1400" dirty="0"/>
          </a:p>
        </p:txBody>
      </p:sp>
      <p:sp>
        <p:nvSpPr>
          <p:cNvPr id="4" name="Shape 2"/>
          <p:cNvSpPr/>
          <p:nvPr/>
        </p:nvSpPr>
        <p:spPr>
          <a:xfrm>
            <a:off x="548640" y="2331720"/>
            <a:ext cx="1188720" cy="1325880"/>
          </a:xfrm>
          <a:prstGeom prst="rect">
            <a:avLst/>
          </a:prstGeom>
          <a:solidFill>
            <a:srgbClr val="000066"/>
          </a:solidFill>
          <a:ln w="12700">
            <a:solidFill>
              <a:srgbClr val="000066"/>
            </a:solidFill>
            <a:prstDash val="solid"/>
          </a:ln>
        </p:spPr>
      </p:sp>
      <p:sp>
        <p:nvSpPr>
          <p:cNvPr id="5" name="Text 3"/>
          <p:cNvSpPr txBox="1"/>
          <p:nvPr/>
        </p:nvSpPr>
        <p:spPr>
          <a:xfrm>
            <a:off x="640080" y="2404872"/>
            <a:ext cx="1005840" cy="320040"/>
          </a:xfrm>
          <a:prstGeom prst="rect">
            <a:avLst/>
          </a:prstGeom>
          <a:noFill/>
          <a:ln/>
        </p:spPr>
        <p:txBody>
          <a:bodyPr wrap="square" lIns="0" tIns="0" rIns="0" bIns="0" rtlCol="0" anchor="ctr"/>
          <a:lstStyle/>
          <a:p>
            <a:pPr algn="ctr" indent="0" marL="0">
              <a:buNone/>
            </a:pPr>
            <a:r>
              <a:rPr lang="en-US" sz="1600" b="1" dirty="0">
                <a:solidFill>
                  <a:srgbClr val="B08B57"/>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603504" y="2724912"/>
            <a:ext cx="1078992"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Problem identification &amp; motivation</a:t>
            </a:r>
            <a:endParaRPr lang="en-US" sz="1200" dirty="0"/>
          </a:p>
        </p:txBody>
      </p:sp>
      <p:sp>
        <p:nvSpPr>
          <p:cNvPr id="7" name="Shape 5"/>
          <p:cNvSpPr/>
          <p:nvPr/>
        </p:nvSpPr>
        <p:spPr>
          <a:xfrm>
            <a:off x="1764792" y="2889504"/>
            <a:ext cx="128016" cy="219456"/>
          </a:xfrm>
          <a:prstGeom prst="rightArrow">
            <a:avLst/>
          </a:prstGeom>
          <a:solidFill>
            <a:srgbClr val="B08B57"/>
          </a:solidFill>
          <a:ln w="12700">
            <a:solidFill>
              <a:srgbClr val="B08B57"/>
            </a:solidFill>
            <a:prstDash val="solid"/>
          </a:ln>
        </p:spPr>
      </p:sp>
      <p:sp>
        <p:nvSpPr>
          <p:cNvPr id="8" name="Shape 6"/>
          <p:cNvSpPr/>
          <p:nvPr/>
        </p:nvSpPr>
        <p:spPr>
          <a:xfrm>
            <a:off x="548640" y="3794760"/>
            <a:ext cx="1188720" cy="14173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9" name="Text 7"/>
          <p:cNvSpPr txBox="1"/>
          <p:nvPr/>
        </p:nvSpPr>
        <p:spPr>
          <a:xfrm>
            <a:off x="621792" y="3858768"/>
            <a:ext cx="1042416" cy="228600"/>
          </a:xfrm>
          <a:prstGeom prst="rect">
            <a:avLst/>
          </a:prstGeom>
          <a:noFill/>
          <a:ln/>
        </p:spPr>
        <p:txBody>
          <a:bodyPr wrap="square" lIns="0" tIns="0" rIns="0" bIns="0" rtlCol="0" anchor="ctr"/>
          <a:lstStyle/>
          <a:p>
            <a:pPr algn="ctr" indent="0" marL="0">
              <a:buNone/>
            </a:pPr>
            <a:r>
              <a:rPr lang="en-US" sz="800" b="1" dirty="0">
                <a:solidFill>
                  <a:srgbClr val="B08B57"/>
                </a:solidFill>
                <a:latin typeface="Calibri" pitchFamily="34" charset="0"/>
                <a:ea typeface="Calibri" pitchFamily="34" charset="-122"/>
                <a:cs typeface="Calibri" pitchFamily="34" charset="-120"/>
              </a:rPr>
              <a:t>IN THIS PROJECT</a:t>
            </a:r>
            <a:endParaRPr lang="en-US" sz="800" dirty="0"/>
          </a:p>
        </p:txBody>
      </p:sp>
      <p:sp>
        <p:nvSpPr>
          <p:cNvPr id="10" name="Text 8"/>
          <p:cNvSpPr txBox="1"/>
          <p:nvPr/>
        </p:nvSpPr>
        <p:spPr>
          <a:xfrm>
            <a:off x="621792" y="4087368"/>
            <a:ext cx="1042416" cy="1033272"/>
          </a:xfrm>
          <a:prstGeom prst="rect">
            <a:avLst/>
          </a:prstGeom>
          <a:noFill/>
          <a:ln/>
        </p:spPr>
        <p:txBody>
          <a:bodyPr wrap="square" lIns="0" tIns="0" rIns="0" bIns="0" rtlCol="0" anchor="ctr"/>
          <a:lstStyle/>
          <a:p>
            <a:pPr algn="ctr" indent="0" marL="0">
              <a:buNone/>
            </a:pPr>
            <a:r>
              <a:rPr lang="en-US" sz="1100" dirty="0">
                <a:solidFill>
                  <a:srgbClr val="000066"/>
                </a:solidFill>
                <a:latin typeface="Calibri" pitchFamily="34" charset="0"/>
                <a:ea typeface="Calibri" pitchFamily="34" charset="-122"/>
                <a:cs typeface="Calibri" pitchFamily="34" charset="-120"/>
              </a:rPr>
              <a:t>Literature review and a review of three systems</a:t>
            </a:r>
            <a:endParaRPr lang="en-US" sz="1100" dirty="0"/>
          </a:p>
        </p:txBody>
      </p:sp>
      <p:sp>
        <p:nvSpPr>
          <p:cNvPr id="11" name="Shape 9"/>
          <p:cNvSpPr/>
          <p:nvPr/>
        </p:nvSpPr>
        <p:spPr>
          <a:xfrm>
            <a:off x="1920240" y="2331720"/>
            <a:ext cx="1188720" cy="1325880"/>
          </a:xfrm>
          <a:prstGeom prst="rect">
            <a:avLst/>
          </a:prstGeom>
          <a:solidFill>
            <a:srgbClr val="000066"/>
          </a:solidFill>
          <a:ln w="12700">
            <a:solidFill>
              <a:srgbClr val="000066"/>
            </a:solidFill>
            <a:prstDash val="solid"/>
          </a:ln>
        </p:spPr>
      </p:sp>
      <p:sp>
        <p:nvSpPr>
          <p:cNvPr id="12" name="Text 10"/>
          <p:cNvSpPr txBox="1"/>
          <p:nvPr/>
        </p:nvSpPr>
        <p:spPr>
          <a:xfrm>
            <a:off x="2011680" y="2404872"/>
            <a:ext cx="1005840" cy="320040"/>
          </a:xfrm>
          <a:prstGeom prst="rect">
            <a:avLst/>
          </a:prstGeom>
          <a:noFill/>
          <a:ln/>
        </p:spPr>
        <p:txBody>
          <a:bodyPr wrap="square" lIns="0" tIns="0" rIns="0" bIns="0" rtlCol="0" anchor="ctr"/>
          <a:lstStyle/>
          <a:p>
            <a:pPr algn="ctr" indent="0" marL="0">
              <a:buNone/>
            </a:pPr>
            <a:r>
              <a:rPr lang="en-US" sz="1600" b="1" dirty="0">
                <a:solidFill>
                  <a:srgbClr val="B08B57"/>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1975104" y="2724912"/>
            <a:ext cx="1078992"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Define objectives of a solution</a:t>
            </a:r>
            <a:endParaRPr lang="en-US" sz="1200" dirty="0"/>
          </a:p>
        </p:txBody>
      </p:sp>
      <p:sp>
        <p:nvSpPr>
          <p:cNvPr id="14" name="Shape 12"/>
          <p:cNvSpPr/>
          <p:nvPr/>
        </p:nvSpPr>
        <p:spPr>
          <a:xfrm>
            <a:off x="3136392" y="2889504"/>
            <a:ext cx="128016" cy="219456"/>
          </a:xfrm>
          <a:prstGeom prst="rightArrow">
            <a:avLst/>
          </a:prstGeom>
          <a:solidFill>
            <a:srgbClr val="B08B57"/>
          </a:solidFill>
          <a:ln w="12700">
            <a:solidFill>
              <a:srgbClr val="B08B57"/>
            </a:solidFill>
            <a:prstDash val="solid"/>
          </a:ln>
        </p:spPr>
      </p:sp>
      <p:sp>
        <p:nvSpPr>
          <p:cNvPr id="15" name="Shape 13"/>
          <p:cNvSpPr/>
          <p:nvPr/>
        </p:nvSpPr>
        <p:spPr>
          <a:xfrm>
            <a:off x="1920240" y="3794760"/>
            <a:ext cx="1188720" cy="14173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6" name="Text 14"/>
          <p:cNvSpPr txBox="1"/>
          <p:nvPr/>
        </p:nvSpPr>
        <p:spPr>
          <a:xfrm>
            <a:off x="1993392" y="3858768"/>
            <a:ext cx="1042416" cy="228600"/>
          </a:xfrm>
          <a:prstGeom prst="rect">
            <a:avLst/>
          </a:prstGeom>
          <a:noFill/>
          <a:ln/>
        </p:spPr>
        <p:txBody>
          <a:bodyPr wrap="square" lIns="0" tIns="0" rIns="0" bIns="0" rtlCol="0" anchor="ctr"/>
          <a:lstStyle/>
          <a:p>
            <a:pPr algn="ctr" indent="0" marL="0">
              <a:buNone/>
            </a:pPr>
            <a:r>
              <a:rPr lang="en-US" sz="800" b="1" dirty="0">
                <a:solidFill>
                  <a:srgbClr val="B08B57"/>
                </a:solidFill>
                <a:latin typeface="Calibri" pitchFamily="34" charset="0"/>
                <a:ea typeface="Calibri" pitchFamily="34" charset="-122"/>
                <a:cs typeface="Calibri" pitchFamily="34" charset="-120"/>
              </a:rPr>
              <a:t>IN THIS PROJECT</a:t>
            </a:r>
            <a:endParaRPr lang="en-US" sz="800" dirty="0"/>
          </a:p>
        </p:txBody>
      </p:sp>
      <p:sp>
        <p:nvSpPr>
          <p:cNvPr id="17" name="Text 15"/>
          <p:cNvSpPr txBox="1"/>
          <p:nvPr/>
        </p:nvSpPr>
        <p:spPr>
          <a:xfrm>
            <a:off x="1993392" y="4087368"/>
            <a:ext cx="1042416" cy="1033272"/>
          </a:xfrm>
          <a:prstGeom prst="rect">
            <a:avLst/>
          </a:prstGeom>
          <a:noFill/>
          <a:ln/>
        </p:spPr>
        <p:txBody>
          <a:bodyPr wrap="square" lIns="0" tIns="0" rIns="0" bIns="0" rtlCol="0" anchor="ctr"/>
          <a:lstStyle/>
          <a:p>
            <a:pPr algn="ctr" indent="0" marL="0">
              <a:buNone/>
            </a:pPr>
            <a:r>
              <a:rPr lang="en-US" sz="1100" dirty="0">
                <a:solidFill>
                  <a:srgbClr val="000066"/>
                </a:solidFill>
                <a:latin typeface="Calibri" pitchFamily="34" charset="0"/>
                <a:ea typeface="Calibri" pitchFamily="34" charset="-122"/>
                <a:cs typeface="Calibri" pitchFamily="34" charset="-120"/>
              </a:rPr>
              <a:t>Objectives O1 to O4 and 12 functional requirements</a:t>
            </a:r>
            <a:endParaRPr lang="en-US" sz="1100" dirty="0"/>
          </a:p>
        </p:txBody>
      </p:sp>
      <p:sp>
        <p:nvSpPr>
          <p:cNvPr id="18" name="Shape 16"/>
          <p:cNvSpPr/>
          <p:nvPr/>
        </p:nvSpPr>
        <p:spPr>
          <a:xfrm>
            <a:off x="3291840" y="2331720"/>
            <a:ext cx="1188720" cy="1325880"/>
          </a:xfrm>
          <a:prstGeom prst="rect">
            <a:avLst/>
          </a:prstGeom>
          <a:solidFill>
            <a:srgbClr val="000066"/>
          </a:solidFill>
          <a:ln w="12700">
            <a:solidFill>
              <a:srgbClr val="000066"/>
            </a:solidFill>
            <a:prstDash val="solid"/>
          </a:ln>
        </p:spPr>
      </p:sp>
      <p:sp>
        <p:nvSpPr>
          <p:cNvPr id="19" name="Text 17"/>
          <p:cNvSpPr txBox="1"/>
          <p:nvPr/>
        </p:nvSpPr>
        <p:spPr>
          <a:xfrm>
            <a:off x="3383280" y="2404872"/>
            <a:ext cx="1005840" cy="320040"/>
          </a:xfrm>
          <a:prstGeom prst="rect">
            <a:avLst/>
          </a:prstGeom>
          <a:noFill/>
          <a:ln/>
        </p:spPr>
        <p:txBody>
          <a:bodyPr wrap="square" lIns="0" tIns="0" rIns="0" bIns="0" rtlCol="0" anchor="ctr"/>
          <a:lstStyle/>
          <a:p>
            <a:pPr algn="ctr" indent="0" marL="0">
              <a:buNone/>
            </a:pPr>
            <a:r>
              <a:rPr lang="en-US" sz="1600" b="1" dirty="0">
                <a:solidFill>
                  <a:srgbClr val="B08B57"/>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3346704" y="2724912"/>
            <a:ext cx="1078992"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Design &amp; development</a:t>
            </a:r>
            <a:endParaRPr lang="en-US" sz="1200" dirty="0"/>
          </a:p>
        </p:txBody>
      </p:sp>
      <p:sp>
        <p:nvSpPr>
          <p:cNvPr id="21" name="Shape 19"/>
          <p:cNvSpPr/>
          <p:nvPr/>
        </p:nvSpPr>
        <p:spPr>
          <a:xfrm>
            <a:off x="4507992" y="2889504"/>
            <a:ext cx="128016" cy="219456"/>
          </a:xfrm>
          <a:prstGeom prst="rightArrow">
            <a:avLst/>
          </a:prstGeom>
          <a:solidFill>
            <a:srgbClr val="B08B57"/>
          </a:solidFill>
          <a:ln w="12700">
            <a:solidFill>
              <a:srgbClr val="B08B57"/>
            </a:solidFill>
            <a:prstDash val="solid"/>
          </a:ln>
        </p:spPr>
      </p:sp>
      <p:sp>
        <p:nvSpPr>
          <p:cNvPr id="22" name="Shape 20"/>
          <p:cNvSpPr/>
          <p:nvPr/>
        </p:nvSpPr>
        <p:spPr>
          <a:xfrm>
            <a:off x="3291840" y="3794760"/>
            <a:ext cx="1188720" cy="14173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23" name="Text 21"/>
          <p:cNvSpPr txBox="1"/>
          <p:nvPr/>
        </p:nvSpPr>
        <p:spPr>
          <a:xfrm>
            <a:off x="3364992" y="3858768"/>
            <a:ext cx="1042416" cy="228600"/>
          </a:xfrm>
          <a:prstGeom prst="rect">
            <a:avLst/>
          </a:prstGeom>
          <a:noFill/>
          <a:ln/>
        </p:spPr>
        <p:txBody>
          <a:bodyPr wrap="square" lIns="0" tIns="0" rIns="0" bIns="0" rtlCol="0" anchor="ctr"/>
          <a:lstStyle/>
          <a:p>
            <a:pPr algn="ctr" indent="0" marL="0">
              <a:buNone/>
            </a:pPr>
            <a:r>
              <a:rPr lang="en-US" sz="800" b="1" dirty="0">
                <a:solidFill>
                  <a:srgbClr val="B08B57"/>
                </a:solidFill>
                <a:latin typeface="Calibri" pitchFamily="34" charset="0"/>
                <a:ea typeface="Calibri" pitchFamily="34" charset="-122"/>
                <a:cs typeface="Calibri" pitchFamily="34" charset="-120"/>
              </a:rPr>
              <a:t>IN THIS PROJECT</a:t>
            </a:r>
            <a:endParaRPr lang="en-US" sz="800" dirty="0"/>
          </a:p>
        </p:txBody>
      </p:sp>
      <p:sp>
        <p:nvSpPr>
          <p:cNvPr id="24" name="Text 22"/>
          <p:cNvSpPr txBox="1"/>
          <p:nvPr/>
        </p:nvSpPr>
        <p:spPr>
          <a:xfrm>
            <a:off x="3364992" y="4087368"/>
            <a:ext cx="1042416" cy="1033272"/>
          </a:xfrm>
          <a:prstGeom prst="rect">
            <a:avLst/>
          </a:prstGeom>
          <a:noFill/>
          <a:ln/>
        </p:spPr>
        <p:txBody>
          <a:bodyPr wrap="square" lIns="0" tIns="0" rIns="0" bIns="0" rtlCol="0" anchor="ctr"/>
          <a:lstStyle/>
          <a:p>
            <a:pPr algn="ctr" indent="0" marL="0">
              <a:buNone/>
            </a:pPr>
            <a:r>
              <a:rPr lang="en-US" sz="1100" dirty="0">
                <a:solidFill>
                  <a:srgbClr val="000066"/>
                </a:solidFill>
                <a:latin typeface="Calibri" pitchFamily="34" charset="0"/>
                <a:ea typeface="Calibri" pitchFamily="34" charset="-122"/>
                <a:cs typeface="Calibri" pitchFamily="34" charset="-120"/>
              </a:rPr>
              <a:t>Architecture, data model, 5 service modules, 10 screens</a:t>
            </a:r>
            <a:endParaRPr lang="en-US" sz="1100" dirty="0"/>
          </a:p>
        </p:txBody>
      </p:sp>
      <p:sp>
        <p:nvSpPr>
          <p:cNvPr id="25" name="Shape 23"/>
          <p:cNvSpPr/>
          <p:nvPr/>
        </p:nvSpPr>
        <p:spPr>
          <a:xfrm>
            <a:off x="4663440" y="2331720"/>
            <a:ext cx="1188720" cy="1325880"/>
          </a:xfrm>
          <a:prstGeom prst="rect">
            <a:avLst/>
          </a:prstGeom>
          <a:solidFill>
            <a:srgbClr val="000066"/>
          </a:solidFill>
          <a:ln w="12700">
            <a:solidFill>
              <a:srgbClr val="000066"/>
            </a:solidFill>
            <a:prstDash val="solid"/>
          </a:ln>
        </p:spPr>
      </p:sp>
      <p:sp>
        <p:nvSpPr>
          <p:cNvPr id="26" name="Text 24"/>
          <p:cNvSpPr txBox="1"/>
          <p:nvPr/>
        </p:nvSpPr>
        <p:spPr>
          <a:xfrm>
            <a:off x="4754880" y="2404872"/>
            <a:ext cx="1005840" cy="320040"/>
          </a:xfrm>
          <a:prstGeom prst="rect">
            <a:avLst/>
          </a:prstGeom>
          <a:noFill/>
          <a:ln/>
        </p:spPr>
        <p:txBody>
          <a:bodyPr wrap="square" lIns="0" tIns="0" rIns="0" bIns="0" rtlCol="0" anchor="ctr"/>
          <a:lstStyle/>
          <a:p>
            <a:pPr algn="ctr" indent="0" marL="0">
              <a:buNone/>
            </a:pPr>
            <a:r>
              <a:rPr lang="en-US" sz="1600" b="1" dirty="0">
                <a:solidFill>
                  <a:srgbClr val="B08B57"/>
                </a:solidFill>
                <a:latin typeface="Calibri" pitchFamily="34" charset="0"/>
                <a:ea typeface="Calibri" pitchFamily="34" charset="-122"/>
                <a:cs typeface="Calibri" pitchFamily="34" charset="-120"/>
              </a:rPr>
              <a:t>4</a:t>
            </a:r>
            <a:endParaRPr lang="en-US" sz="1600" dirty="0"/>
          </a:p>
        </p:txBody>
      </p:sp>
      <p:sp>
        <p:nvSpPr>
          <p:cNvPr id="27" name="Text 25"/>
          <p:cNvSpPr txBox="1"/>
          <p:nvPr/>
        </p:nvSpPr>
        <p:spPr>
          <a:xfrm>
            <a:off x="4718304" y="2724912"/>
            <a:ext cx="1078992"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Demonstration</a:t>
            </a:r>
            <a:endParaRPr lang="en-US" sz="1200" dirty="0"/>
          </a:p>
        </p:txBody>
      </p:sp>
      <p:sp>
        <p:nvSpPr>
          <p:cNvPr id="28" name="Shape 26"/>
          <p:cNvSpPr/>
          <p:nvPr/>
        </p:nvSpPr>
        <p:spPr>
          <a:xfrm>
            <a:off x="5879592" y="2889504"/>
            <a:ext cx="128016" cy="219456"/>
          </a:xfrm>
          <a:prstGeom prst="rightArrow">
            <a:avLst/>
          </a:prstGeom>
          <a:solidFill>
            <a:srgbClr val="B08B57"/>
          </a:solidFill>
          <a:ln w="12700">
            <a:solidFill>
              <a:srgbClr val="B08B57"/>
            </a:solidFill>
            <a:prstDash val="solid"/>
          </a:ln>
        </p:spPr>
      </p:sp>
      <p:sp>
        <p:nvSpPr>
          <p:cNvPr id="29" name="Shape 27"/>
          <p:cNvSpPr/>
          <p:nvPr/>
        </p:nvSpPr>
        <p:spPr>
          <a:xfrm>
            <a:off x="4663440" y="3794760"/>
            <a:ext cx="1188720" cy="14173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30" name="Text 28"/>
          <p:cNvSpPr txBox="1"/>
          <p:nvPr/>
        </p:nvSpPr>
        <p:spPr>
          <a:xfrm>
            <a:off x="4736592" y="3858768"/>
            <a:ext cx="1042416" cy="228600"/>
          </a:xfrm>
          <a:prstGeom prst="rect">
            <a:avLst/>
          </a:prstGeom>
          <a:noFill/>
          <a:ln/>
        </p:spPr>
        <p:txBody>
          <a:bodyPr wrap="square" lIns="0" tIns="0" rIns="0" bIns="0" rtlCol="0" anchor="ctr"/>
          <a:lstStyle/>
          <a:p>
            <a:pPr algn="ctr" indent="0" marL="0">
              <a:buNone/>
            </a:pPr>
            <a:r>
              <a:rPr lang="en-US" sz="800" b="1" dirty="0">
                <a:solidFill>
                  <a:srgbClr val="B08B57"/>
                </a:solidFill>
                <a:latin typeface="Calibri" pitchFamily="34" charset="0"/>
                <a:ea typeface="Calibri" pitchFamily="34" charset="-122"/>
                <a:cs typeface="Calibri" pitchFamily="34" charset="-120"/>
              </a:rPr>
              <a:t>IN THIS PROJECT</a:t>
            </a:r>
            <a:endParaRPr lang="en-US" sz="800" dirty="0"/>
          </a:p>
        </p:txBody>
      </p:sp>
      <p:sp>
        <p:nvSpPr>
          <p:cNvPr id="31" name="Text 29"/>
          <p:cNvSpPr txBox="1"/>
          <p:nvPr/>
        </p:nvSpPr>
        <p:spPr>
          <a:xfrm>
            <a:off x="4736592" y="4087368"/>
            <a:ext cx="1042416" cy="1033272"/>
          </a:xfrm>
          <a:prstGeom prst="rect">
            <a:avLst/>
          </a:prstGeom>
          <a:noFill/>
          <a:ln/>
        </p:spPr>
        <p:txBody>
          <a:bodyPr wrap="square" lIns="0" tIns="0" rIns="0" bIns="0" rtlCol="0" anchor="ctr"/>
          <a:lstStyle/>
          <a:p>
            <a:pPr algn="ctr" indent="0" marL="0">
              <a:buNone/>
            </a:pPr>
            <a:r>
              <a:rPr lang="en-US" sz="1100" dirty="0">
                <a:solidFill>
                  <a:srgbClr val="000066"/>
                </a:solidFill>
                <a:latin typeface="Calibri" pitchFamily="34" charset="0"/>
                <a:ea typeface="Calibri" pitchFamily="34" charset="-122"/>
                <a:cs typeface="Calibri" pitchFamily="34" charset="-120"/>
              </a:rPr>
              <a:t>Walkthrough: sign up, report, search, chat</a:t>
            </a:r>
            <a:endParaRPr lang="en-US" sz="1100" dirty="0"/>
          </a:p>
        </p:txBody>
      </p:sp>
      <p:sp>
        <p:nvSpPr>
          <p:cNvPr id="32" name="Shape 30"/>
          <p:cNvSpPr/>
          <p:nvPr/>
        </p:nvSpPr>
        <p:spPr>
          <a:xfrm>
            <a:off x="6035040" y="2331720"/>
            <a:ext cx="1188720" cy="1325880"/>
          </a:xfrm>
          <a:prstGeom prst="rect">
            <a:avLst/>
          </a:prstGeom>
          <a:solidFill>
            <a:srgbClr val="000066"/>
          </a:solidFill>
          <a:ln w="12700">
            <a:solidFill>
              <a:srgbClr val="000066"/>
            </a:solidFill>
            <a:prstDash val="solid"/>
          </a:ln>
        </p:spPr>
      </p:sp>
      <p:sp>
        <p:nvSpPr>
          <p:cNvPr id="33" name="Text 31"/>
          <p:cNvSpPr txBox="1"/>
          <p:nvPr/>
        </p:nvSpPr>
        <p:spPr>
          <a:xfrm>
            <a:off x="6126480" y="2404872"/>
            <a:ext cx="1005840" cy="320040"/>
          </a:xfrm>
          <a:prstGeom prst="rect">
            <a:avLst/>
          </a:prstGeom>
          <a:noFill/>
          <a:ln/>
        </p:spPr>
        <p:txBody>
          <a:bodyPr wrap="square" lIns="0" tIns="0" rIns="0" bIns="0" rtlCol="0" anchor="ctr"/>
          <a:lstStyle/>
          <a:p>
            <a:pPr algn="ctr" indent="0" marL="0">
              <a:buNone/>
            </a:pPr>
            <a:r>
              <a:rPr lang="en-US" sz="1600" b="1" dirty="0">
                <a:solidFill>
                  <a:srgbClr val="B08B57"/>
                </a:solidFill>
                <a:latin typeface="Calibri" pitchFamily="34" charset="0"/>
                <a:ea typeface="Calibri" pitchFamily="34" charset="-122"/>
                <a:cs typeface="Calibri" pitchFamily="34" charset="-120"/>
              </a:rPr>
              <a:t>5</a:t>
            </a:r>
            <a:endParaRPr lang="en-US" sz="1600" dirty="0"/>
          </a:p>
        </p:txBody>
      </p:sp>
      <p:sp>
        <p:nvSpPr>
          <p:cNvPr id="34" name="Text 32"/>
          <p:cNvSpPr txBox="1"/>
          <p:nvPr/>
        </p:nvSpPr>
        <p:spPr>
          <a:xfrm>
            <a:off x="6089904" y="2724912"/>
            <a:ext cx="1078992"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Evaluation</a:t>
            </a:r>
            <a:endParaRPr lang="en-US" sz="1200" dirty="0"/>
          </a:p>
        </p:txBody>
      </p:sp>
      <p:sp>
        <p:nvSpPr>
          <p:cNvPr id="35" name="Shape 33"/>
          <p:cNvSpPr/>
          <p:nvPr/>
        </p:nvSpPr>
        <p:spPr>
          <a:xfrm>
            <a:off x="7251192" y="2889504"/>
            <a:ext cx="128016" cy="219456"/>
          </a:xfrm>
          <a:prstGeom prst="rightArrow">
            <a:avLst/>
          </a:prstGeom>
          <a:solidFill>
            <a:srgbClr val="B08B57"/>
          </a:solidFill>
          <a:ln w="12700">
            <a:solidFill>
              <a:srgbClr val="B08B57"/>
            </a:solidFill>
            <a:prstDash val="solid"/>
          </a:ln>
        </p:spPr>
      </p:sp>
      <p:sp>
        <p:nvSpPr>
          <p:cNvPr id="36" name="Shape 34"/>
          <p:cNvSpPr/>
          <p:nvPr/>
        </p:nvSpPr>
        <p:spPr>
          <a:xfrm>
            <a:off x="6035040" y="3794760"/>
            <a:ext cx="1188720" cy="14173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37" name="Text 35"/>
          <p:cNvSpPr txBox="1"/>
          <p:nvPr/>
        </p:nvSpPr>
        <p:spPr>
          <a:xfrm>
            <a:off x="6108192" y="3858768"/>
            <a:ext cx="1042416" cy="228600"/>
          </a:xfrm>
          <a:prstGeom prst="rect">
            <a:avLst/>
          </a:prstGeom>
          <a:noFill/>
          <a:ln/>
        </p:spPr>
        <p:txBody>
          <a:bodyPr wrap="square" lIns="0" tIns="0" rIns="0" bIns="0" rtlCol="0" anchor="ctr"/>
          <a:lstStyle/>
          <a:p>
            <a:pPr algn="ctr" indent="0" marL="0">
              <a:buNone/>
            </a:pPr>
            <a:r>
              <a:rPr lang="en-US" sz="800" b="1" dirty="0">
                <a:solidFill>
                  <a:srgbClr val="B08B57"/>
                </a:solidFill>
                <a:latin typeface="Calibri" pitchFamily="34" charset="0"/>
                <a:ea typeface="Calibri" pitchFamily="34" charset="-122"/>
                <a:cs typeface="Calibri" pitchFamily="34" charset="-120"/>
              </a:rPr>
              <a:t>IN THIS PROJECT</a:t>
            </a:r>
            <a:endParaRPr lang="en-US" sz="800" dirty="0"/>
          </a:p>
        </p:txBody>
      </p:sp>
      <p:sp>
        <p:nvSpPr>
          <p:cNvPr id="38" name="Text 36"/>
          <p:cNvSpPr txBox="1"/>
          <p:nvPr/>
        </p:nvSpPr>
        <p:spPr>
          <a:xfrm>
            <a:off x="6108192" y="4087368"/>
            <a:ext cx="1042416" cy="1033272"/>
          </a:xfrm>
          <a:prstGeom prst="rect">
            <a:avLst/>
          </a:prstGeom>
          <a:noFill/>
          <a:ln/>
        </p:spPr>
        <p:txBody>
          <a:bodyPr wrap="square" lIns="0" tIns="0" rIns="0" bIns="0" rtlCol="0" anchor="ctr"/>
          <a:lstStyle/>
          <a:p>
            <a:pPr algn="ctr" indent="0" marL="0">
              <a:buNone/>
            </a:pPr>
            <a:r>
              <a:rPr lang="en-US" sz="1100" dirty="0">
                <a:solidFill>
                  <a:srgbClr val="000066"/>
                </a:solidFill>
                <a:latin typeface="Calibri" pitchFamily="34" charset="0"/>
                <a:ea typeface="Calibri" pitchFamily="34" charset="-122"/>
                <a:cs typeface="Calibri" pitchFamily="34" charset="-120"/>
              </a:rPr>
              <a:t>Manual testing on a phone; SUS study planned</a:t>
            </a:r>
            <a:endParaRPr lang="en-US" sz="1100" dirty="0"/>
          </a:p>
        </p:txBody>
      </p:sp>
      <p:sp>
        <p:nvSpPr>
          <p:cNvPr id="39" name="Shape 37"/>
          <p:cNvSpPr/>
          <p:nvPr/>
        </p:nvSpPr>
        <p:spPr>
          <a:xfrm>
            <a:off x="7406640" y="2331720"/>
            <a:ext cx="1188720" cy="1325880"/>
          </a:xfrm>
          <a:prstGeom prst="rect">
            <a:avLst/>
          </a:prstGeom>
          <a:solidFill>
            <a:srgbClr val="000066"/>
          </a:solidFill>
          <a:ln w="12700">
            <a:solidFill>
              <a:srgbClr val="000066"/>
            </a:solidFill>
            <a:prstDash val="solid"/>
          </a:ln>
        </p:spPr>
      </p:sp>
      <p:sp>
        <p:nvSpPr>
          <p:cNvPr id="40" name="Text 38"/>
          <p:cNvSpPr txBox="1"/>
          <p:nvPr/>
        </p:nvSpPr>
        <p:spPr>
          <a:xfrm>
            <a:off x="7498080" y="2404872"/>
            <a:ext cx="1005840" cy="320040"/>
          </a:xfrm>
          <a:prstGeom prst="rect">
            <a:avLst/>
          </a:prstGeom>
          <a:noFill/>
          <a:ln/>
        </p:spPr>
        <p:txBody>
          <a:bodyPr wrap="square" lIns="0" tIns="0" rIns="0" bIns="0" rtlCol="0" anchor="ctr"/>
          <a:lstStyle/>
          <a:p>
            <a:pPr algn="ctr" indent="0" marL="0">
              <a:buNone/>
            </a:pPr>
            <a:r>
              <a:rPr lang="en-US" sz="1600" b="1" dirty="0">
                <a:solidFill>
                  <a:srgbClr val="B08B57"/>
                </a:solidFill>
                <a:latin typeface="Calibri" pitchFamily="34" charset="0"/>
                <a:ea typeface="Calibri" pitchFamily="34" charset="-122"/>
                <a:cs typeface="Calibri" pitchFamily="34" charset="-120"/>
              </a:rPr>
              <a:t>6</a:t>
            </a:r>
            <a:endParaRPr lang="en-US" sz="1600" dirty="0"/>
          </a:p>
        </p:txBody>
      </p:sp>
      <p:sp>
        <p:nvSpPr>
          <p:cNvPr id="41" name="Text 39"/>
          <p:cNvSpPr txBox="1"/>
          <p:nvPr/>
        </p:nvSpPr>
        <p:spPr>
          <a:xfrm>
            <a:off x="7461504" y="2724912"/>
            <a:ext cx="1078992" cy="8412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Communication</a:t>
            </a:r>
            <a:endParaRPr lang="en-US" sz="1200" dirty="0"/>
          </a:p>
        </p:txBody>
      </p:sp>
      <p:sp>
        <p:nvSpPr>
          <p:cNvPr id="42" name="Shape 40"/>
          <p:cNvSpPr/>
          <p:nvPr/>
        </p:nvSpPr>
        <p:spPr>
          <a:xfrm>
            <a:off x="7406640" y="3794760"/>
            <a:ext cx="1188720" cy="141732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3" name="Text 41"/>
          <p:cNvSpPr txBox="1"/>
          <p:nvPr/>
        </p:nvSpPr>
        <p:spPr>
          <a:xfrm>
            <a:off x="7479792" y="3858768"/>
            <a:ext cx="1042416" cy="228600"/>
          </a:xfrm>
          <a:prstGeom prst="rect">
            <a:avLst/>
          </a:prstGeom>
          <a:noFill/>
          <a:ln/>
        </p:spPr>
        <p:txBody>
          <a:bodyPr wrap="square" lIns="0" tIns="0" rIns="0" bIns="0" rtlCol="0" anchor="ctr"/>
          <a:lstStyle/>
          <a:p>
            <a:pPr algn="ctr" indent="0" marL="0">
              <a:buNone/>
            </a:pPr>
            <a:r>
              <a:rPr lang="en-US" sz="800" b="1" dirty="0">
                <a:solidFill>
                  <a:srgbClr val="B08B57"/>
                </a:solidFill>
                <a:latin typeface="Calibri" pitchFamily="34" charset="0"/>
                <a:ea typeface="Calibri" pitchFamily="34" charset="-122"/>
                <a:cs typeface="Calibri" pitchFamily="34" charset="-120"/>
              </a:rPr>
              <a:t>IN THIS PROJECT</a:t>
            </a:r>
            <a:endParaRPr lang="en-US" sz="800" dirty="0"/>
          </a:p>
        </p:txBody>
      </p:sp>
      <p:sp>
        <p:nvSpPr>
          <p:cNvPr id="44" name="Text 42"/>
          <p:cNvSpPr txBox="1"/>
          <p:nvPr/>
        </p:nvSpPr>
        <p:spPr>
          <a:xfrm>
            <a:off x="7479792" y="4087368"/>
            <a:ext cx="1042416" cy="1033272"/>
          </a:xfrm>
          <a:prstGeom prst="rect">
            <a:avLst/>
          </a:prstGeom>
          <a:noFill/>
          <a:ln/>
        </p:spPr>
        <p:txBody>
          <a:bodyPr wrap="square" lIns="0" tIns="0" rIns="0" bIns="0" rtlCol="0" anchor="ctr"/>
          <a:lstStyle/>
          <a:p>
            <a:pPr algn="ctr" indent="0" marL="0">
              <a:buNone/>
            </a:pPr>
            <a:r>
              <a:rPr lang="en-US" sz="1100" dirty="0">
                <a:solidFill>
                  <a:srgbClr val="000066"/>
                </a:solidFill>
                <a:latin typeface="Calibri" pitchFamily="34" charset="0"/>
                <a:ea typeface="Calibri" pitchFamily="34" charset="-122"/>
                <a:cs typeface="Calibri" pitchFamily="34" charset="-120"/>
              </a:rPr>
              <a:t>Project report and this defence</a:t>
            </a:r>
            <a:endParaRPr lang="en-US" sz="1100" dirty="0"/>
          </a:p>
        </p:txBody>
      </p:sp>
      <p:sp>
        <p:nvSpPr>
          <p:cNvPr id="45" name="Shape 43"/>
          <p:cNvSpPr/>
          <p:nvPr/>
        </p:nvSpPr>
        <p:spPr>
          <a:xfrm>
            <a:off x="548640" y="5394960"/>
            <a:ext cx="8046720" cy="640080"/>
          </a:xfrm>
          <a:prstGeom prst="rect">
            <a:avLst/>
          </a:prstGeom>
          <a:solidFill>
            <a:srgbClr val="F3ECD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6" name="Text 44"/>
          <p:cNvSpPr txBox="1"/>
          <p:nvPr/>
        </p:nvSpPr>
        <p:spPr>
          <a:xfrm>
            <a:off x="777240" y="5394960"/>
            <a:ext cx="7589520" cy="640080"/>
          </a:xfrm>
          <a:prstGeom prst="rect">
            <a:avLst/>
          </a:prstGeom>
          <a:noFill/>
          <a:ln/>
        </p:spPr>
        <p:txBody>
          <a:bodyPr wrap="square" lIns="0" tIns="0" rIns="0" bIns="0" rtlCol="0" anchor="ctr"/>
          <a:lstStyle/>
          <a:p>
            <a:pPr indent="0" marL="0">
              <a:buNone/>
            </a:pPr>
            <a:r>
              <a:rPr lang="en-US" sz="1400" b="1" dirty="0">
                <a:solidFill>
                  <a:srgbClr val="000066"/>
                </a:solidFill>
                <a:latin typeface="Calibri" pitchFamily="34" charset="0"/>
                <a:ea typeface="Calibri" pitchFamily="34" charset="-122"/>
                <a:cs typeface="Calibri" pitchFamily="34" charset="-120"/>
              </a:rPr>
              <a:t xml:space="preserve">Iteration: </a:t>
            </a:r>
            <a:pPr indent="0" marL="0">
              <a:buNone/>
            </a:pPr>
            <a:r>
              <a:rPr lang="en-US" sz="1400" dirty="0" b="0">
                <a:solidFill>
                  <a:srgbClr val="000066"/>
                </a:solidFill>
                <a:latin typeface="Calibri" pitchFamily="34" charset="0"/>
                <a:ea typeface="Calibri" pitchFamily="34" charset="-122"/>
                <a:cs typeface="Calibri" pitchFamily="34" charset="-120"/>
              </a:rPr>
              <a:t>built in cycles: core screens and navigation, then the Firebase services, then a redesign of the interface and a move of photo storage to Cloudinary. [INSERT: supervisor feedback cycle]</a:t>
            </a:r>
            <a:endParaRPr lang="en-US" sz="14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Requirements</a:t>
            </a:r>
            <a:endParaRPr lang="en-US" sz="3200" dirty="0"/>
          </a:p>
        </p:txBody>
      </p:sp>
      <p:sp>
        <p:nvSpPr>
          <p:cNvPr id="3" name="Shape 1"/>
          <p:cNvSpPr/>
          <p:nvPr/>
        </p:nvSpPr>
        <p:spPr>
          <a:xfrm>
            <a:off x="548640" y="1874520"/>
            <a:ext cx="2514600" cy="64008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676656" y="1956816"/>
            <a:ext cx="475488" cy="475488"/>
          </a:xfrm>
          <a:prstGeom prst="ellipse">
            <a:avLst/>
          </a:prstGeom>
          <a:solidFill>
            <a:srgbClr val="000066"/>
          </a:solidFill>
          <a:ln w="12700">
            <a:solidFill>
              <a:srgbClr val="000066"/>
            </a:solidFill>
            <a:prstDash val="solid"/>
          </a:ln>
        </p:spPr>
      </p:sp>
      <p:pic>
        <p:nvPicPr>
          <p:cNvPr id="5" name="Image 0" descr="preencoded.png">    </p:cNvPr>
          <p:cNvPicPr>
            <a:picLocks noChangeAspect="1"/>
          </p:cNvPicPr>
          <p:nvPr/>
        </p:nvPicPr>
        <p:blipFill>
          <a:blip r:embed="rId1"/>
          <a:stretch>
            <a:fillRect/>
          </a:stretch>
        </p:blipFill>
        <p:spPr>
          <a:xfrm>
            <a:off x="795528" y="2075688"/>
            <a:ext cx="237744" cy="237744"/>
          </a:xfrm>
          <a:prstGeom prst="rect">
            <a:avLst/>
          </a:prstGeom>
        </p:spPr>
      </p:pic>
      <p:sp>
        <p:nvSpPr>
          <p:cNvPr id="6" name="Text 3"/>
          <p:cNvSpPr txBox="1"/>
          <p:nvPr/>
        </p:nvSpPr>
        <p:spPr>
          <a:xfrm>
            <a:off x="1261872" y="1874520"/>
            <a:ext cx="1737360" cy="640080"/>
          </a:xfrm>
          <a:prstGeom prst="rect">
            <a:avLst/>
          </a:prstGeom>
          <a:noFill/>
          <a:ln/>
        </p:spPr>
        <p:txBody>
          <a:bodyPr wrap="square" lIns="0" tIns="0" rIns="0" bIns="0" rtlCol="0" anchor="ctr"/>
          <a:lstStyle/>
          <a:p>
            <a:pPr indent="0" marL="0">
              <a:buNone/>
            </a:pPr>
            <a:r>
              <a:rPr lang="en-US" sz="1400" b="1" dirty="0">
                <a:solidFill>
                  <a:srgbClr val="000066"/>
                </a:solidFill>
                <a:latin typeface="Calibri" pitchFamily="34" charset="0"/>
                <a:ea typeface="Calibri" pitchFamily="34" charset="-122"/>
                <a:cs typeface="Calibri" pitchFamily="34" charset="-120"/>
              </a:rPr>
              <a:t>Literature review</a:t>
            </a:r>
            <a:endParaRPr lang="en-US" sz="1400" dirty="0"/>
          </a:p>
        </p:txBody>
      </p:sp>
      <p:sp>
        <p:nvSpPr>
          <p:cNvPr id="7" name="Shape 4"/>
          <p:cNvSpPr/>
          <p:nvPr/>
        </p:nvSpPr>
        <p:spPr>
          <a:xfrm>
            <a:off x="3314700" y="1874520"/>
            <a:ext cx="2514600" cy="64008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8" name="Shape 5"/>
          <p:cNvSpPr/>
          <p:nvPr/>
        </p:nvSpPr>
        <p:spPr>
          <a:xfrm>
            <a:off x="3442716" y="1956816"/>
            <a:ext cx="475488" cy="475488"/>
          </a:xfrm>
          <a:prstGeom prst="ellipse">
            <a:avLst/>
          </a:prstGeom>
          <a:solidFill>
            <a:srgbClr val="000066"/>
          </a:solidFill>
          <a:ln w="12700">
            <a:solidFill>
              <a:srgbClr val="000066"/>
            </a:solidFill>
            <a:prstDash val="solid"/>
          </a:ln>
        </p:spPr>
      </p:sp>
      <p:pic>
        <p:nvPicPr>
          <p:cNvPr id="9" name="Image 1" descr="preencoded.png">    </p:cNvPr>
          <p:cNvPicPr>
            <a:picLocks noChangeAspect="1"/>
          </p:cNvPicPr>
          <p:nvPr/>
        </p:nvPicPr>
        <p:blipFill>
          <a:blip r:embed="rId2"/>
          <a:stretch>
            <a:fillRect/>
          </a:stretch>
        </p:blipFill>
        <p:spPr>
          <a:xfrm>
            <a:off x="3561588" y="2075688"/>
            <a:ext cx="237744" cy="237744"/>
          </a:xfrm>
          <a:prstGeom prst="rect">
            <a:avLst/>
          </a:prstGeom>
        </p:spPr>
      </p:pic>
      <p:sp>
        <p:nvSpPr>
          <p:cNvPr id="10" name="Text 6"/>
          <p:cNvSpPr txBox="1"/>
          <p:nvPr/>
        </p:nvSpPr>
        <p:spPr>
          <a:xfrm>
            <a:off x="4027932" y="1874520"/>
            <a:ext cx="1737360" cy="640080"/>
          </a:xfrm>
          <a:prstGeom prst="rect">
            <a:avLst/>
          </a:prstGeom>
          <a:noFill/>
          <a:ln/>
        </p:spPr>
        <p:txBody>
          <a:bodyPr wrap="square" lIns="0" tIns="0" rIns="0" bIns="0" rtlCol="0" anchor="ctr"/>
          <a:lstStyle/>
          <a:p>
            <a:pPr indent="0" marL="0">
              <a:buNone/>
            </a:pPr>
            <a:r>
              <a:rPr lang="en-US" sz="1400" b="1" dirty="0">
                <a:solidFill>
                  <a:srgbClr val="000066"/>
                </a:solidFill>
                <a:latin typeface="Calibri" pitchFamily="34" charset="0"/>
                <a:ea typeface="Calibri" pitchFamily="34" charset="-122"/>
                <a:cs typeface="Calibri" pitchFamily="34" charset="-120"/>
              </a:rPr>
              <a:t>Review of 3 systems</a:t>
            </a:r>
            <a:endParaRPr lang="en-US" sz="1400" dirty="0"/>
          </a:p>
        </p:txBody>
      </p:sp>
      <p:sp>
        <p:nvSpPr>
          <p:cNvPr id="11" name="Shape 7"/>
          <p:cNvSpPr/>
          <p:nvPr/>
        </p:nvSpPr>
        <p:spPr>
          <a:xfrm>
            <a:off x="6080760" y="1874520"/>
            <a:ext cx="2514600" cy="64008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2" name="Shape 8"/>
          <p:cNvSpPr/>
          <p:nvPr/>
        </p:nvSpPr>
        <p:spPr>
          <a:xfrm>
            <a:off x="6208776" y="1956816"/>
            <a:ext cx="475488" cy="475488"/>
          </a:xfrm>
          <a:prstGeom prst="ellipse">
            <a:avLst/>
          </a:prstGeom>
          <a:solidFill>
            <a:srgbClr val="000066"/>
          </a:solidFill>
          <a:ln w="12700">
            <a:solidFill>
              <a:srgbClr val="000066"/>
            </a:solidFill>
            <a:prstDash val="solid"/>
          </a:ln>
        </p:spPr>
      </p:sp>
      <p:pic>
        <p:nvPicPr>
          <p:cNvPr id="13" name="Image 2" descr="preencoded.png">    </p:cNvPr>
          <p:cNvPicPr>
            <a:picLocks noChangeAspect="1"/>
          </p:cNvPicPr>
          <p:nvPr/>
        </p:nvPicPr>
        <p:blipFill>
          <a:blip r:embed="rId3"/>
          <a:stretch>
            <a:fillRect/>
          </a:stretch>
        </p:blipFill>
        <p:spPr>
          <a:xfrm>
            <a:off x="6327648" y="2075688"/>
            <a:ext cx="237744" cy="237744"/>
          </a:xfrm>
          <a:prstGeom prst="rect">
            <a:avLst/>
          </a:prstGeom>
        </p:spPr>
      </p:pic>
      <p:sp>
        <p:nvSpPr>
          <p:cNvPr id="14" name="Text 9"/>
          <p:cNvSpPr txBox="1"/>
          <p:nvPr/>
        </p:nvSpPr>
        <p:spPr>
          <a:xfrm>
            <a:off x="6793992" y="1874520"/>
            <a:ext cx="1737360" cy="640080"/>
          </a:xfrm>
          <a:prstGeom prst="rect">
            <a:avLst/>
          </a:prstGeom>
          <a:noFill/>
          <a:ln/>
        </p:spPr>
        <p:txBody>
          <a:bodyPr wrap="square" lIns="0" tIns="0" rIns="0" bIns="0" rtlCol="0" anchor="ctr"/>
          <a:lstStyle/>
          <a:p>
            <a:pPr indent="0" marL="0">
              <a:buNone/>
            </a:pPr>
            <a:r>
              <a:rPr lang="en-US" sz="1400" b="1" dirty="0">
                <a:solidFill>
                  <a:srgbClr val="000066"/>
                </a:solidFill>
                <a:latin typeface="Calibri" pitchFamily="34" charset="0"/>
                <a:ea typeface="Calibri" pitchFamily="34" charset="-122"/>
                <a:cs typeface="Calibri" pitchFamily="34" charset="-120"/>
              </a:rPr>
              <a:t>12 functional requirements</a:t>
            </a:r>
            <a:endParaRPr lang="en-US" sz="1400" dirty="0"/>
          </a:p>
        </p:txBody>
      </p:sp>
      <p:sp>
        <p:nvSpPr>
          <p:cNvPr id="15" name="Shape 10"/>
          <p:cNvSpPr/>
          <p:nvPr/>
        </p:nvSpPr>
        <p:spPr>
          <a:xfrm>
            <a:off x="548640" y="2743200"/>
            <a:ext cx="3886200" cy="32918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6" name="Text 11"/>
          <p:cNvSpPr txBox="1"/>
          <p:nvPr/>
        </p:nvSpPr>
        <p:spPr>
          <a:xfrm>
            <a:off x="822960" y="2880360"/>
            <a:ext cx="3383280" cy="41148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Functional Requirements</a:t>
            </a:r>
            <a:endParaRPr lang="en-US" sz="1700" dirty="0"/>
          </a:p>
        </p:txBody>
      </p:sp>
      <p:sp>
        <p:nvSpPr>
          <p:cNvPr id="17" name="Text 12"/>
          <p:cNvSpPr txBox="1"/>
          <p:nvPr/>
        </p:nvSpPr>
        <p:spPr>
          <a:xfrm>
            <a:off x="822960" y="3337560"/>
            <a:ext cx="3429000" cy="2560320"/>
          </a:xfrm>
          <a:prstGeom prst="rect">
            <a:avLst/>
          </a:prstGeom>
          <a:noFill/>
          <a:ln/>
        </p:spPr>
        <p:txBody>
          <a:bodyPr wrap="square" lIns="0" tIns="0" rIns="0" bIns="0" rtlCol="0" anchor="t"/>
          <a:lstStyle/>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FR-01/02  </a:t>
            </a:r>
            <a:r>
              <a:rPr lang="en-US" sz="1050" dirty="0" b="0">
                <a:solidFill>
                  <a:srgbClr val="4A4A7A"/>
                </a:solidFill>
                <a:latin typeface="Calibri" pitchFamily="34" charset="0"/>
                <a:ea typeface="Calibri" pitchFamily="34" charset="-122"/>
                <a:cs typeface="Calibri" pitchFamily="34" charset="-120"/>
              </a:rPr>
              <a:t>Register, log in and verify email by link</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FR-03  </a:t>
            </a:r>
            <a:r>
              <a:rPr lang="en-US" sz="1050" dirty="0" b="0">
                <a:solidFill>
                  <a:srgbClr val="4A4A7A"/>
                </a:solidFill>
                <a:latin typeface="Calibri" pitchFamily="34" charset="0"/>
                <a:ea typeface="Calibri" pitchFamily="34" charset="-122"/>
                <a:cs typeface="Calibri" pitchFamily="34" charset="-120"/>
              </a:rPr>
              <a:t>Stay signed in across restarts; log out</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FR-04/05  </a:t>
            </a:r>
            <a:r>
              <a:rPr lang="en-US" sz="1050" dirty="0" b="0">
                <a:solidFill>
                  <a:srgbClr val="4A4A7A"/>
                </a:solidFill>
                <a:latin typeface="Calibri" pitchFamily="34" charset="0"/>
                <a:ea typeface="Calibri" pitchFamily="34" charset="-122"/>
                <a:cs typeface="Calibri" pitchFamily="34" charset="-120"/>
              </a:rPr>
              <a:t>Report a lost or found item, with an optional photo</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FR-06  </a:t>
            </a:r>
            <a:r>
              <a:rPr lang="en-US" sz="1050" dirty="0" b="0">
                <a:solidFill>
                  <a:srgbClr val="4A4A7A"/>
                </a:solidFill>
                <a:latin typeface="Calibri" pitchFamily="34" charset="0"/>
                <a:ea typeface="Calibri" pitchFamily="34" charset="-122"/>
                <a:cs typeface="Calibri" pitchFamily="34" charset="-120"/>
              </a:rPr>
              <a:t>Browse all reports live, with Lost and Found counts</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FR-07  </a:t>
            </a:r>
            <a:r>
              <a:rPr lang="en-US" sz="1050" dirty="0" b="0">
                <a:solidFill>
                  <a:srgbClr val="4A4A7A"/>
                </a:solidFill>
                <a:latin typeface="Calibri" pitchFamily="34" charset="0"/>
                <a:ea typeface="Calibri" pitchFamily="34" charset="-122"/>
                <a:cs typeface="Calibri" pitchFamily="34" charset="-120"/>
              </a:rPr>
              <a:t>Search by keyword; filter All, Lost or Found</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FR-08  </a:t>
            </a:r>
            <a:r>
              <a:rPr lang="en-US" sz="1050" dirty="0" b="0">
                <a:solidFill>
                  <a:srgbClr val="4A4A7A"/>
                </a:solidFill>
                <a:latin typeface="Calibri" pitchFamily="34" charset="0"/>
                <a:ea typeface="Calibri" pitchFamily="34" charset="-122"/>
                <a:cs typeface="Calibri" pitchFamily="34" charset="-120"/>
              </a:rPr>
              <a:t>Open an item to see its details</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FR-09  </a:t>
            </a:r>
            <a:r>
              <a:rPr lang="en-US" sz="1050" dirty="0" b="0">
                <a:solidFill>
                  <a:srgbClr val="4A4A7A"/>
                </a:solidFill>
                <a:latin typeface="Calibri" pitchFamily="34" charset="0"/>
                <a:ea typeface="Calibri" pitchFamily="34" charset="-122"/>
                <a:cs typeface="Calibri" pitchFamily="34" charset="-120"/>
              </a:rPr>
              <a:t>Chat privately with the reporter; text is encrypted</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FR-10  </a:t>
            </a:r>
            <a:r>
              <a:rPr lang="en-US" sz="1050" dirty="0" b="0">
                <a:solidFill>
                  <a:srgbClr val="4A4A7A"/>
                </a:solidFill>
                <a:latin typeface="Calibri" pitchFamily="34" charset="0"/>
                <a:ea typeface="Calibri" pitchFamily="34" charset="-122"/>
                <a:cs typeface="Calibri" pitchFamily="34" charset="-120"/>
              </a:rPr>
              <a:t>See every conversation in a Chats inbox</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FR-11/12  </a:t>
            </a:r>
            <a:r>
              <a:rPr lang="en-US" sz="1050" dirty="0" b="0">
                <a:solidFill>
                  <a:srgbClr val="4A4A7A"/>
                </a:solidFill>
                <a:latin typeface="Calibri" pitchFamily="34" charset="0"/>
                <a:ea typeface="Calibri" pitchFamily="34" charset="-122"/>
                <a:cs typeface="Calibri" pitchFamily="34" charset="-120"/>
              </a:rPr>
              <a:t>New-message alerts; account and my report count</a:t>
            </a:r>
            <a:endParaRPr lang="en-US" sz="1400" dirty="0"/>
          </a:p>
        </p:txBody>
      </p:sp>
      <p:sp>
        <p:nvSpPr>
          <p:cNvPr id="18" name="Shape 13"/>
          <p:cNvSpPr/>
          <p:nvPr/>
        </p:nvSpPr>
        <p:spPr>
          <a:xfrm>
            <a:off x="4709160" y="2743200"/>
            <a:ext cx="3886200" cy="32918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9" name="Text 14"/>
          <p:cNvSpPr txBox="1"/>
          <p:nvPr/>
        </p:nvSpPr>
        <p:spPr>
          <a:xfrm>
            <a:off x="4983480" y="2880360"/>
            <a:ext cx="3383280" cy="41148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Non-functional Requirements</a:t>
            </a:r>
            <a:endParaRPr lang="en-US" sz="1700" dirty="0"/>
          </a:p>
        </p:txBody>
      </p:sp>
      <p:sp>
        <p:nvSpPr>
          <p:cNvPr id="20" name="Text 15"/>
          <p:cNvSpPr txBox="1"/>
          <p:nvPr/>
        </p:nvSpPr>
        <p:spPr>
          <a:xfrm>
            <a:off x="4983480" y="3337560"/>
            <a:ext cx="3429000" cy="2560320"/>
          </a:xfrm>
          <a:prstGeom prst="rect">
            <a:avLst/>
          </a:prstGeom>
          <a:noFill/>
          <a:ln/>
        </p:spPr>
        <p:txBody>
          <a:bodyPr wrap="square" lIns="0" tIns="0" rIns="0" bIns="0" rtlCol="0" anchor="t"/>
          <a:lstStyle/>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Usability  </a:t>
            </a:r>
            <a:r>
              <a:rPr lang="en-US" sz="1050" dirty="0" b="0">
                <a:solidFill>
                  <a:srgbClr val="4A4A7A"/>
                </a:solidFill>
                <a:latin typeface="Calibri" pitchFamily="34" charset="0"/>
                <a:ea typeface="Calibri" pitchFamily="34" charset="-122"/>
                <a:cs typeface="Calibri" pitchFamily="34" charset="-120"/>
              </a:rPr>
              <a:t>one-screen report form; consistent icons; clear empty and error states</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Performance  </a:t>
            </a:r>
            <a:r>
              <a:rPr lang="en-US" sz="1050" dirty="0" b="0">
                <a:solidFill>
                  <a:srgbClr val="4A4A7A"/>
                </a:solidFill>
                <a:latin typeface="Calibri" pitchFamily="34" charset="0"/>
                <a:ea typeface="Calibri" pitchFamily="34" charset="-122"/>
                <a:cs typeface="Calibri" pitchFamily="34" charset="-120"/>
              </a:rPr>
              <a:t>live updates through Firestore listeners; photos compressed before upload</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Security  </a:t>
            </a:r>
            <a:r>
              <a:rPr lang="en-US" sz="1050" dirty="0" b="0">
                <a:solidFill>
                  <a:srgbClr val="4A4A7A"/>
                </a:solidFill>
                <a:latin typeface="Calibri" pitchFamily="34" charset="0"/>
                <a:ea typeface="Calibri" pitchFamily="34" charset="-122"/>
                <a:cs typeface="Calibri" pitchFamily="34" charset="-120"/>
              </a:rPr>
              <a:t>verified email, database rules, encrypted chat, no secret keys in the app</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Reliability  </a:t>
            </a:r>
            <a:r>
              <a:rPr lang="en-US" sz="1050" dirty="0" b="0">
                <a:solidFill>
                  <a:srgbClr val="4A4A7A"/>
                </a:solidFill>
                <a:latin typeface="Calibri" pitchFamily="34" charset="0"/>
                <a:ea typeface="Calibri" pitchFamily="34" charset="-122"/>
                <a:cs typeface="Calibri" pitchFamily="34" charset="-120"/>
              </a:rPr>
              <a:t>a failed message is restored for resending; chat errors offer a retry</a:t>
            </a:r>
            <a:endParaRPr lang="en-US" sz="1400" dirty="0"/>
          </a:p>
          <a:p>
            <a:pPr marL="190500" indent="-190500">
              <a:spcAft>
                <a:spcPts val="500"/>
              </a:spcAft>
              <a:buSzPct val="100000"/>
              <a:buChar char="•"/>
            </a:pPr>
            <a:r>
              <a:rPr lang="en-US" sz="1050" dirty="0" b="1">
                <a:solidFill>
                  <a:srgbClr val="4A4A7A"/>
                </a:solidFill>
                <a:latin typeface="Calibri" pitchFamily="34" charset="0"/>
                <a:ea typeface="Calibri" pitchFamily="34" charset="-122"/>
                <a:cs typeface="Calibri" pitchFamily="34" charset="-120"/>
              </a:rPr>
              <a:t xml:space="preserve">Portability  </a:t>
            </a:r>
            <a:r>
              <a:rPr lang="en-US" sz="1050" dirty="0" b="0">
                <a:solidFill>
                  <a:srgbClr val="4A4A7A"/>
                </a:solidFill>
                <a:latin typeface="Calibri" pitchFamily="34" charset="0"/>
                <a:ea typeface="Calibri" pitchFamily="34" charset="-122"/>
                <a:cs typeface="Calibri" pitchFamily="34" charset="-120"/>
              </a:rPr>
              <a:t>Android and iOS from one Expo codebase</a:t>
            </a:r>
            <a:endParaRPr lang="en-US" sz="14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System Architecture</a:t>
            </a:r>
            <a:endParaRPr lang="en-US" sz="3200" dirty="0"/>
          </a:p>
        </p:txBody>
      </p:sp>
      <p:sp>
        <p:nvSpPr>
          <p:cNvPr id="3" name="Shape 1"/>
          <p:cNvSpPr/>
          <p:nvPr/>
        </p:nvSpPr>
        <p:spPr>
          <a:xfrm>
            <a:off x="548640" y="1874520"/>
            <a:ext cx="5120640" cy="4160520"/>
          </a:xfrm>
          <a:prstGeom prst="rect">
            <a:avLst/>
          </a:prstGeom>
          <a:solidFill>
            <a:srgbClr val="FFFFFF"/>
          </a:solidFill>
          <a:ln w="9525">
            <a:solidFill>
              <a:srgbClr val="D3D3E6"/>
            </a:solidFill>
            <a:prstDash val="solid"/>
          </a:ln>
        </p:spPr>
      </p:sp>
      <p:sp>
        <p:nvSpPr>
          <p:cNvPr id="5" name="Shape 3"/>
          <p:cNvSpPr/>
          <p:nvPr/>
        </p:nvSpPr>
        <p:spPr>
          <a:xfrm>
            <a:off x="5897880" y="1874520"/>
            <a:ext cx="2697480" cy="91440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6" name="Text 4"/>
          <p:cNvSpPr txBox="1"/>
          <p:nvPr/>
        </p:nvSpPr>
        <p:spPr>
          <a:xfrm>
            <a:off x="6080760" y="1984248"/>
            <a:ext cx="237744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Presentation layer</a:t>
            </a:r>
            <a:endParaRPr lang="en-US" sz="1500" dirty="0"/>
          </a:p>
        </p:txBody>
      </p:sp>
      <p:sp>
        <p:nvSpPr>
          <p:cNvPr id="7" name="Text 5"/>
          <p:cNvSpPr txBox="1"/>
          <p:nvPr/>
        </p:nvSpPr>
        <p:spPr>
          <a:xfrm>
            <a:off x="6080760" y="2331720"/>
            <a:ext cx="2377440" cy="347472"/>
          </a:xfrm>
          <a:prstGeom prst="rect">
            <a:avLst/>
          </a:prstGeom>
          <a:noFill/>
          <a:ln/>
        </p:spPr>
        <p:txBody>
          <a:bodyPr wrap="square" lIns="0" tIns="0" rIns="0" bIns="0" rtlCol="0" anchor="ctr"/>
          <a:lstStyle/>
          <a:p>
            <a:pPr indent="0" marL="0">
              <a:buNone/>
            </a:pPr>
            <a:r>
              <a:rPr lang="en-US" sz="1200" dirty="0">
                <a:solidFill>
                  <a:srgbClr val="4A4A7A"/>
                </a:solidFill>
                <a:latin typeface="Calibri" pitchFamily="34" charset="0"/>
                <a:ea typeface="Calibri" pitchFamily="34" charset="-122"/>
                <a:cs typeface="Calibri" pitchFamily="34" charset="-120"/>
              </a:rPr>
              <a:t>React Native screens on Expo, with React Navigation</a:t>
            </a:r>
            <a:endParaRPr lang="en-US" sz="1200" dirty="0"/>
          </a:p>
        </p:txBody>
      </p:sp>
      <p:sp>
        <p:nvSpPr>
          <p:cNvPr id="8" name="Shape 6"/>
          <p:cNvSpPr/>
          <p:nvPr/>
        </p:nvSpPr>
        <p:spPr>
          <a:xfrm>
            <a:off x="5897880" y="2953512"/>
            <a:ext cx="2697480" cy="91440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9" name="Text 7"/>
          <p:cNvSpPr txBox="1"/>
          <p:nvPr/>
        </p:nvSpPr>
        <p:spPr>
          <a:xfrm>
            <a:off x="6080760" y="3063240"/>
            <a:ext cx="237744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Application layer</a:t>
            </a:r>
            <a:endParaRPr lang="en-US" sz="1500" dirty="0"/>
          </a:p>
        </p:txBody>
      </p:sp>
      <p:sp>
        <p:nvSpPr>
          <p:cNvPr id="10" name="Text 8"/>
          <p:cNvSpPr txBox="1"/>
          <p:nvPr/>
        </p:nvSpPr>
        <p:spPr>
          <a:xfrm>
            <a:off x="6080760" y="3410712"/>
            <a:ext cx="2377440" cy="347472"/>
          </a:xfrm>
          <a:prstGeom prst="rect">
            <a:avLst/>
          </a:prstGeom>
          <a:noFill/>
          <a:ln/>
        </p:spPr>
        <p:txBody>
          <a:bodyPr wrap="square" lIns="0" tIns="0" rIns="0" bIns="0" rtlCol="0" anchor="ctr"/>
          <a:lstStyle/>
          <a:p>
            <a:pPr indent="0" marL="0">
              <a:buNone/>
            </a:pPr>
            <a:r>
              <a:rPr lang="en-US" sz="1200" dirty="0">
                <a:solidFill>
                  <a:srgbClr val="4A4A7A"/>
                </a:solidFill>
                <a:latin typeface="Calibri" pitchFamily="34" charset="0"/>
                <a:ea typeface="Calibri" pitchFamily="34" charset="-122"/>
                <a:cs typeface="Calibri" pitchFamily="34" charset="-120"/>
              </a:rPr>
              <a:t>Five service modules that call the cloud SDKs directly</a:t>
            </a:r>
            <a:endParaRPr lang="en-US" sz="1200" dirty="0"/>
          </a:p>
        </p:txBody>
      </p:sp>
      <p:sp>
        <p:nvSpPr>
          <p:cNvPr id="11" name="Shape 9"/>
          <p:cNvSpPr/>
          <p:nvPr/>
        </p:nvSpPr>
        <p:spPr>
          <a:xfrm>
            <a:off x="5897880" y="4032504"/>
            <a:ext cx="2697480" cy="91440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2" name="Text 10"/>
          <p:cNvSpPr txBox="1"/>
          <p:nvPr/>
        </p:nvSpPr>
        <p:spPr>
          <a:xfrm>
            <a:off x="6080760" y="4142232"/>
            <a:ext cx="237744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Data layer</a:t>
            </a:r>
            <a:endParaRPr lang="en-US" sz="1500" dirty="0"/>
          </a:p>
        </p:txBody>
      </p:sp>
      <p:sp>
        <p:nvSpPr>
          <p:cNvPr id="13" name="Text 11"/>
          <p:cNvSpPr txBox="1"/>
          <p:nvPr/>
        </p:nvSpPr>
        <p:spPr>
          <a:xfrm>
            <a:off x="6080760" y="4489704"/>
            <a:ext cx="2377440" cy="347472"/>
          </a:xfrm>
          <a:prstGeom prst="rect">
            <a:avLst/>
          </a:prstGeom>
          <a:noFill/>
          <a:ln/>
        </p:spPr>
        <p:txBody>
          <a:bodyPr wrap="square" lIns="0" tIns="0" rIns="0" bIns="0" rtlCol="0" anchor="ctr"/>
          <a:lstStyle/>
          <a:p>
            <a:pPr indent="0" marL="0">
              <a:buNone/>
            </a:pPr>
            <a:r>
              <a:rPr lang="en-US" sz="1200" dirty="0">
                <a:solidFill>
                  <a:srgbClr val="4A4A7A"/>
                </a:solidFill>
                <a:latin typeface="Calibri" pitchFamily="34" charset="0"/>
                <a:ea typeface="Calibri" pitchFamily="34" charset="-122"/>
                <a:cs typeface="Calibri" pitchFamily="34" charset="-120"/>
              </a:rPr>
              <a:t>Firestore documents; photo addresses from Cloudinary</a:t>
            </a:r>
            <a:endParaRPr lang="en-US" sz="1200" dirty="0"/>
          </a:p>
        </p:txBody>
      </p:sp>
      <p:sp>
        <p:nvSpPr>
          <p:cNvPr id="14" name="Shape 12"/>
          <p:cNvSpPr/>
          <p:nvPr/>
        </p:nvSpPr>
        <p:spPr>
          <a:xfrm>
            <a:off x="5897880" y="5111496"/>
            <a:ext cx="2697480" cy="91440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5" name="Text 13"/>
          <p:cNvSpPr txBox="1"/>
          <p:nvPr/>
        </p:nvSpPr>
        <p:spPr>
          <a:xfrm>
            <a:off x="6080760" y="5221224"/>
            <a:ext cx="237744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Cloud and device services</a:t>
            </a:r>
            <a:endParaRPr lang="en-US" sz="1500" dirty="0"/>
          </a:p>
        </p:txBody>
      </p:sp>
      <p:sp>
        <p:nvSpPr>
          <p:cNvPr id="16" name="Text 14"/>
          <p:cNvSpPr txBox="1"/>
          <p:nvPr/>
        </p:nvSpPr>
        <p:spPr>
          <a:xfrm>
            <a:off x="6080760" y="5568696"/>
            <a:ext cx="2377440" cy="347472"/>
          </a:xfrm>
          <a:prstGeom prst="rect">
            <a:avLst/>
          </a:prstGeom>
          <a:noFill/>
          <a:ln/>
        </p:spPr>
        <p:txBody>
          <a:bodyPr wrap="square" lIns="0" tIns="0" rIns="0" bIns="0" rtlCol="0" anchor="ctr"/>
          <a:lstStyle/>
          <a:p>
            <a:pPr indent="0" marL="0">
              <a:buNone/>
            </a:pPr>
            <a:r>
              <a:rPr lang="en-US" sz="1200" dirty="0">
                <a:solidFill>
                  <a:srgbClr val="4A4A7A"/>
                </a:solidFill>
                <a:latin typeface="Calibri" pitchFamily="34" charset="0"/>
                <a:ea typeface="Calibri" pitchFamily="34" charset="-122"/>
                <a:cs typeface="Calibri" pitchFamily="34" charset="-120"/>
              </a:rPr>
              <a:t>Firebase, Cloudinary, camera, gallery, notifications</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10</a:t>
            </a:fld>
            <a:endParaRPr lang="en-US"/>
          </a:p>
        </p:txBody>
      </p:sp>
      <p:sp>
        <p:nvSpPr>
          <p:cNvPr id="26" name="Rounded Rectangle 25"/>
          <p:cNvSpPr/>
          <p:nvPr/>
        </p:nvSpPr>
        <p:spPr>
          <a:xfrm>
            <a:off x="731520" y="2057400"/>
            <a:ext cx="2240280" cy="530352"/>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000066"/>
                </a:solidFill>
                <a:latin typeface="Calibri"/>
              </a:rPr>
              <a:t>Screens and navigation</a:t>
            </a:r>
          </a:p>
          <a:p>
            <a:pPr algn="ctr"/>
            <a:r>
              <a:rPr sz="850" b="0">
                <a:solidFill>
                  <a:srgbClr val="4A4A7A"/>
                </a:solidFill>
                <a:latin typeface="Calibri"/>
              </a:rPr>
              <a:t>10 screens: stack + 3 bottom tabs</a:t>
            </a:r>
          </a:p>
        </p:txBody>
      </p:sp>
      <p:sp>
        <p:nvSpPr>
          <p:cNvPr id="27" name="Rounded Rectangle 26"/>
          <p:cNvSpPr/>
          <p:nvPr/>
        </p:nvSpPr>
        <p:spPr>
          <a:xfrm>
            <a:off x="3154680" y="2057400"/>
            <a:ext cx="2240280" cy="530352"/>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000066"/>
                </a:solidFill>
                <a:latin typeface="Calibri"/>
              </a:rPr>
              <a:t>Service modules</a:t>
            </a:r>
          </a:p>
          <a:p>
            <a:pPr algn="ctr"/>
            <a:r>
              <a:rPr sz="850" b="0">
                <a:solidFill>
                  <a:srgbClr val="4A4A7A"/>
                </a:solidFill>
                <a:latin typeface="Calibri"/>
              </a:rPr>
              <a:t>auth, items, chat, storage, notifications</a:t>
            </a:r>
          </a:p>
        </p:txBody>
      </p:sp>
      <p:sp>
        <p:nvSpPr>
          <p:cNvPr id="28" name="TextBox 27"/>
          <p:cNvSpPr txBox="1"/>
          <p:nvPr/>
        </p:nvSpPr>
        <p:spPr>
          <a:xfrm>
            <a:off x="731520" y="2651760"/>
            <a:ext cx="4663440" cy="237744"/>
          </a:xfrm>
          <a:prstGeom prst="rect">
            <a:avLst/>
          </a:prstGeom>
          <a:noFill/>
        </p:spPr>
        <p:txBody>
          <a:bodyPr wrap="square" lIns="0" rIns="0" tIns="0" bIns="0" anchor="t">
            <a:spAutoFit/>
          </a:bodyPr>
          <a:lstStyle/>
          <a:p>
            <a:pPr algn="ctr"/>
            <a:r>
              <a:rPr sz="900" b="1">
                <a:solidFill>
                  <a:srgbClr val="B08B57"/>
                </a:solidFill>
                <a:latin typeface="Calibri"/>
              </a:rPr>
              <a:t>Firebase JS SDK  ·  HTTPS  ·  real-time listeners</a:t>
            </a:r>
          </a:p>
        </p:txBody>
      </p:sp>
      <p:sp>
        <p:nvSpPr>
          <p:cNvPr id="29" name="Rounded Rectangle 28"/>
          <p:cNvSpPr/>
          <p:nvPr/>
        </p:nvSpPr>
        <p:spPr>
          <a:xfrm>
            <a:off x="731520" y="2944368"/>
            <a:ext cx="4663440" cy="841248"/>
          </a:xfrm>
          <a:prstGeom prst="roundRect">
            <a:avLst>
              <a:gd name="adj" fmla="val 12000"/>
            </a:avLst>
          </a:prstGeom>
          <a:solidFill>
            <a:srgbClr val="000066"/>
          </a:solidFill>
          <a:ln w="952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a:solidFill>
                  <a:srgbClr val="FFFFFF"/>
                </a:solidFill>
                <a:latin typeface="Calibri"/>
              </a:rPr>
              <a:t>Firebase (serverless backend)</a:t>
            </a:r>
          </a:p>
          <a:p>
            <a:pPr algn="ctr"/>
            <a:r>
              <a:rPr sz="950" b="0">
                <a:solidFill>
                  <a:srgbClr val="FFFFFF"/>
                </a:solidFill>
                <a:latin typeface="Calibri"/>
              </a:rPr>
              <a:t>Authentication  ·  Cloud Firestore  ·  Security Rules</a:t>
            </a:r>
          </a:p>
        </p:txBody>
      </p:sp>
      <p:sp>
        <p:nvSpPr>
          <p:cNvPr id="30" name="TextBox 29"/>
          <p:cNvSpPr txBox="1"/>
          <p:nvPr/>
        </p:nvSpPr>
        <p:spPr>
          <a:xfrm>
            <a:off x="731520" y="3840480"/>
            <a:ext cx="4663440" cy="219456"/>
          </a:xfrm>
          <a:prstGeom prst="rect">
            <a:avLst/>
          </a:prstGeom>
          <a:noFill/>
        </p:spPr>
        <p:txBody>
          <a:bodyPr wrap="square" lIns="0" rIns="0" tIns="0" bIns="0" anchor="t">
            <a:spAutoFit/>
          </a:bodyPr>
          <a:lstStyle/>
          <a:p>
            <a:pPr algn="ctr"/>
            <a:r>
              <a:rPr sz="850" b="0">
                <a:solidFill>
                  <a:srgbClr val="4A4A7A"/>
                </a:solidFill>
                <a:latin typeface="Calibri"/>
              </a:rPr>
              <a:t>Firestore collections</a:t>
            </a:r>
          </a:p>
        </p:txBody>
      </p:sp>
      <p:sp>
        <p:nvSpPr>
          <p:cNvPr id="31" name="Rounded Rectangle 30"/>
          <p:cNvSpPr/>
          <p:nvPr/>
        </p:nvSpPr>
        <p:spPr>
          <a:xfrm>
            <a:off x="731520" y="4096512"/>
            <a:ext cx="1463040" cy="658368"/>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000066"/>
                </a:solidFill>
                <a:latin typeface="Calibri"/>
              </a:rPr>
              <a:t>users</a:t>
            </a:r>
          </a:p>
          <a:p>
            <a:pPr algn="ctr"/>
            <a:r>
              <a:rPr sz="850" b="0">
                <a:solidFill>
                  <a:srgbClr val="4A4A7A"/>
                </a:solidFill>
                <a:latin typeface="Calibri"/>
              </a:rPr>
              <a:t>profile, verified flag</a:t>
            </a:r>
          </a:p>
        </p:txBody>
      </p:sp>
      <p:sp>
        <p:nvSpPr>
          <p:cNvPr id="32" name="Rounded Rectangle 31"/>
          <p:cNvSpPr/>
          <p:nvPr/>
        </p:nvSpPr>
        <p:spPr>
          <a:xfrm>
            <a:off x="2331720" y="4096512"/>
            <a:ext cx="1463040" cy="658368"/>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000066"/>
                </a:solidFill>
                <a:latin typeface="Calibri"/>
              </a:rPr>
              <a:t>items</a:t>
            </a:r>
          </a:p>
          <a:p>
            <a:pPr algn="ctr"/>
            <a:r>
              <a:rPr sz="850" b="0">
                <a:solidFill>
                  <a:srgbClr val="4A4A7A"/>
                </a:solidFill>
                <a:latin typeface="Calibri"/>
              </a:rPr>
              <a:t>lost and found reports</a:t>
            </a:r>
          </a:p>
        </p:txBody>
      </p:sp>
      <p:sp>
        <p:nvSpPr>
          <p:cNvPr id="33" name="Rounded Rectangle 32"/>
          <p:cNvSpPr/>
          <p:nvPr/>
        </p:nvSpPr>
        <p:spPr>
          <a:xfrm>
            <a:off x="3931920" y="4096512"/>
            <a:ext cx="1463040" cy="658368"/>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000066"/>
                </a:solidFill>
                <a:latin typeface="Calibri"/>
              </a:rPr>
              <a:t>chats / messages</a:t>
            </a:r>
          </a:p>
          <a:p>
            <a:pPr algn="ctr"/>
            <a:r>
              <a:rPr sz="850" b="0">
                <a:solidFill>
                  <a:srgbClr val="4A4A7A"/>
                </a:solidFill>
                <a:latin typeface="Calibri"/>
              </a:rPr>
              <a:t>encrypted text</a:t>
            </a:r>
          </a:p>
        </p:txBody>
      </p:sp>
      <p:sp>
        <p:nvSpPr>
          <p:cNvPr id="34" name="TextBox 33"/>
          <p:cNvSpPr txBox="1"/>
          <p:nvPr/>
        </p:nvSpPr>
        <p:spPr>
          <a:xfrm>
            <a:off x="731520" y="4882896"/>
            <a:ext cx="4663440" cy="219456"/>
          </a:xfrm>
          <a:prstGeom prst="rect">
            <a:avLst/>
          </a:prstGeom>
          <a:noFill/>
        </p:spPr>
        <p:txBody>
          <a:bodyPr wrap="square" lIns="0" rIns="0" tIns="0" bIns="0" anchor="t">
            <a:spAutoFit/>
          </a:bodyPr>
          <a:lstStyle/>
          <a:p>
            <a:pPr algn="ctr"/>
            <a:r>
              <a:rPr sz="850" b="1">
                <a:solidFill>
                  <a:srgbClr val="B08B57"/>
                </a:solidFill>
                <a:latin typeface="Calibri"/>
              </a:rPr>
              <a:t>OTHER SERVICES</a:t>
            </a:r>
          </a:p>
        </p:txBody>
      </p:sp>
      <p:sp>
        <p:nvSpPr>
          <p:cNvPr id="35" name="Rounded Rectangle 34"/>
          <p:cNvSpPr/>
          <p:nvPr/>
        </p:nvSpPr>
        <p:spPr>
          <a:xfrm>
            <a:off x="731520" y="5120640"/>
            <a:ext cx="1463040" cy="566928"/>
          </a:xfrm>
          <a:prstGeom prst="roundRect">
            <a:avLst>
              <a:gd name="adj" fmla="val 12000"/>
            </a:avLst>
          </a:prstGeom>
          <a:solidFill>
            <a:srgbClr val="F3ECD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Cloudinary</a:t>
            </a:r>
          </a:p>
          <a:p>
            <a:pPr algn="ctr"/>
            <a:r>
              <a:rPr sz="850" b="0">
                <a:solidFill>
                  <a:srgbClr val="4A4A7A"/>
                </a:solidFill>
                <a:latin typeface="Calibri"/>
              </a:rPr>
              <a:t>item photos</a:t>
            </a:r>
          </a:p>
        </p:txBody>
      </p:sp>
      <p:sp>
        <p:nvSpPr>
          <p:cNvPr id="36" name="Rounded Rectangle 35"/>
          <p:cNvSpPr/>
          <p:nvPr/>
        </p:nvSpPr>
        <p:spPr>
          <a:xfrm>
            <a:off x="2331720" y="5120640"/>
            <a:ext cx="1463040" cy="566928"/>
          </a:xfrm>
          <a:prstGeom prst="roundRect">
            <a:avLst>
              <a:gd name="adj" fmla="val 12000"/>
            </a:avLst>
          </a:prstGeom>
          <a:solidFill>
            <a:srgbClr val="F3ECD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Verification email</a:t>
            </a:r>
          </a:p>
          <a:p>
            <a:pPr algn="ctr"/>
            <a:r>
              <a:rPr sz="850" b="0">
                <a:solidFill>
                  <a:srgbClr val="4A4A7A"/>
                </a:solidFill>
                <a:latin typeface="Calibri"/>
              </a:rPr>
              <a:t>sent by Firebase</a:t>
            </a:r>
          </a:p>
        </p:txBody>
      </p:sp>
      <p:sp>
        <p:nvSpPr>
          <p:cNvPr id="37" name="Rounded Rectangle 36"/>
          <p:cNvSpPr/>
          <p:nvPr/>
        </p:nvSpPr>
        <p:spPr>
          <a:xfrm>
            <a:off x="3931920" y="5120640"/>
            <a:ext cx="1463040" cy="566928"/>
          </a:xfrm>
          <a:prstGeom prst="roundRect">
            <a:avLst>
              <a:gd name="adj" fmla="val 12000"/>
            </a:avLst>
          </a:prstGeom>
          <a:solidFill>
            <a:srgbClr val="F3ECD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Expo Notifications</a:t>
            </a:r>
          </a:p>
          <a:p>
            <a:pPr algn="ctr"/>
            <a:r>
              <a:rPr sz="850" b="0">
                <a:solidFill>
                  <a:srgbClr val="4A4A7A"/>
                </a:solidFill>
                <a:latin typeface="Calibri"/>
              </a:rPr>
              <a:t>local alerts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System Design</a:t>
            </a:r>
            <a:endParaRPr lang="en-US" sz="3200" dirty="0"/>
          </a:p>
        </p:txBody>
      </p:sp>
      <p:sp>
        <p:nvSpPr>
          <p:cNvPr id="3" name="Shape 1"/>
          <p:cNvSpPr/>
          <p:nvPr/>
        </p:nvSpPr>
        <p:spPr>
          <a:xfrm>
            <a:off x="548640" y="1874520"/>
            <a:ext cx="2514600" cy="3520440"/>
          </a:xfrm>
          <a:prstGeom prst="rect">
            <a:avLst/>
          </a:prstGeom>
          <a:solidFill>
            <a:srgbClr val="FFFFFF"/>
          </a:solidFill>
          <a:ln w="9525">
            <a:solidFill>
              <a:srgbClr val="D3D3E6"/>
            </a:solidFill>
            <a:prstDash val="solid"/>
          </a:ln>
        </p:spPr>
      </p:sp>
      <p:sp>
        <p:nvSpPr>
          <p:cNvPr id="5" name="Text 3"/>
          <p:cNvSpPr txBox="1"/>
          <p:nvPr/>
        </p:nvSpPr>
        <p:spPr>
          <a:xfrm>
            <a:off x="548640" y="5486400"/>
            <a:ext cx="2514600" cy="274320"/>
          </a:xfrm>
          <a:prstGeom prst="rect">
            <a:avLst/>
          </a:prstGeom>
          <a:noFill/>
          <a:ln/>
        </p:spPr>
        <p:txBody>
          <a:bodyPr wrap="square" lIns="0" tIns="0" rIns="0" bIns="0" rtlCol="0" anchor="ctr"/>
          <a:lstStyle/>
          <a:p>
            <a:pPr algn="ctr" indent="0" marL="0">
              <a:buNone/>
            </a:pPr>
            <a:r>
              <a:rPr lang="en-US" sz="1400" b="1" dirty="0">
                <a:solidFill>
                  <a:srgbClr val="000066"/>
                </a:solidFill>
                <a:latin typeface="Calibri" pitchFamily="34" charset="0"/>
                <a:ea typeface="Calibri" pitchFamily="34" charset="-122"/>
                <a:cs typeface="Calibri" pitchFamily="34" charset="-120"/>
              </a:rPr>
              <a:t>Use cases by actor</a:t>
            </a:r>
            <a:endParaRPr lang="en-US" sz="1400" dirty="0"/>
          </a:p>
        </p:txBody>
      </p:sp>
      <p:sp>
        <p:nvSpPr>
          <p:cNvPr id="6" name="Text 4"/>
          <p:cNvSpPr txBox="1"/>
          <p:nvPr/>
        </p:nvSpPr>
        <p:spPr>
          <a:xfrm>
            <a:off x="548640" y="5760720"/>
            <a:ext cx="2514600" cy="274320"/>
          </a:xfrm>
          <a:prstGeom prst="rect">
            <a:avLst/>
          </a:prstGeom>
          <a:noFill/>
          <a:ln/>
        </p:spPr>
        <p:txBody>
          <a:bodyPr wrap="square" lIns="0" tIns="0" rIns="0" bIns="0" rtlCol="0" anchor="ctr"/>
          <a:lstStyle/>
          <a:p>
            <a:pPr algn="ctr" indent="0" marL="0">
              <a:buNone/>
            </a:pPr>
            <a:r>
              <a:rPr lang="en-US" sz="1200" dirty="0">
                <a:solidFill>
                  <a:srgbClr val="4A4A7A"/>
                </a:solidFill>
                <a:latin typeface="Calibri" pitchFamily="34" charset="0"/>
                <a:ea typeface="Calibri" pitchFamily="34" charset="-122"/>
                <a:cs typeface="Calibri" pitchFamily="34" charset="-120"/>
              </a:rPr>
              <a:t>Who does what in the system</a:t>
            </a:r>
            <a:endParaRPr lang="en-US" sz="1200" dirty="0"/>
          </a:p>
        </p:txBody>
      </p:sp>
      <p:sp>
        <p:nvSpPr>
          <p:cNvPr id="7" name="Shape 5"/>
          <p:cNvSpPr/>
          <p:nvPr/>
        </p:nvSpPr>
        <p:spPr>
          <a:xfrm>
            <a:off x="3314700" y="1874520"/>
            <a:ext cx="2514600" cy="3520440"/>
          </a:xfrm>
          <a:prstGeom prst="rect">
            <a:avLst/>
          </a:prstGeom>
          <a:solidFill>
            <a:srgbClr val="FFFFFF"/>
          </a:solidFill>
          <a:ln w="9525">
            <a:solidFill>
              <a:srgbClr val="D3D3E6"/>
            </a:solidFill>
            <a:prstDash val="solid"/>
          </a:ln>
        </p:spPr>
      </p:sp>
      <p:sp>
        <p:nvSpPr>
          <p:cNvPr id="9" name="Text 7"/>
          <p:cNvSpPr txBox="1"/>
          <p:nvPr/>
        </p:nvSpPr>
        <p:spPr>
          <a:xfrm>
            <a:off x="3314700" y="5486400"/>
            <a:ext cx="2514600" cy="274320"/>
          </a:xfrm>
          <a:prstGeom prst="rect">
            <a:avLst/>
          </a:prstGeom>
          <a:noFill/>
          <a:ln/>
        </p:spPr>
        <p:txBody>
          <a:bodyPr wrap="square" lIns="0" tIns="0" rIns="0" bIns="0" rtlCol="0" anchor="ctr"/>
          <a:lstStyle/>
          <a:p>
            <a:pPr algn="ctr" indent="0" marL="0">
              <a:buNone/>
            </a:pPr>
            <a:r>
              <a:rPr lang="en-US" sz="1400" b="1" dirty="0">
                <a:solidFill>
                  <a:srgbClr val="000066"/>
                </a:solidFill>
                <a:latin typeface="Calibri" pitchFamily="34" charset="0"/>
                <a:ea typeface="Calibri" pitchFamily="34" charset="-122"/>
                <a:cs typeface="Calibri" pitchFamily="34" charset="-120"/>
              </a:rPr>
              <a:t>Data model (Firestore)</a:t>
            </a:r>
            <a:endParaRPr lang="en-US" sz="1400" dirty="0"/>
          </a:p>
        </p:txBody>
      </p:sp>
      <p:sp>
        <p:nvSpPr>
          <p:cNvPr id="10" name="Text 8"/>
          <p:cNvSpPr txBox="1"/>
          <p:nvPr/>
        </p:nvSpPr>
        <p:spPr>
          <a:xfrm>
            <a:off x="3314700" y="5760720"/>
            <a:ext cx="2514600" cy="274320"/>
          </a:xfrm>
          <a:prstGeom prst="rect">
            <a:avLst/>
          </a:prstGeom>
          <a:noFill/>
          <a:ln/>
        </p:spPr>
        <p:txBody>
          <a:bodyPr wrap="square" lIns="0" tIns="0" rIns="0" bIns="0" rtlCol="0" anchor="ctr"/>
          <a:lstStyle/>
          <a:p>
            <a:pPr algn="ctr" indent="0" marL="0">
              <a:buNone/>
            </a:pPr>
            <a:r>
              <a:rPr lang="en-US" sz="1200" dirty="0">
                <a:solidFill>
                  <a:srgbClr val="4A4A7A"/>
                </a:solidFill>
                <a:latin typeface="Calibri" pitchFamily="34" charset="0"/>
                <a:ea typeface="Calibri" pitchFamily="34" charset="-122"/>
                <a:cs typeface="Calibri" pitchFamily="34" charset="-120"/>
              </a:rPr>
              <a:t>Collections, fields and links</a:t>
            </a:r>
            <a:endParaRPr lang="en-US" sz="1200" dirty="0"/>
          </a:p>
        </p:txBody>
      </p:sp>
      <p:sp>
        <p:nvSpPr>
          <p:cNvPr id="11" name="Shape 9"/>
          <p:cNvSpPr/>
          <p:nvPr/>
        </p:nvSpPr>
        <p:spPr>
          <a:xfrm>
            <a:off x="6080760" y="1874520"/>
            <a:ext cx="2514600" cy="3520440"/>
          </a:xfrm>
          <a:prstGeom prst="rect">
            <a:avLst/>
          </a:prstGeom>
          <a:solidFill>
            <a:srgbClr val="FFFFFF"/>
          </a:solidFill>
          <a:ln w="9525">
            <a:solidFill>
              <a:srgbClr val="D3D3E6"/>
            </a:solidFill>
            <a:prstDash val="solid"/>
          </a:ln>
        </p:spPr>
      </p:sp>
      <p:sp>
        <p:nvSpPr>
          <p:cNvPr id="13" name="Text 11"/>
          <p:cNvSpPr txBox="1"/>
          <p:nvPr/>
        </p:nvSpPr>
        <p:spPr>
          <a:xfrm>
            <a:off x="6080760" y="5486400"/>
            <a:ext cx="2514600" cy="274320"/>
          </a:xfrm>
          <a:prstGeom prst="rect">
            <a:avLst/>
          </a:prstGeom>
          <a:noFill/>
          <a:ln/>
        </p:spPr>
        <p:txBody>
          <a:bodyPr wrap="square" lIns="0" tIns="0" rIns="0" bIns="0" rtlCol="0" anchor="ctr"/>
          <a:lstStyle/>
          <a:p>
            <a:pPr algn="ctr" indent="0" marL="0">
              <a:buNone/>
            </a:pPr>
            <a:r>
              <a:rPr lang="en-US" sz="1400" b="1" dirty="0">
                <a:solidFill>
                  <a:srgbClr val="000066"/>
                </a:solidFill>
                <a:latin typeface="Calibri" pitchFamily="34" charset="0"/>
                <a:ea typeface="Calibri" pitchFamily="34" charset="-122"/>
                <a:cs typeface="Calibri" pitchFamily="34" charset="-120"/>
              </a:rPr>
              <a:t>User interface</a:t>
            </a:r>
            <a:endParaRPr lang="en-US" sz="1400" dirty="0"/>
          </a:p>
        </p:txBody>
      </p:sp>
      <p:sp>
        <p:nvSpPr>
          <p:cNvPr id="14" name="Text 12"/>
          <p:cNvSpPr txBox="1"/>
          <p:nvPr/>
        </p:nvSpPr>
        <p:spPr>
          <a:xfrm>
            <a:off x="6080760" y="5760720"/>
            <a:ext cx="2514600" cy="274320"/>
          </a:xfrm>
          <a:prstGeom prst="rect">
            <a:avLst/>
          </a:prstGeom>
          <a:noFill/>
          <a:ln/>
        </p:spPr>
        <p:txBody>
          <a:bodyPr wrap="square" lIns="0" tIns="0" rIns="0" bIns="0" rtlCol="0" anchor="ctr"/>
          <a:lstStyle/>
          <a:p>
            <a:pPr algn="ctr" indent="0" marL="0">
              <a:buNone/>
            </a:pPr>
            <a:r>
              <a:rPr lang="en-US" sz="1200" dirty="0">
                <a:solidFill>
                  <a:srgbClr val="4A4A7A"/>
                </a:solidFill>
                <a:latin typeface="Calibri" pitchFamily="34" charset="0"/>
                <a:ea typeface="Calibri" pitchFamily="34" charset="-122"/>
                <a:cs typeface="Calibri" pitchFamily="34" charset="-120"/>
              </a:rPr>
              <a:t>Welcome screen, one of 10</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11</a:t>
            </a:fld>
            <a:endParaRPr lang="en-US"/>
          </a:p>
        </p:txBody>
      </p:sp>
      <p:sp>
        <p:nvSpPr>
          <p:cNvPr id="26" name="Rounded Rectangle 25"/>
          <p:cNvSpPr/>
          <p:nvPr/>
        </p:nvSpPr>
        <p:spPr>
          <a:xfrm>
            <a:off x="685800" y="3675887"/>
            <a:ext cx="2240280" cy="256032"/>
          </a:xfrm>
          <a:prstGeom prst="roundRect">
            <a:avLst>
              <a:gd name="adj" fmla="val 12000"/>
            </a:avLst>
          </a:prstGeom>
          <a:solidFill>
            <a:srgbClr val="000066"/>
          </a:solidFill>
          <a:ln w="952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Calibri"/>
              </a:rPr>
              <a:t>Verified student</a:t>
            </a:r>
          </a:p>
        </p:txBody>
      </p:sp>
      <p:sp>
        <p:nvSpPr>
          <p:cNvPr id="27" name="TextBox 26"/>
          <p:cNvSpPr txBox="1"/>
          <p:nvPr/>
        </p:nvSpPr>
        <p:spPr>
          <a:xfrm>
            <a:off x="731520" y="3968496"/>
            <a:ext cx="2194560" cy="1097280"/>
          </a:xfrm>
          <a:prstGeom prst="rect">
            <a:avLst/>
          </a:prstGeom>
          <a:noFill/>
        </p:spPr>
        <p:txBody>
          <a:bodyPr wrap="square" lIns="0" rIns="0" tIns="0" bIns="0" anchor="t">
            <a:spAutoFit/>
          </a:bodyPr>
          <a:lstStyle/>
          <a:p>
            <a:pPr algn="l"/>
            <a:r>
              <a:rPr sz="950" b="0">
                <a:solidFill>
                  <a:srgbClr val="4A4A7A"/>
                </a:solidFill>
                <a:latin typeface="Calibri"/>
              </a:rPr>
              <a:t>Report a lost or found item, with a photo</a:t>
            </a:r>
          </a:p>
          <a:p>
            <a:pPr algn="l">
              <a:spcBef>
                <a:spcPts val="100"/>
              </a:spcBef>
            </a:pPr>
            <a:r>
              <a:rPr sz="950" b="0">
                <a:solidFill>
                  <a:srgbClr val="4A4A7A"/>
                </a:solidFill>
                <a:latin typeface="Calibri"/>
              </a:rPr>
              <a:t>Browse, search and filter all reports</a:t>
            </a:r>
          </a:p>
          <a:p>
            <a:pPr algn="l">
              <a:spcBef>
                <a:spcPts val="100"/>
              </a:spcBef>
            </a:pPr>
            <a:r>
              <a:rPr sz="950" b="0">
                <a:solidFill>
                  <a:srgbClr val="4A4A7A"/>
                </a:solidFill>
                <a:latin typeface="Calibri"/>
              </a:rPr>
              <a:t>Open an item's details</a:t>
            </a:r>
          </a:p>
          <a:p>
            <a:pPr algn="l">
              <a:spcBef>
                <a:spcPts val="100"/>
              </a:spcBef>
            </a:pPr>
            <a:r>
              <a:rPr sz="950" b="0">
                <a:solidFill>
                  <a:srgbClr val="4A4A7A"/>
                </a:solidFill>
                <a:latin typeface="Calibri"/>
              </a:rPr>
              <a:t>Chat privately with the reporter</a:t>
            </a:r>
          </a:p>
          <a:p>
            <a:pPr algn="l">
              <a:spcBef>
                <a:spcPts val="100"/>
              </a:spcBef>
            </a:pPr>
            <a:r>
              <a:rPr sz="950" b="0">
                <a:solidFill>
                  <a:srgbClr val="4A4A7A"/>
                </a:solidFill>
                <a:latin typeface="Calibri"/>
              </a:rPr>
              <a:t>See all chats; get new-message alerts</a:t>
            </a:r>
          </a:p>
          <a:p>
            <a:pPr algn="l">
              <a:spcBef>
                <a:spcPts val="100"/>
              </a:spcBef>
            </a:pPr>
            <a:r>
              <a:rPr sz="950" b="0">
                <a:solidFill>
                  <a:srgbClr val="4A4A7A"/>
                </a:solidFill>
                <a:latin typeface="Calibri"/>
              </a:rPr>
              <a:t>View account and log out</a:t>
            </a:r>
          </a:p>
        </p:txBody>
      </p:sp>
      <p:sp>
        <p:nvSpPr>
          <p:cNvPr id="28" name="Rounded Rectangle 27"/>
          <p:cNvSpPr/>
          <p:nvPr/>
        </p:nvSpPr>
        <p:spPr>
          <a:xfrm>
            <a:off x="685800" y="2761488"/>
            <a:ext cx="2240280" cy="256032"/>
          </a:xfrm>
          <a:prstGeom prst="roundRect">
            <a:avLst>
              <a:gd name="adj" fmla="val 12000"/>
            </a:avLst>
          </a:prstGeom>
          <a:solidFill>
            <a:srgbClr val="000066"/>
          </a:solidFill>
          <a:ln w="952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Calibri"/>
              </a:rPr>
              <a:t>Unverified user</a:t>
            </a:r>
          </a:p>
        </p:txBody>
      </p:sp>
      <p:sp>
        <p:nvSpPr>
          <p:cNvPr id="29" name="TextBox 28"/>
          <p:cNvSpPr txBox="1"/>
          <p:nvPr/>
        </p:nvSpPr>
        <p:spPr>
          <a:xfrm>
            <a:off x="731520" y="3054096"/>
            <a:ext cx="2194560" cy="502920"/>
          </a:xfrm>
          <a:prstGeom prst="rect">
            <a:avLst/>
          </a:prstGeom>
          <a:noFill/>
        </p:spPr>
        <p:txBody>
          <a:bodyPr wrap="square" lIns="0" rIns="0" tIns="0" bIns="0" anchor="t">
            <a:spAutoFit/>
          </a:bodyPr>
          <a:lstStyle/>
          <a:p>
            <a:pPr algn="l"/>
            <a:r>
              <a:rPr sz="950" b="0">
                <a:solidFill>
                  <a:srgbClr val="4A4A7A"/>
                </a:solidFill>
                <a:latin typeface="Calibri"/>
              </a:rPr>
              <a:t>Receive the verification link by email</a:t>
            </a:r>
          </a:p>
          <a:p>
            <a:pPr algn="l">
              <a:spcBef>
                <a:spcPts val="100"/>
              </a:spcBef>
            </a:pPr>
            <a:r>
              <a:rPr sz="950" b="0">
                <a:solidFill>
                  <a:srgbClr val="4A4A7A"/>
                </a:solidFill>
                <a:latin typeface="Calibri"/>
              </a:rPr>
              <a:t>Resend the link</a:t>
            </a:r>
          </a:p>
          <a:p>
            <a:pPr algn="l">
              <a:spcBef>
                <a:spcPts val="100"/>
              </a:spcBef>
            </a:pPr>
            <a:r>
              <a:rPr sz="950" b="0">
                <a:solidFill>
                  <a:srgbClr val="4A4A7A"/>
                </a:solidFill>
                <a:latin typeface="Calibri"/>
              </a:rPr>
              <a:t>Confirm and enter the app</a:t>
            </a:r>
          </a:p>
        </p:txBody>
      </p:sp>
      <p:sp>
        <p:nvSpPr>
          <p:cNvPr id="30" name="Rounded Rectangle 29"/>
          <p:cNvSpPr/>
          <p:nvPr/>
        </p:nvSpPr>
        <p:spPr>
          <a:xfrm>
            <a:off x="685800" y="1993392"/>
            <a:ext cx="2240280" cy="256032"/>
          </a:xfrm>
          <a:prstGeom prst="roundRect">
            <a:avLst>
              <a:gd name="adj" fmla="val 12000"/>
            </a:avLst>
          </a:prstGeom>
          <a:solidFill>
            <a:srgbClr val="000066"/>
          </a:solidFill>
          <a:ln w="9525">
            <a:solidFill>
              <a:srgbClr val="00006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Calibri"/>
              </a:rPr>
              <a:t>Visitor</a:t>
            </a:r>
          </a:p>
        </p:txBody>
      </p:sp>
      <p:sp>
        <p:nvSpPr>
          <p:cNvPr id="31" name="TextBox 30"/>
          <p:cNvSpPr txBox="1"/>
          <p:nvPr/>
        </p:nvSpPr>
        <p:spPr>
          <a:xfrm>
            <a:off x="731520" y="2286000"/>
            <a:ext cx="2194560" cy="365760"/>
          </a:xfrm>
          <a:prstGeom prst="rect">
            <a:avLst/>
          </a:prstGeom>
          <a:noFill/>
        </p:spPr>
        <p:txBody>
          <a:bodyPr wrap="square" lIns="0" rIns="0" tIns="0" bIns="0" anchor="t">
            <a:spAutoFit/>
          </a:bodyPr>
          <a:lstStyle/>
          <a:p>
            <a:pPr algn="l"/>
            <a:r>
              <a:rPr sz="950" b="0">
                <a:solidFill>
                  <a:srgbClr val="4A4A7A"/>
                </a:solidFill>
                <a:latin typeface="Calibri"/>
              </a:rPr>
              <a:t>Sign up with name, email and password</a:t>
            </a:r>
          </a:p>
          <a:p>
            <a:pPr algn="l">
              <a:spcBef>
                <a:spcPts val="100"/>
              </a:spcBef>
            </a:pPr>
            <a:r>
              <a:rPr sz="950" b="0">
                <a:solidFill>
                  <a:srgbClr val="4A4A7A"/>
                </a:solidFill>
                <a:latin typeface="Calibri"/>
              </a:rPr>
              <a:t>Log in</a:t>
            </a:r>
          </a:p>
        </p:txBody>
      </p:sp>
      <p:sp>
        <p:nvSpPr>
          <p:cNvPr id="32" name="Rounded Rectangle 31"/>
          <p:cNvSpPr/>
          <p:nvPr/>
        </p:nvSpPr>
        <p:spPr>
          <a:xfrm>
            <a:off x="3474720" y="1993392"/>
            <a:ext cx="2194560" cy="329184"/>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Firebase Auth account</a:t>
            </a:r>
          </a:p>
          <a:p>
            <a:pPr algn="ctr"/>
            <a:r>
              <a:rPr sz="800" b="0">
                <a:solidFill>
                  <a:srgbClr val="4A4A7A"/>
                </a:solidFill>
                <a:latin typeface="Calibri"/>
              </a:rPr>
              <a:t>email, password, emailVerified</a:t>
            </a:r>
          </a:p>
        </p:txBody>
      </p:sp>
      <p:sp>
        <p:nvSpPr>
          <p:cNvPr id="33" name="TextBox 32"/>
          <p:cNvSpPr txBox="1"/>
          <p:nvPr/>
        </p:nvSpPr>
        <p:spPr>
          <a:xfrm>
            <a:off x="3474720" y="2359152"/>
            <a:ext cx="2194560" cy="164592"/>
          </a:xfrm>
          <a:prstGeom prst="rect">
            <a:avLst/>
          </a:prstGeom>
          <a:noFill/>
        </p:spPr>
        <p:txBody>
          <a:bodyPr wrap="square" lIns="0" rIns="0" tIns="0" bIns="0" anchor="t">
            <a:spAutoFit/>
          </a:bodyPr>
          <a:lstStyle/>
          <a:p>
            <a:pPr algn="ctr"/>
            <a:r>
              <a:rPr sz="750" b="1">
                <a:solidFill>
                  <a:srgbClr val="B08B57"/>
                </a:solidFill>
                <a:latin typeface="Calibri"/>
              </a:rPr>
              <a:t>1 : 1</a:t>
            </a:r>
          </a:p>
        </p:txBody>
      </p:sp>
      <p:sp>
        <p:nvSpPr>
          <p:cNvPr id="34" name="Rounded Rectangle 33"/>
          <p:cNvSpPr/>
          <p:nvPr/>
        </p:nvSpPr>
        <p:spPr>
          <a:xfrm>
            <a:off x="3474720" y="2542032"/>
            <a:ext cx="2194560" cy="329184"/>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users</a:t>
            </a:r>
          </a:p>
          <a:p>
            <a:pPr algn="ctr"/>
            <a:r>
              <a:rPr sz="800" b="0">
                <a:solidFill>
                  <a:srgbClr val="4A4A7A"/>
                </a:solidFill>
                <a:latin typeface="Calibri"/>
              </a:rPr>
              <a:t>uid, name, email, createdAt</a:t>
            </a:r>
          </a:p>
        </p:txBody>
      </p:sp>
      <p:sp>
        <p:nvSpPr>
          <p:cNvPr id="35" name="TextBox 34"/>
          <p:cNvSpPr txBox="1"/>
          <p:nvPr/>
        </p:nvSpPr>
        <p:spPr>
          <a:xfrm>
            <a:off x="3474720" y="2907792"/>
            <a:ext cx="2194560" cy="164592"/>
          </a:xfrm>
          <a:prstGeom prst="rect">
            <a:avLst/>
          </a:prstGeom>
          <a:noFill/>
        </p:spPr>
        <p:txBody>
          <a:bodyPr wrap="square" lIns="0" rIns="0" tIns="0" bIns="0" anchor="t">
            <a:spAutoFit/>
          </a:bodyPr>
          <a:lstStyle/>
          <a:p>
            <a:pPr algn="ctr"/>
            <a:r>
              <a:rPr sz="750" b="1">
                <a:solidFill>
                  <a:srgbClr val="B08B57"/>
                </a:solidFill>
                <a:latin typeface="Calibri"/>
              </a:rPr>
              <a:t>1 : N  (reportedBy)</a:t>
            </a:r>
          </a:p>
        </p:txBody>
      </p:sp>
      <p:sp>
        <p:nvSpPr>
          <p:cNvPr id="36" name="Rounded Rectangle 35"/>
          <p:cNvSpPr/>
          <p:nvPr/>
        </p:nvSpPr>
        <p:spPr>
          <a:xfrm>
            <a:off x="3474720" y="3090672"/>
            <a:ext cx="2194560" cy="329184"/>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items</a:t>
            </a:r>
          </a:p>
          <a:p>
            <a:pPr algn="ctr"/>
            <a:r>
              <a:rPr sz="800" b="0">
                <a:solidFill>
                  <a:srgbClr val="4A4A7A"/>
                </a:solidFill>
                <a:latin typeface="Calibri"/>
              </a:rPr>
              <a:t>name, description, location, type, imageUrl</a:t>
            </a:r>
          </a:p>
        </p:txBody>
      </p:sp>
      <p:sp>
        <p:nvSpPr>
          <p:cNvPr id="37" name="TextBox 36"/>
          <p:cNvSpPr txBox="1"/>
          <p:nvPr/>
        </p:nvSpPr>
        <p:spPr>
          <a:xfrm>
            <a:off x="3474720" y="3456432"/>
            <a:ext cx="2194560" cy="164592"/>
          </a:xfrm>
          <a:prstGeom prst="rect">
            <a:avLst/>
          </a:prstGeom>
          <a:noFill/>
        </p:spPr>
        <p:txBody>
          <a:bodyPr wrap="square" lIns="0" rIns="0" tIns="0" bIns="0" anchor="t">
            <a:spAutoFit/>
          </a:bodyPr>
          <a:lstStyle/>
          <a:p>
            <a:pPr algn="ctr"/>
            <a:r>
              <a:rPr sz="750" b="1">
                <a:solidFill>
                  <a:srgbClr val="B08B57"/>
                </a:solidFill>
                <a:latin typeface="Calibri"/>
              </a:rPr>
              <a:t>1 : N  (itemId)</a:t>
            </a:r>
          </a:p>
        </p:txBody>
      </p:sp>
      <p:sp>
        <p:nvSpPr>
          <p:cNvPr id="38" name="Rounded Rectangle 37"/>
          <p:cNvSpPr/>
          <p:nvPr/>
        </p:nvSpPr>
        <p:spPr>
          <a:xfrm>
            <a:off x="3474720" y="3639312"/>
            <a:ext cx="2194560" cy="365760"/>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chats</a:t>
            </a:r>
          </a:p>
          <a:p>
            <a:pPr algn="ctr"/>
            <a:r>
              <a:rPr sz="800" b="0">
                <a:solidFill>
                  <a:srgbClr val="4A4A7A"/>
                </a:solidFill>
                <a:latin typeface="Calibri"/>
              </a:rPr>
              <a:t>participants[2], itemId, lastMessage</a:t>
            </a:r>
          </a:p>
        </p:txBody>
      </p:sp>
      <p:sp>
        <p:nvSpPr>
          <p:cNvPr id="39" name="TextBox 38"/>
          <p:cNvSpPr txBox="1"/>
          <p:nvPr/>
        </p:nvSpPr>
        <p:spPr>
          <a:xfrm>
            <a:off x="3474720" y="4041648"/>
            <a:ext cx="2194560" cy="164592"/>
          </a:xfrm>
          <a:prstGeom prst="rect">
            <a:avLst/>
          </a:prstGeom>
          <a:noFill/>
        </p:spPr>
        <p:txBody>
          <a:bodyPr wrap="square" lIns="0" rIns="0" tIns="0" bIns="0" anchor="t">
            <a:spAutoFit/>
          </a:bodyPr>
          <a:lstStyle/>
          <a:p>
            <a:pPr algn="ctr"/>
            <a:r>
              <a:rPr sz="750" b="1">
                <a:solidFill>
                  <a:srgbClr val="B08B57"/>
                </a:solidFill>
                <a:latin typeface="Calibri"/>
              </a:rPr>
              <a:t>1 : N  (sub-collection)</a:t>
            </a:r>
          </a:p>
        </p:txBody>
      </p:sp>
      <p:sp>
        <p:nvSpPr>
          <p:cNvPr id="40" name="Rounded Rectangle 39"/>
          <p:cNvSpPr/>
          <p:nvPr/>
        </p:nvSpPr>
        <p:spPr>
          <a:xfrm>
            <a:off x="3474720" y="4224528"/>
            <a:ext cx="2194560" cy="402336"/>
          </a:xfrm>
          <a:prstGeom prst="roundRect">
            <a:avLst>
              <a:gd name="adj" fmla="val 12000"/>
            </a:avLst>
          </a:prstGeom>
          <a:solidFill>
            <a:srgbClr val="FFFFFF"/>
          </a:solidFill>
          <a:ln w="9525">
            <a:solidFill>
              <a:srgbClr val="D3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000066"/>
                </a:solidFill>
                <a:latin typeface="Calibri"/>
              </a:rPr>
              <a:t>messages</a:t>
            </a:r>
          </a:p>
          <a:p>
            <a:pPr algn="ctr"/>
            <a:r>
              <a:rPr sz="800" b="0">
                <a:solidFill>
                  <a:srgbClr val="4A4A7A"/>
                </a:solidFill>
                <a:latin typeface="Calibri"/>
              </a:rPr>
              <a:t>encrypted text, senderId, timestamp</a:t>
            </a:r>
          </a:p>
        </p:txBody>
      </p:sp>
      <p:sp>
        <p:nvSpPr>
          <p:cNvPr id="41" name="TextBox 40"/>
          <p:cNvSpPr txBox="1"/>
          <p:nvPr/>
        </p:nvSpPr>
        <p:spPr>
          <a:xfrm>
            <a:off x="3474720" y="4754880"/>
            <a:ext cx="2194560" cy="502920"/>
          </a:xfrm>
          <a:prstGeom prst="rect">
            <a:avLst/>
          </a:prstGeom>
          <a:noFill/>
        </p:spPr>
        <p:txBody>
          <a:bodyPr wrap="square" lIns="0" rIns="0" tIns="0" bIns="0" anchor="t">
            <a:spAutoFit/>
          </a:bodyPr>
          <a:lstStyle/>
          <a:p>
            <a:pPr algn="ctr"/>
            <a:r>
              <a:rPr sz="800" b="0">
                <a:solidFill>
                  <a:srgbClr val="4A4A7A"/>
                </a:solidFill>
                <a:latin typeface="Calibri"/>
              </a:rPr>
              <a:t>Firestore is a document store, so links are held as ids. Each chat joins exactly two users and one item.</a:t>
            </a:r>
          </a:p>
        </p:txBody>
      </p:sp>
      <p:pic>
        <p:nvPicPr>
          <p:cNvPr id="42" name="Picture 41" descr="CampusFinder Welcome screen"/>
          <p:cNvPicPr>
            <a:picLocks noChangeAspect="1"/>
          </p:cNvPicPr>
          <p:nvPr/>
        </p:nvPicPr>
        <p:blipFill>
          <a:blip r:embed="rId4"/>
          <a:stretch>
            <a:fillRect/>
          </a:stretch>
        </p:blipFill>
        <p:spPr>
          <a:xfrm>
            <a:off x="6549533" y="1938528"/>
            <a:ext cx="1567910" cy="3401568"/>
          </a:xfrm>
          <a:prstGeom prst="rect">
            <a:avLst/>
          </a:prstGeom>
          <a:ln w="9525">
            <a:solidFill>
              <a:srgbClr val="D3D3E6"/>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Implementation</a:t>
            </a:r>
            <a:endParaRPr lang="en-US" sz="3200" dirty="0"/>
          </a:p>
        </p:txBody>
      </p:sp>
      <p:sp>
        <p:nvSpPr>
          <p:cNvPr id="3" name="Shape 1"/>
          <p:cNvSpPr/>
          <p:nvPr/>
        </p:nvSpPr>
        <p:spPr>
          <a:xfrm>
            <a:off x="548640" y="1874520"/>
            <a:ext cx="2103120" cy="1965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749808" y="2075688"/>
            <a:ext cx="530352" cy="530352"/>
          </a:xfrm>
          <a:prstGeom prst="ellipse">
            <a:avLst/>
          </a:prstGeom>
          <a:solidFill>
            <a:srgbClr val="000066"/>
          </a:solidFill>
          <a:ln w="12700">
            <a:solidFill>
              <a:srgbClr val="000066"/>
            </a:solidFill>
            <a:prstDash val="solid"/>
          </a:ln>
        </p:spPr>
      </p:sp>
      <p:pic>
        <p:nvPicPr>
          <p:cNvPr id="5" name="Image 0" descr="preencoded.png">    </p:cNvPr>
          <p:cNvPicPr>
            <a:picLocks noChangeAspect="1"/>
          </p:cNvPicPr>
          <p:nvPr/>
        </p:nvPicPr>
        <p:blipFill>
          <a:blip r:embed="rId1"/>
          <a:stretch>
            <a:fillRect/>
          </a:stretch>
        </p:blipFill>
        <p:spPr>
          <a:xfrm>
            <a:off x="882396" y="2208276"/>
            <a:ext cx="265176" cy="265176"/>
          </a:xfrm>
          <a:prstGeom prst="rect">
            <a:avLst/>
          </a:prstGeom>
        </p:spPr>
      </p:pic>
      <p:sp>
        <p:nvSpPr>
          <p:cNvPr id="6" name="Text 3"/>
          <p:cNvSpPr txBox="1"/>
          <p:nvPr/>
        </p:nvSpPr>
        <p:spPr>
          <a:xfrm>
            <a:off x="749808" y="2743200"/>
            <a:ext cx="173736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Frontend</a:t>
            </a:r>
            <a:endParaRPr lang="en-US" sz="1500" dirty="0"/>
          </a:p>
        </p:txBody>
      </p:sp>
      <p:sp>
        <p:nvSpPr>
          <p:cNvPr id="7" name="Text 4"/>
          <p:cNvSpPr txBox="1"/>
          <p:nvPr/>
        </p:nvSpPr>
        <p:spPr>
          <a:xfrm>
            <a:off x="749808" y="3090672"/>
            <a:ext cx="1737360" cy="640080"/>
          </a:xfrm>
          <a:prstGeom prst="rect">
            <a:avLst/>
          </a:prstGeom>
          <a:noFill/>
          <a:ln/>
        </p:spPr>
        <p:txBody>
          <a:bodyPr wrap="square" lIns="0" tIns="0" rIns="0" bIns="0" rtlCol="0" anchor="t"/>
          <a:lstStyle/>
          <a:p>
            <a:pPr indent="0" marL="0">
              <a:buNone/>
            </a:pPr>
            <a:r>
              <a:rPr lang="en-US" sz="1200" dirty="0">
                <a:solidFill>
                  <a:srgbClr val="4A4A7A"/>
                </a:solidFill>
                <a:latin typeface="Calibri" pitchFamily="34" charset="0"/>
                <a:ea typeface="Calibri" pitchFamily="34" charset="-122"/>
                <a:cs typeface="Calibri" pitchFamily="34" charset="-120"/>
              </a:rPr>
              <a:t>React Native 0.86, Expo 57, JavaScript, React Navigation 7</a:t>
            </a:r>
            <a:endParaRPr lang="en-US" sz="1200" dirty="0"/>
          </a:p>
        </p:txBody>
      </p:sp>
      <p:sp>
        <p:nvSpPr>
          <p:cNvPr id="8" name="Shape 5"/>
          <p:cNvSpPr/>
          <p:nvPr/>
        </p:nvSpPr>
        <p:spPr>
          <a:xfrm>
            <a:off x="2834640" y="1874520"/>
            <a:ext cx="2103120" cy="1965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9" name="Shape 6"/>
          <p:cNvSpPr/>
          <p:nvPr/>
        </p:nvSpPr>
        <p:spPr>
          <a:xfrm>
            <a:off x="3035808" y="2075688"/>
            <a:ext cx="530352" cy="530352"/>
          </a:xfrm>
          <a:prstGeom prst="ellipse">
            <a:avLst/>
          </a:prstGeom>
          <a:solidFill>
            <a:srgbClr val="000066"/>
          </a:solidFill>
          <a:ln w="12700">
            <a:solidFill>
              <a:srgbClr val="000066"/>
            </a:solidFill>
            <a:prstDash val="solid"/>
          </a:ln>
        </p:spPr>
      </p:sp>
      <p:pic>
        <p:nvPicPr>
          <p:cNvPr id="10" name="Image 1" descr="preencoded.png">    </p:cNvPr>
          <p:cNvPicPr>
            <a:picLocks noChangeAspect="1"/>
          </p:cNvPicPr>
          <p:nvPr/>
        </p:nvPicPr>
        <p:blipFill>
          <a:blip r:embed="rId2"/>
          <a:stretch>
            <a:fillRect/>
          </a:stretch>
        </p:blipFill>
        <p:spPr>
          <a:xfrm>
            <a:off x="3168396" y="2208276"/>
            <a:ext cx="265176" cy="265176"/>
          </a:xfrm>
          <a:prstGeom prst="rect">
            <a:avLst/>
          </a:prstGeom>
        </p:spPr>
      </p:pic>
      <p:sp>
        <p:nvSpPr>
          <p:cNvPr id="11" name="Text 7"/>
          <p:cNvSpPr txBox="1"/>
          <p:nvPr/>
        </p:nvSpPr>
        <p:spPr>
          <a:xfrm>
            <a:off x="3035808" y="2743200"/>
            <a:ext cx="173736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Backend services</a:t>
            </a:r>
            <a:endParaRPr lang="en-US" sz="1500" dirty="0"/>
          </a:p>
        </p:txBody>
      </p:sp>
      <p:sp>
        <p:nvSpPr>
          <p:cNvPr id="12" name="Text 8"/>
          <p:cNvSpPr txBox="1"/>
          <p:nvPr/>
        </p:nvSpPr>
        <p:spPr>
          <a:xfrm>
            <a:off x="3035808" y="3090672"/>
            <a:ext cx="1737360" cy="640080"/>
          </a:xfrm>
          <a:prstGeom prst="rect">
            <a:avLst/>
          </a:prstGeom>
          <a:noFill/>
          <a:ln/>
        </p:spPr>
        <p:txBody>
          <a:bodyPr wrap="square" lIns="0" tIns="0" rIns="0" bIns="0" rtlCol="0" anchor="t"/>
          <a:lstStyle/>
          <a:p>
            <a:pPr indent="0" marL="0">
              <a:buNone/>
            </a:pPr>
            <a:r>
              <a:rPr lang="en-US" sz="1200" dirty="0">
                <a:solidFill>
                  <a:srgbClr val="4A4A7A"/>
                </a:solidFill>
                <a:latin typeface="Calibri" pitchFamily="34" charset="0"/>
                <a:ea typeface="Calibri" pitchFamily="34" charset="-122"/>
                <a:cs typeface="Calibri" pitchFamily="34" charset="-120"/>
              </a:rPr>
              <a:t>Firebase 12: Authentication, Cloud Firestore, security rules</a:t>
            </a:r>
            <a:endParaRPr lang="en-US" sz="1200" dirty="0"/>
          </a:p>
        </p:txBody>
      </p:sp>
      <p:sp>
        <p:nvSpPr>
          <p:cNvPr id="13" name="Shape 9"/>
          <p:cNvSpPr/>
          <p:nvPr/>
        </p:nvSpPr>
        <p:spPr>
          <a:xfrm>
            <a:off x="548640" y="4023360"/>
            <a:ext cx="2103120" cy="1965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4" name="Shape 10"/>
          <p:cNvSpPr/>
          <p:nvPr/>
        </p:nvSpPr>
        <p:spPr>
          <a:xfrm>
            <a:off x="749808" y="4224528"/>
            <a:ext cx="530352" cy="530352"/>
          </a:xfrm>
          <a:prstGeom prst="ellipse">
            <a:avLst/>
          </a:prstGeom>
          <a:solidFill>
            <a:srgbClr val="000066"/>
          </a:solidFill>
          <a:ln w="12700">
            <a:solidFill>
              <a:srgbClr val="000066"/>
            </a:solidFill>
            <a:prstDash val="solid"/>
          </a:ln>
        </p:spPr>
      </p:sp>
      <p:pic>
        <p:nvPicPr>
          <p:cNvPr id="15" name="Image 2" descr="preencoded.png">    </p:cNvPr>
          <p:cNvPicPr>
            <a:picLocks noChangeAspect="1"/>
          </p:cNvPicPr>
          <p:nvPr/>
        </p:nvPicPr>
        <p:blipFill>
          <a:blip r:embed="rId3"/>
          <a:stretch>
            <a:fillRect/>
          </a:stretch>
        </p:blipFill>
        <p:spPr>
          <a:xfrm>
            <a:off x="882396" y="4357116"/>
            <a:ext cx="265176" cy="265176"/>
          </a:xfrm>
          <a:prstGeom prst="rect">
            <a:avLst/>
          </a:prstGeom>
        </p:spPr>
      </p:pic>
      <p:sp>
        <p:nvSpPr>
          <p:cNvPr id="16" name="Text 11"/>
          <p:cNvSpPr txBox="1"/>
          <p:nvPr/>
        </p:nvSpPr>
        <p:spPr>
          <a:xfrm>
            <a:off x="749808" y="4892040"/>
            <a:ext cx="173736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Data &amp; media</a:t>
            </a:r>
            <a:endParaRPr lang="en-US" sz="1500" dirty="0"/>
          </a:p>
        </p:txBody>
      </p:sp>
      <p:sp>
        <p:nvSpPr>
          <p:cNvPr id="17" name="Text 12"/>
          <p:cNvSpPr txBox="1"/>
          <p:nvPr/>
        </p:nvSpPr>
        <p:spPr>
          <a:xfrm>
            <a:off x="749808" y="5239512"/>
            <a:ext cx="1737360" cy="640080"/>
          </a:xfrm>
          <a:prstGeom prst="rect">
            <a:avLst/>
          </a:prstGeom>
          <a:noFill/>
          <a:ln/>
        </p:spPr>
        <p:txBody>
          <a:bodyPr wrap="square" lIns="0" tIns="0" rIns="0" bIns="0" rtlCol="0" anchor="t"/>
          <a:lstStyle/>
          <a:p>
            <a:pPr indent="0" marL="0">
              <a:buNone/>
            </a:pPr>
            <a:r>
              <a:rPr lang="en-US" sz="1200" dirty="0">
                <a:solidFill>
                  <a:srgbClr val="4A4A7A"/>
                </a:solidFill>
                <a:latin typeface="Calibri" pitchFamily="34" charset="0"/>
                <a:ea typeface="Calibri" pitchFamily="34" charset="-122"/>
                <a:cs typeface="Calibri" pitchFamily="34" charset="-120"/>
              </a:rPr>
              <a:t>Firestore documents; item photos on Cloudinary</a:t>
            </a:r>
            <a:endParaRPr lang="en-US" sz="1200" dirty="0"/>
          </a:p>
        </p:txBody>
      </p:sp>
      <p:sp>
        <p:nvSpPr>
          <p:cNvPr id="18" name="Shape 13"/>
          <p:cNvSpPr/>
          <p:nvPr/>
        </p:nvSpPr>
        <p:spPr>
          <a:xfrm>
            <a:off x="2834640" y="4023360"/>
            <a:ext cx="2103120" cy="1965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9" name="Shape 14"/>
          <p:cNvSpPr/>
          <p:nvPr/>
        </p:nvSpPr>
        <p:spPr>
          <a:xfrm>
            <a:off x="3035808" y="4224528"/>
            <a:ext cx="530352" cy="530352"/>
          </a:xfrm>
          <a:prstGeom prst="ellipse">
            <a:avLst/>
          </a:prstGeom>
          <a:solidFill>
            <a:srgbClr val="000066"/>
          </a:solidFill>
          <a:ln w="12700">
            <a:solidFill>
              <a:srgbClr val="000066"/>
            </a:solidFill>
            <a:prstDash val="solid"/>
          </a:ln>
        </p:spPr>
      </p:sp>
      <p:pic>
        <p:nvPicPr>
          <p:cNvPr id="20" name="Image 3" descr="preencoded.png">    </p:cNvPr>
          <p:cNvPicPr>
            <a:picLocks noChangeAspect="1"/>
          </p:cNvPicPr>
          <p:nvPr/>
        </p:nvPicPr>
        <p:blipFill>
          <a:blip r:embed="rId4"/>
          <a:stretch>
            <a:fillRect/>
          </a:stretch>
        </p:blipFill>
        <p:spPr>
          <a:xfrm>
            <a:off x="3168396" y="4357116"/>
            <a:ext cx="265176" cy="265176"/>
          </a:xfrm>
          <a:prstGeom prst="rect">
            <a:avLst/>
          </a:prstGeom>
        </p:spPr>
      </p:pic>
      <p:sp>
        <p:nvSpPr>
          <p:cNvPr id="21" name="Text 15"/>
          <p:cNvSpPr txBox="1"/>
          <p:nvPr/>
        </p:nvSpPr>
        <p:spPr>
          <a:xfrm>
            <a:off x="3035808" y="4892040"/>
            <a:ext cx="1737360" cy="347472"/>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Tools &amp; libraries</a:t>
            </a:r>
            <a:endParaRPr lang="en-US" sz="1500" dirty="0"/>
          </a:p>
        </p:txBody>
      </p:sp>
      <p:sp>
        <p:nvSpPr>
          <p:cNvPr id="22" name="Text 16"/>
          <p:cNvSpPr txBox="1"/>
          <p:nvPr/>
        </p:nvSpPr>
        <p:spPr>
          <a:xfrm>
            <a:off x="3035808" y="5239512"/>
            <a:ext cx="1737360" cy="640080"/>
          </a:xfrm>
          <a:prstGeom prst="rect">
            <a:avLst/>
          </a:prstGeom>
          <a:noFill/>
          <a:ln/>
        </p:spPr>
        <p:txBody>
          <a:bodyPr wrap="square" lIns="0" tIns="0" rIns="0" bIns="0" rtlCol="0" anchor="t"/>
          <a:lstStyle/>
          <a:p>
            <a:pPr indent="0" marL="0">
              <a:buNone/>
            </a:pPr>
            <a:r>
              <a:rPr lang="en-US" sz="1200" dirty="0">
                <a:solidFill>
                  <a:srgbClr val="4A4A7A"/>
                </a:solidFill>
                <a:latin typeface="Calibri" pitchFamily="34" charset="0"/>
                <a:ea typeface="Calibri" pitchFamily="34" charset="-122"/>
                <a:cs typeface="Calibri" pitchFamily="34" charset="-120"/>
              </a:rPr>
              <a:t>Git, Expo Go, crypto-js, Lucide icons, expo-image-picker</a:t>
            </a:r>
            <a:endParaRPr lang="en-US" sz="1200" dirty="0"/>
          </a:p>
        </p:txBody>
      </p:sp>
      <p:sp>
        <p:nvSpPr>
          <p:cNvPr id="23" name="Shape 17"/>
          <p:cNvSpPr/>
          <p:nvPr/>
        </p:nvSpPr>
        <p:spPr>
          <a:xfrm>
            <a:off x="5303520" y="1874520"/>
            <a:ext cx="3291840" cy="4114800"/>
          </a:xfrm>
          <a:prstGeom prst="rect">
            <a:avLst/>
          </a:prstGeom>
          <a:solidFill>
            <a:srgbClr val="FFFFFF"/>
          </a:solidFill>
          <a:ln w="9525">
            <a:solidFill>
              <a:srgbClr val="D3D3E6"/>
            </a:solidFill>
            <a:prstDash val="solid"/>
          </a:ln>
        </p:spPr>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12</a:t>
            </a:fld>
            <a:endParaRPr lang="en-US"/>
          </a:p>
        </p:txBody>
      </p:sp>
      <p:pic>
        <p:nvPicPr>
          <p:cNvPr id="26" name="Picture 25" descr="CampusFinder Sign up screen"/>
          <p:cNvPicPr>
            <a:picLocks noChangeAspect="1"/>
          </p:cNvPicPr>
          <p:nvPr/>
        </p:nvPicPr>
        <p:blipFill>
          <a:blip r:embed="rId9"/>
          <a:stretch>
            <a:fillRect/>
          </a:stretch>
        </p:blipFill>
        <p:spPr>
          <a:xfrm>
            <a:off x="5497030" y="2148840"/>
            <a:ext cx="1416177" cy="3072384"/>
          </a:xfrm>
          <a:prstGeom prst="rect">
            <a:avLst/>
          </a:prstGeom>
          <a:ln w="9525">
            <a:solidFill>
              <a:srgbClr val="D3D3E6"/>
            </a:solidFill>
          </a:ln>
        </p:spPr>
      </p:pic>
      <p:pic>
        <p:nvPicPr>
          <p:cNvPr id="27" name="Picture 26" descr="CampusFinder Log in screen"/>
          <p:cNvPicPr>
            <a:picLocks noChangeAspect="1"/>
          </p:cNvPicPr>
          <p:nvPr/>
        </p:nvPicPr>
        <p:blipFill>
          <a:blip r:embed="rId10"/>
          <a:stretch>
            <a:fillRect/>
          </a:stretch>
        </p:blipFill>
        <p:spPr>
          <a:xfrm>
            <a:off x="6987502" y="2148840"/>
            <a:ext cx="1416177" cy="3072384"/>
          </a:xfrm>
          <a:prstGeom prst="rect">
            <a:avLst/>
          </a:prstGeom>
          <a:ln w="9525">
            <a:solidFill>
              <a:srgbClr val="D3D3E6"/>
            </a:solidFill>
          </a:ln>
        </p:spPr>
      </p:pic>
      <p:sp>
        <p:nvSpPr>
          <p:cNvPr id="28" name="TextBox 27"/>
          <p:cNvSpPr txBox="1"/>
          <p:nvPr/>
        </p:nvSpPr>
        <p:spPr>
          <a:xfrm>
            <a:off x="5394960" y="5349240"/>
            <a:ext cx="3108960" cy="457200"/>
          </a:xfrm>
          <a:prstGeom prst="rect">
            <a:avLst/>
          </a:prstGeom>
          <a:noFill/>
        </p:spPr>
        <p:txBody>
          <a:bodyPr wrap="square" lIns="0" rIns="0" tIns="0" bIns="0" anchor="t">
            <a:spAutoFit/>
          </a:bodyPr>
          <a:lstStyle/>
          <a:p>
            <a:pPr algn="ctr"/>
            <a:r>
              <a:rPr sz="950" b="0">
                <a:solidFill>
                  <a:srgbClr val="4A4A7A"/>
                </a:solidFill>
                <a:latin typeface="Calibri"/>
              </a:rPr>
              <a:t>Sign up and Log in: one screen with a sliding tab, captured on a phone through Expo Go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Implementation: Reporting and Browsing</a:t>
            </a:r>
            <a:endParaRPr lang="en-US" sz="3200" dirty="0"/>
          </a:p>
        </p:txBody>
      </p:sp>
      <p:sp>
        <p:nvSpPr>
          <p:cNvPr id="101" name="Text 101"/>
          <p:cNvSpPr txBox="1"/>
          <p:nvPr/>
        </p:nvSpPr>
        <p:spPr>
          <a:xfrm>
            <a:off x="548640" y="5870448"/>
            <a:ext cx="8046720" cy="274320"/>
          </a:xfrm>
          <a:prstGeom prst="rect">
            <a:avLst/>
          </a:prstGeom>
          <a:noFill/>
          <a:ln>
            <a:noFill/>
          </a:ln>
        </p:spPr>
        <p:txBody>
          <a:bodyPr wrap="square" lIns="0" tIns="0" rIns="0" bIns="0" rtlCol="0" anchor="t"/>
          <a:lstStyle/>
          <a:p>
            <a:pPr marL="0" indent="0" algn="ctr">
              <a:buNone/>
            </a:pPr>
            <a:r>
              <a:rPr lang="en-US" sz="950" b="0" i="1" dirty="0">
                <a:solidFill>
                  <a:srgbClr val="4A4A7A"/>
                </a:solidFill>
                <a:latin typeface="Calibri" pitchFamily="34" charset="0"/>
                <a:ea typeface="Calibri" pitchFamily="34" charset="-122"/>
                <a:cs typeface="Calibri" pitchFamily="34" charset="-120"/>
              </a:rPr>
              <a:t>Screenshots from the current build, captured on a phone through Expo Go with test data.</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12</a:t>
            </a:fld>
            <a:endParaRPr lang="en-US"/>
          </a:p>
        </p:txBody>
      </p:sp>
      <p:pic>
        <p:nvPicPr>
          <p:cNvPr id="26" name="Picture 25" descr="CampusFinder Browse screen"/>
          <p:cNvPicPr>
            <a:picLocks noChangeAspect="1"/>
          </p:cNvPicPr>
          <p:nvPr/>
        </p:nvPicPr>
        <p:blipFill>
          <a:blip r:embed="rId7"/>
          <a:stretch>
            <a:fillRect/>
          </a:stretch>
        </p:blipFill>
        <p:spPr>
          <a:xfrm>
            <a:off x="890076" y="1874519"/>
            <a:ext cx="1664850" cy="3611880"/>
          </a:xfrm>
          <a:prstGeom prst="rect">
            <a:avLst/>
          </a:prstGeom>
          <a:ln w="9525">
            <a:solidFill>
              <a:srgbClr val="D3D3E6"/>
            </a:solidFill>
          </a:ln>
        </p:spPr>
      </p:pic>
      <p:sp>
        <p:nvSpPr>
          <p:cNvPr id="27" name="TextBox 26"/>
          <p:cNvSpPr txBox="1"/>
          <p:nvPr/>
        </p:nvSpPr>
        <p:spPr>
          <a:xfrm>
            <a:off x="836676" y="5577840"/>
            <a:ext cx="1773936" cy="411480"/>
          </a:xfrm>
          <a:prstGeom prst="rect">
            <a:avLst/>
          </a:prstGeom>
          <a:noFill/>
        </p:spPr>
        <p:txBody>
          <a:bodyPr wrap="square" lIns="0" rIns="0" tIns="0" bIns="0">
            <a:spAutoFit/>
          </a:bodyPr>
          <a:lstStyle/>
          <a:p>
            <a:pPr algn="ctr"/>
            <a:r>
              <a:rPr sz="950">
                <a:solidFill>
                  <a:srgbClr val="4A4A7A"/>
                </a:solidFill>
                <a:latin typeface="Calibri"/>
              </a:rPr>
              <a:t>Browse: live counts, search, filters</a:t>
            </a:r>
          </a:p>
        </p:txBody>
      </p:sp>
      <p:pic>
        <p:nvPicPr>
          <p:cNvPr id="28" name="Picture 27" descr="CampusFinder Report an Item screen, top"/>
          <p:cNvPicPr>
            <a:picLocks noChangeAspect="1"/>
          </p:cNvPicPr>
          <p:nvPr/>
        </p:nvPicPr>
        <p:blipFill>
          <a:blip r:embed="rId8"/>
          <a:stretch>
            <a:fillRect/>
          </a:stretch>
        </p:blipFill>
        <p:spPr>
          <a:xfrm>
            <a:off x="2787456" y="1874519"/>
            <a:ext cx="1664850" cy="3611880"/>
          </a:xfrm>
          <a:prstGeom prst="rect">
            <a:avLst/>
          </a:prstGeom>
          <a:ln w="9525">
            <a:solidFill>
              <a:srgbClr val="D3D3E6"/>
            </a:solidFill>
          </a:ln>
        </p:spPr>
      </p:pic>
      <p:sp>
        <p:nvSpPr>
          <p:cNvPr id="29" name="TextBox 28"/>
          <p:cNvSpPr txBox="1"/>
          <p:nvPr/>
        </p:nvSpPr>
        <p:spPr>
          <a:xfrm>
            <a:off x="2734056" y="5577840"/>
            <a:ext cx="1773936" cy="411480"/>
          </a:xfrm>
          <a:prstGeom prst="rect">
            <a:avLst/>
          </a:prstGeom>
          <a:noFill/>
        </p:spPr>
        <p:txBody>
          <a:bodyPr wrap="square" lIns="0" rIns="0" tIns="0" bIns="0">
            <a:spAutoFit/>
          </a:bodyPr>
          <a:lstStyle/>
          <a:p>
            <a:pPr algn="ctr"/>
            <a:r>
              <a:rPr sz="950">
                <a:solidFill>
                  <a:srgbClr val="4A4A7A"/>
                </a:solidFill>
                <a:latin typeface="Calibri"/>
              </a:rPr>
              <a:t>Report: type, name, description</a:t>
            </a:r>
          </a:p>
        </p:txBody>
      </p:sp>
      <p:pic>
        <p:nvPicPr>
          <p:cNvPr id="30" name="Picture 29" descr="CampusFinder Report an Item screen, lower part"/>
          <p:cNvPicPr>
            <a:picLocks noChangeAspect="1"/>
          </p:cNvPicPr>
          <p:nvPr/>
        </p:nvPicPr>
        <p:blipFill>
          <a:blip r:embed="rId9"/>
          <a:stretch>
            <a:fillRect/>
          </a:stretch>
        </p:blipFill>
        <p:spPr>
          <a:xfrm>
            <a:off x="4689408" y="1874519"/>
            <a:ext cx="1664850" cy="3611880"/>
          </a:xfrm>
          <a:prstGeom prst="rect">
            <a:avLst/>
          </a:prstGeom>
          <a:ln w="9525">
            <a:solidFill>
              <a:srgbClr val="D3D3E6"/>
            </a:solidFill>
          </a:ln>
        </p:spPr>
      </p:pic>
      <p:sp>
        <p:nvSpPr>
          <p:cNvPr id="31" name="TextBox 30"/>
          <p:cNvSpPr txBox="1"/>
          <p:nvPr/>
        </p:nvSpPr>
        <p:spPr>
          <a:xfrm>
            <a:off x="4636008" y="5577840"/>
            <a:ext cx="1773936" cy="411480"/>
          </a:xfrm>
          <a:prstGeom prst="rect">
            <a:avLst/>
          </a:prstGeom>
          <a:noFill/>
        </p:spPr>
        <p:txBody>
          <a:bodyPr wrap="square" lIns="0" rIns="0" tIns="0" bIns="0">
            <a:spAutoFit/>
          </a:bodyPr>
          <a:lstStyle/>
          <a:p>
            <a:pPr algn="ctr"/>
            <a:r>
              <a:rPr sz="950">
                <a:solidFill>
                  <a:srgbClr val="4A4A7A"/>
                </a:solidFill>
                <a:latin typeface="Calibri"/>
              </a:rPr>
              <a:t>Report: photo options and submit</a:t>
            </a:r>
          </a:p>
        </p:txBody>
      </p:sp>
      <p:pic>
        <p:nvPicPr>
          <p:cNvPr id="32" name="Picture 31" descr="CampusFinder Item Details screen"/>
          <p:cNvPicPr>
            <a:picLocks noChangeAspect="1"/>
          </p:cNvPicPr>
          <p:nvPr/>
        </p:nvPicPr>
        <p:blipFill>
          <a:blip r:embed="rId10"/>
          <a:stretch>
            <a:fillRect/>
          </a:stretch>
        </p:blipFill>
        <p:spPr>
          <a:xfrm>
            <a:off x="6582216" y="1874519"/>
            <a:ext cx="1664850" cy="3611880"/>
          </a:xfrm>
          <a:prstGeom prst="rect">
            <a:avLst/>
          </a:prstGeom>
          <a:ln w="9525">
            <a:solidFill>
              <a:srgbClr val="D3D3E6"/>
            </a:solidFill>
          </a:ln>
        </p:spPr>
      </p:pic>
      <p:sp>
        <p:nvSpPr>
          <p:cNvPr id="33" name="TextBox 32"/>
          <p:cNvSpPr txBox="1"/>
          <p:nvPr/>
        </p:nvSpPr>
        <p:spPr>
          <a:xfrm>
            <a:off x="6528816" y="5577840"/>
            <a:ext cx="1773936" cy="411480"/>
          </a:xfrm>
          <a:prstGeom prst="rect">
            <a:avLst/>
          </a:prstGeom>
          <a:noFill/>
        </p:spPr>
        <p:txBody>
          <a:bodyPr wrap="square" lIns="0" rIns="0" tIns="0" bIns="0">
            <a:spAutoFit/>
          </a:bodyPr>
          <a:lstStyle/>
          <a:p>
            <a:pPr algn="ctr"/>
            <a:r>
              <a:rPr sz="950">
                <a:solidFill>
                  <a:srgbClr val="4A4A7A"/>
                </a:solidFill>
                <a:latin typeface="Calibri"/>
              </a:rPr>
              <a:t>Details: start a secure chat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From Report to Reunion</a:t>
            </a:r>
            <a:endParaRPr lang="en-US" sz="3200" dirty="0"/>
          </a:p>
        </p:txBody>
      </p:sp>
      <p:sp>
        <p:nvSpPr>
          <p:cNvPr id="123" name="Shape 123"/>
          <p:cNvSpPr/>
          <p:nvPr/>
        </p:nvSpPr>
        <p:spPr>
          <a:xfrm>
            <a:off x="548640" y="1874520"/>
            <a:ext cx="1325880" cy="420624"/>
          </a:xfrm>
          <a:prstGeom prst="roundRect">
            <a:avLst>
              <a:gd name="adj" fmla="val 50000"/>
            </a:avLst>
          </a:prstGeom>
          <a:solidFill>
            <a:srgbClr val="FFFFFF"/>
          </a:solidFill>
          <a:ln w="12700">
            <a:solidFill>
              <a:srgbClr val="000066"/>
            </a:solidFill>
            <a:prstDash val="solid"/>
          </a:ln>
        </p:spPr>
        <p:txBody>
          <a:bodyPr wrap="square" lIns="27432" tIns="0" rIns="27432" bIns="0" rtlCol="0" anchor="ctr"/>
          <a:lstStyle/>
          <a:p>
            <a:pPr marL="0" indent="0" algn="ctr">
              <a:buNone/>
            </a:pPr>
            <a:r>
              <a:rPr lang="en-US" sz="1150" b="1" i="0" dirty="0">
                <a:solidFill>
                  <a:srgbClr val="000066"/>
                </a:solidFill>
                <a:latin typeface="Calibri" pitchFamily="34" charset="0"/>
                <a:ea typeface="Calibri" pitchFamily="34" charset="-122"/>
                <a:cs typeface="Calibri" pitchFamily="34" charset="-120"/>
              </a:rPr>
              <a:t>reported</a:t>
            </a:r>
            <a:endParaRPr lang="en-US" sz="1200" dirty="0"/>
          </a:p>
        </p:txBody>
      </p:sp>
      <p:sp>
        <p:nvSpPr>
          <p:cNvPr id="124" name="Text 124"/>
          <p:cNvSpPr txBox="1"/>
          <p:nvPr/>
        </p:nvSpPr>
        <p:spPr>
          <a:xfrm>
            <a:off x="548640" y="2377440"/>
            <a:ext cx="1325880" cy="45720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Finder or owner submits a report, photo optional</a:t>
            </a:r>
            <a:endParaRPr lang="en-US" sz="1200" dirty="0"/>
          </a:p>
        </p:txBody>
      </p:sp>
      <p:cxnSp>
        <p:nvCxnSpPr>
          <p:cNvPr id="125" name="Connector 125"/>
          <p:cNvCxnSpPr/>
          <p:nvPr/>
        </p:nvCxnSpPr>
        <p:spPr>
          <a:xfrm>
            <a:off x="1920240" y="2084832"/>
            <a:ext cx="262890" cy="0"/>
          </a:xfrm>
          <a:prstGeom prst="straightConnector1">
            <a:avLst/>
          </a:prstGeom>
          <a:ln w="19050">
            <a:solidFill>
              <a:srgbClr val="B08B57"/>
            </a:solidFill>
            <a:tailEnd type="triangle" w="med" len="med"/>
          </a:ln>
        </p:spPr>
      </p:cxnSp>
      <p:sp>
        <p:nvSpPr>
          <p:cNvPr id="126" name="Shape 126"/>
          <p:cNvSpPr/>
          <p:nvPr/>
        </p:nvSpPr>
        <p:spPr>
          <a:xfrm>
            <a:off x="2228850" y="1874520"/>
            <a:ext cx="1325880" cy="420624"/>
          </a:xfrm>
          <a:prstGeom prst="roundRect">
            <a:avLst>
              <a:gd name="adj" fmla="val 50000"/>
            </a:avLst>
          </a:prstGeom>
          <a:solidFill>
            <a:srgbClr val="B08B57"/>
          </a:solidFill>
          <a:ln w="12700">
            <a:solidFill>
              <a:srgbClr val="B08B57"/>
            </a:solidFill>
            <a:prstDash val="solid"/>
          </a:ln>
        </p:spPr>
        <p:txBody>
          <a:bodyPr wrap="square" lIns="27432" tIns="0" rIns="27432" bIns="0" rtlCol="0" anchor="ctr"/>
          <a:lstStyle/>
          <a:p>
            <a:pPr marL="0" indent="0" algn="ctr">
              <a:buNone/>
            </a:pPr>
            <a:r>
              <a:rPr lang="en-US" sz="1150" b="1" i="0" dirty="0">
                <a:solidFill>
                  <a:srgbClr val="FFFFFF"/>
                </a:solidFill>
                <a:latin typeface="Calibri" pitchFamily="34" charset="0"/>
                <a:ea typeface="Calibri" pitchFamily="34" charset="-122"/>
                <a:cs typeface="Calibri" pitchFamily="34" charset="-120"/>
              </a:rPr>
              <a:t>listed</a:t>
            </a:r>
            <a:endParaRPr lang="en-US" sz="1200" dirty="0"/>
          </a:p>
        </p:txBody>
      </p:sp>
      <p:sp>
        <p:nvSpPr>
          <p:cNvPr id="127" name="Text 127"/>
          <p:cNvSpPr txBox="1"/>
          <p:nvPr/>
        </p:nvSpPr>
        <p:spPr>
          <a:xfrm>
            <a:off x="2228850" y="2377440"/>
            <a:ext cx="1325880" cy="45720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It appears on every Browse list in real time</a:t>
            </a:r>
            <a:endParaRPr lang="en-US" sz="1200" dirty="0"/>
          </a:p>
        </p:txBody>
      </p:sp>
      <p:cxnSp>
        <p:nvCxnSpPr>
          <p:cNvPr id="128" name="Connector 128"/>
          <p:cNvCxnSpPr/>
          <p:nvPr/>
        </p:nvCxnSpPr>
        <p:spPr>
          <a:xfrm>
            <a:off x="3600450" y="2084832"/>
            <a:ext cx="262890" cy="0"/>
          </a:xfrm>
          <a:prstGeom prst="straightConnector1">
            <a:avLst/>
          </a:prstGeom>
          <a:ln w="19050">
            <a:solidFill>
              <a:srgbClr val="B08B57"/>
            </a:solidFill>
            <a:tailEnd type="triangle" w="med" len="med"/>
          </a:ln>
        </p:spPr>
      </p:cxnSp>
      <p:sp>
        <p:nvSpPr>
          <p:cNvPr id="129" name="Shape 129"/>
          <p:cNvSpPr/>
          <p:nvPr/>
        </p:nvSpPr>
        <p:spPr>
          <a:xfrm>
            <a:off x="3909060" y="1874520"/>
            <a:ext cx="1325880" cy="420624"/>
          </a:xfrm>
          <a:prstGeom prst="roundRect">
            <a:avLst>
              <a:gd name="adj" fmla="val 50000"/>
            </a:avLst>
          </a:prstGeom>
          <a:solidFill>
            <a:srgbClr val="000066"/>
          </a:solidFill>
          <a:ln w="12700">
            <a:solidFill>
              <a:srgbClr val="000066"/>
            </a:solidFill>
            <a:prstDash val="solid"/>
          </a:ln>
        </p:spPr>
        <p:txBody>
          <a:bodyPr wrap="square" lIns="27432" tIns="0" rIns="27432" bIns="0" rtlCol="0" anchor="ctr"/>
          <a:lstStyle/>
          <a:p>
            <a:pPr marL="0" indent="0" algn="ctr">
              <a:buNone/>
            </a:pPr>
            <a:r>
              <a:rPr lang="en-US" sz="1150" b="1" i="0" dirty="0">
                <a:solidFill>
                  <a:srgbClr val="FFFFFF"/>
                </a:solidFill>
                <a:latin typeface="Calibri" pitchFamily="34" charset="0"/>
                <a:ea typeface="Calibri" pitchFamily="34" charset="-122"/>
                <a:cs typeface="Calibri" pitchFamily="34" charset="-120"/>
              </a:rPr>
              <a:t>matched</a:t>
            </a:r>
            <a:endParaRPr lang="en-US" sz="1200" dirty="0"/>
          </a:p>
        </p:txBody>
      </p:sp>
      <p:sp>
        <p:nvSpPr>
          <p:cNvPr id="130" name="Text 130"/>
          <p:cNvSpPr txBox="1"/>
          <p:nvPr/>
        </p:nvSpPr>
        <p:spPr>
          <a:xfrm>
            <a:off x="3909060" y="2377440"/>
            <a:ext cx="1325880" cy="45720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The other student finds it by search or filter</a:t>
            </a:r>
            <a:endParaRPr lang="en-US" sz="1200" dirty="0"/>
          </a:p>
        </p:txBody>
      </p:sp>
      <p:cxnSp>
        <p:nvCxnSpPr>
          <p:cNvPr id="131" name="Connector 131"/>
          <p:cNvCxnSpPr/>
          <p:nvPr/>
        </p:nvCxnSpPr>
        <p:spPr>
          <a:xfrm>
            <a:off x="5280660" y="2084832"/>
            <a:ext cx="262890" cy="0"/>
          </a:xfrm>
          <a:prstGeom prst="straightConnector1">
            <a:avLst/>
          </a:prstGeom>
          <a:ln w="19050">
            <a:solidFill>
              <a:srgbClr val="B08B57"/>
            </a:solidFill>
            <a:tailEnd type="triangle" w="med" len="med"/>
          </a:ln>
        </p:spPr>
      </p:cxnSp>
      <p:sp>
        <p:nvSpPr>
          <p:cNvPr id="132" name="Shape 132"/>
          <p:cNvSpPr/>
          <p:nvPr/>
        </p:nvSpPr>
        <p:spPr>
          <a:xfrm>
            <a:off x="5589270" y="1874520"/>
            <a:ext cx="1325880" cy="420624"/>
          </a:xfrm>
          <a:prstGeom prst="roundRect">
            <a:avLst>
              <a:gd name="adj" fmla="val 50000"/>
            </a:avLst>
          </a:prstGeom>
          <a:solidFill>
            <a:srgbClr val="000066"/>
          </a:solidFill>
          <a:ln w="12700">
            <a:solidFill>
              <a:srgbClr val="000066"/>
            </a:solidFill>
            <a:prstDash val="solid"/>
          </a:ln>
        </p:spPr>
        <p:txBody>
          <a:bodyPr wrap="square" lIns="27432" tIns="0" rIns="27432" bIns="0" rtlCol="0" anchor="ctr"/>
          <a:lstStyle/>
          <a:p>
            <a:pPr marL="0" indent="0" algn="ctr">
              <a:buNone/>
            </a:pPr>
            <a:r>
              <a:rPr lang="en-US" sz="1150" b="1" i="0" dirty="0">
                <a:solidFill>
                  <a:srgbClr val="FFFFFF"/>
                </a:solidFill>
                <a:latin typeface="Calibri" pitchFamily="34" charset="0"/>
                <a:ea typeface="Calibri" pitchFamily="34" charset="-122"/>
                <a:cs typeface="Calibri" pitchFamily="34" charset="-120"/>
              </a:rPr>
              <a:t>in chat</a:t>
            </a:r>
            <a:endParaRPr lang="en-US" sz="1200" dirty="0"/>
          </a:p>
        </p:txBody>
      </p:sp>
      <p:sp>
        <p:nvSpPr>
          <p:cNvPr id="133" name="Text 133"/>
          <p:cNvSpPr txBox="1"/>
          <p:nvPr/>
        </p:nvSpPr>
        <p:spPr>
          <a:xfrm>
            <a:off x="5589270" y="2377440"/>
            <a:ext cx="1325880" cy="45720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They open Details and start a private chat</a:t>
            </a:r>
            <a:endParaRPr lang="en-US" sz="1200" dirty="0"/>
          </a:p>
        </p:txBody>
      </p:sp>
      <p:cxnSp>
        <p:nvCxnSpPr>
          <p:cNvPr id="134" name="Connector 134"/>
          <p:cNvCxnSpPr/>
          <p:nvPr/>
        </p:nvCxnSpPr>
        <p:spPr>
          <a:xfrm>
            <a:off x="6960870" y="2084832"/>
            <a:ext cx="262890" cy="0"/>
          </a:xfrm>
          <a:prstGeom prst="straightConnector1">
            <a:avLst/>
          </a:prstGeom>
          <a:ln w="19050">
            <a:solidFill>
              <a:srgbClr val="B08B57"/>
            </a:solidFill>
            <a:tailEnd type="triangle" w="med" len="med"/>
          </a:ln>
        </p:spPr>
      </p:cxnSp>
      <p:sp>
        <p:nvSpPr>
          <p:cNvPr id="135" name="Shape 135"/>
          <p:cNvSpPr/>
          <p:nvPr/>
        </p:nvSpPr>
        <p:spPr>
          <a:xfrm>
            <a:off x="7269480" y="1874520"/>
            <a:ext cx="1325880" cy="420624"/>
          </a:xfrm>
          <a:prstGeom prst="roundRect">
            <a:avLst>
              <a:gd name="adj" fmla="val 50000"/>
            </a:avLst>
          </a:prstGeom>
          <a:solidFill>
            <a:srgbClr val="000066"/>
          </a:solidFill>
          <a:ln w="12700">
            <a:solidFill>
              <a:srgbClr val="000066"/>
            </a:solidFill>
            <a:prstDash val="solid"/>
          </a:ln>
        </p:spPr>
        <p:txBody>
          <a:bodyPr wrap="square" lIns="27432" tIns="0" rIns="27432" bIns="0" rtlCol="0" anchor="ctr"/>
          <a:lstStyle/>
          <a:p>
            <a:pPr marL="0" indent="0" algn="ctr">
              <a:buNone/>
            </a:pPr>
            <a:r>
              <a:rPr lang="en-US" sz="1150" b="1" i="0" dirty="0">
                <a:solidFill>
                  <a:srgbClr val="FFFFFF"/>
                </a:solidFill>
                <a:latin typeface="Calibri" pitchFamily="34" charset="0"/>
                <a:ea typeface="Calibri" pitchFamily="34" charset="-122"/>
                <a:cs typeface="Calibri" pitchFamily="34" charset="-120"/>
              </a:rPr>
              <a:t>handed over</a:t>
            </a:r>
            <a:endParaRPr lang="en-US" sz="1200" dirty="0"/>
          </a:p>
        </p:txBody>
      </p:sp>
      <p:sp>
        <p:nvSpPr>
          <p:cNvPr id="136" name="Text 136"/>
          <p:cNvSpPr txBox="1"/>
          <p:nvPr/>
        </p:nvSpPr>
        <p:spPr>
          <a:xfrm>
            <a:off x="7269480" y="2377440"/>
            <a:ext cx="1325880" cy="45720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They agree a public place on campus and meet</a:t>
            </a:r>
            <a:endParaRPr lang="en-US" sz="1200" dirty="0"/>
          </a:p>
        </p:txBody>
      </p:sp>
      <p:sp>
        <p:nvSpPr>
          <p:cNvPr id="137" name="Shape 137"/>
          <p:cNvSpPr/>
          <p:nvPr/>
        </p:nvSpPr>
        <p:spPr>
          <a:xfrm>
            <a:off x="548640" y="2907792"/>
            <a:ext cx="8046720" cy="329184"/>
          </a:xfrm>
          <a:prstGeom prst="roundRect">
            <a:avLst>
              <a:gd name="adj" fmla="val 30000"/>
            </a:avLst>
          </a:prstGeom>
          <a:solidFill>
            <a:srgbClr val="F3ECDF"/>
          </a:solidFill>
          <a:ln>
            <a:noFill/>
          </a:ln>
        </p:spPr>
        <p:txBody>
          <a:bodyPr wrap="square" lIns="137160" tIns="0" rIns="137160" bIns="0" rtlCol="0" anchor="ctr"/>
          <a:lstStyle/>
          <a:p>
            <a:pPr marL="0" indent="0" algn="l">
              <a:buNone/>
            </a:pPr>
            <a:r>
              <a:rPr lang="en-US" sz="1050" b="1" i="0" dirty="0">
                <a:solidFill>
                  <a:srgbClr val="000066"/>
                </a:solidFill>
                <a:latin typeface="Calibri" pitchFamily="34" charset="0"/>
                <a:ea typeface="Calibri" pitchFamily="34" charset="-122"/>
                <a:cs typeface="Calibri" pitchFamily="34" charset="-120"/>
              </a:rPr>
              <a:t>Not built yet: a claim step, proof of ownership and a Returned status</a:t>
            </a:r>
            <a:r>
              <a:rPr lang="en-US" sz="1050" b="0" i="0" dirty="0">
                <a:solidFill>
                  <a:srgbClr val="4A4A7A"/>
                </a:solidFill>
                <a:latin typeface="Calibri" pitchFamily="34" charset="0"/>
                <a:ea typeface="Calibri" pitchFamily="34" charset="-122"/>
                <a:cs typeface="Calibri" pitchFamily="34" charset="-120"/>
              </a:rPr>
              <a:t xml:space="preserve">      ·      ownership is settled in the chat</a:t>
            </a:r>
            <a:endParaRPr lang="en-US" sz="1200" dirty="0"/>
          </a:p>
        </p:txBody>
      </p:sp>
      <p:sp>
        <p:nvSpPr>
          <p:cNvPr id="138" name="Shape 138"/>
          <p:cNvSpPr/>
          <p:nvPr/>
        </p:nvSpPr>
        <p:spPr>
          <a:xfrm>
            <a:off x="548640" y="3401568"/>
            <a:ext cx="8046720" cy="228600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txBody>
          <a:bodyPr wrap="square" lIns="182880" tIns="137160" rIns="182880" bIns="91440" rtlCol="0" anchor="t"/>
          <a:lstStyle/>
          <a:p>
            <a:pPr marL="0" indent="0" algn="l">
              <a:spcAft>
                <a:spcPts val="500"/>
              </a:spcAft>
              <a:buNone/>
            </a:pPr>
            <a:r>
              <a:rPr lang="en-US" sz="1000" b="1" i="0" dirty="0">
                <a:solidFill>
                  <a:srgbClr val="B08B57"/>
                </a:solidFill>
                <a:latin typeface="Calibri" pitchFamily="34" charset="0"/>
                <a:ea typeface="Calibri" pitchFamily="34" charset="-122"/>
                <a:cs typeface="Calibri" pitchFamily="34" charset="-120"/>
              </a:rPr>
              <a:t>WHAT THE CODE ENFORCES ALONG THE WAY</a:t>
            </a:r>
            <a:endParaRPr lang="en-US" sz="1200" dirty="0"/>
          </a:p>
          <a:p>
            <a:pPr marL="171450" indent="-171450" algn="l">
              <a:spcAft>
                <a:spcPts val="900"/>
              </a:spcAft>
              <a:buClr>
                <a:srgbClr val="B08B57"/>
              </a:buClr>
              <a:buFont typeface="Arial"/>
              <a:buChar char="•"/>
            </a:pPr>
            <a:r>
              <a:rPr lang="en-US" sz="1300" b="0" i="0" dirty="0">
                <a:solidFill>
                  <a:srgbClr val="000066"/>
                </a:solidFill>
                <a:latin typeface="Calibri" pitchFamily="34" charset="0"/>
                <a:ea typeface="Calibri" pitchFamily="34" charset="-122"/>
                <a:cs typeface="Calibri" pitchFamily="34" charset="-120"/>
              </a:rPr>
              <a:t>A report needs a name, a description and a location; the photo is optional</a:t>
            </a:r>
            <a:endParaRPr lang="en-US" sz="1200" dirty="0"/>
          </a:p>
          <a:p>
            <a:pPr marL="171450" indent="-171450" algn="l">
              <a:spcAft>
                <a:spcPts val="900"/>
              </a:spcAft>
              <a:buClr>
                <a:srgbClr val="B08B57"/>
              </a:buClr>
              <a:buFont typeface="Arial"/>
              <a:buChar char="•"/>
            </a:pPr>
            <a:r>
              <a:rPr lang="en-US" sz="1300" b="0" i="0" dirty="0">
                <a:solidFill>
                  <a:srgbClr val="000066"/>
                </a:solidFill>
                <a:latin typeface="Calibri" pitchFamily="34" charset="0"/>
                <a:ea typeface="Calibri" pitchFamily="34" charset="-122"/>
                <a:cs typeface="Calibri" pitchFamily="34" charset="-120"/>
              </a:rPr>
              <a:t>Each report stores the reporter's user id, and the rules let only that user change or delete it</a:t>
            </a:r>
            <a:endParaRPr lang="en-US" sz="1200" dirty="0"/>
          </a:p>
          <a:p>
            <a:pPr marL="171450" indent="-171450" algn="l">
              <a:spcAft>
                <a:spcPts val="900"/>
              </a:spcAft>
              <a:buClr>
                <a:srgbClr val="B08B57"/>
              </a:buClr>
              <a:buFont typeface="Arial"/>
              <a:buChar char="•"/>
            </a:pPr>
            <a:r>
              <a:rPr lang="en-US" sz="1300" b="0" i="0" dirty="0">
                <a:solidFill>
                  <a:srgbClr val="000066"/>
                </a:solidFill>
                <a:latin typeface="Calibri" pitchFamily="34" charset="0"/>
                <a:ea typeface="Calibri" pitchFamily="34" charset="-122"/>
                <a:cs typeface="Calibri" pitchFamily="34" charset="-120"/>
              </a:rPr>
              <a:t>A user cannot open a chat about their own report</a:t>
            </a:r>
            <a:endParaRPr lang="en-US" sz="1200" dirty="0"/>
          </a:p>
          <a:p>
            <a:pPr marL="171450" indent="-171450" algn="l">
              <a:spcAft>
                <a:spcPts val="900"/>
              </a:spcAft>
              <a:buClr>
                <a:srgbClr val="B08B57"/>
              </a:buClr>
              <a:buFont typeface="Arial"/>
              <a:buChar char="•"/>
            </a:pPr>
            <a:r>
              <a:rPr lang="en-US" sz="1300" b="0" i="0" dirty="0">
                <a:solidFill>
                  <a:srgbClr val="000066"/>
                </a:solidFill>
                <a:latin typeface="Calibri" pitchFamily="34" charset="0"/>
                <a:ea typeface="Calibri" pitchFamily="34" charset="-122"/>
                <a:cs typeface="Calibri" pitchFamily="34" charset="-120"/>
              </a:rPr>
              <a:t>One chat per item and pair of users, so reopening it resumes the same thread</a:t>
            </a:r>
            <a:endParaRPr lang="en-US" sz="1200" dirty="0"/>
          </a:p>
          <a:p>
            <a:pPr marL="171450" indent="-171450" algn="l">
              <a:spcAft>
                <a:spcPts val="900"/>
              </a:spcAft>
              <a:buClr>
                <a:srgbClr val="B08B57"/>
              </a:buClr>
              <a:buFont typeface="Arial"/>
              <a:buChar char="•"/>
            </a:pPr>
            <a:r>
              <a:rPr lang="en-US" sz="1300" b="0" i="0" dirty="0">
                <a:solidFill>
                  <a:srgbClr val="000066"/>
                </a:solidFill>
                <a:latin typeface="Calibri" pitchFamily="34" charset="0"/>
                <a:ea typeface="Calibri" pitchFamily="34" charset="-122"/>
                <a:cs typeface="Calibri" pitchFamily="34" charset="-120"/>
              </a:rPr>
              <a:t>“End Chat &amp; Report” closes with safety tips; it does not yet mark the item as returned</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Implementation: Chats, Alerts &amp; Account</a:t>
            </a:r>
            <a:endParaRPr lang="en-US" sz="3200" dirty="0"/>
          </a:p>
        </p:txBody>
      </p:sp>
      <p:sp>
        <p:nvSpPr>
          <p:cNvPr id="102" name="Text 102"/>
          <p:cNvSpPr txBox="1"/>
          <p:nvPr/>
        </p:nvSpPr>
        <p:spPr>
          <a:xfrm>
            <a:off x="548640" y="5833872"/>
            <a:ext cx="8046720" cy="384048"/>
          </a:xfrm>
          <a:prstGeom prst="rect">
            <a:avLst/>
          </a:prstGeom>
          <a:noFill/>
          <a:ln>
            <a:noFill/>
          </a:ln>
        </p:spPr>
        <p:txBody>
          <a:bodyPr wrap="square" lIns="0" tIns="0" rIns="0" bIns="0" rtlCol="0" anchor="t"/>
          <a:lstStyle/>
          <a:p>
            <a:pPr marL="0" indent="0" algn="ctr">
              <a:buNone/>
            </a:pPr>
            <a:r>
              <a:rPr lang="en-US" sz="950" b="0" i="1" dirty="0">
                <a:solidFill>
                  <a:srgbClr val="4A4A7A"/>
                </a:solidFill>
                <a:latin typeface="Calibri" pitchFamily="34" charset="0"/>
                <a:ea typeface="Calibri" pitchFamily="34" charset="-122"/>
                <a:cs typeface="Calibri" pitchFamily="34" charset="-120"/>
              </a:rPr>
              <a:t>Screenshots from the current build with test data. Dark mode, My reported items, Privacy &amp; safety and Help &amp; support are placeholders in this version; there is no administrator side yet.</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12</a:t>
            </a:fld>
            <a:endParaRPr lang="en-US"/>
          </a:p>
        </p:txBody>
      </p:sp>
      <p:pic>
        <p:nvPicPr>
          <p:cNvPr id="26" name="Picture 25" descr="CampusFinder Chats inbox"/>
          <p:cNvPicPr>
            <a:picLocks noChangeAspect="1"/>
          </p:cNvPicPr>
          <p:nvPr/>
        </p:nvPicPr>
        <p:blipFill>
          <a:blip r:embed="rId7"/>
          <a:stretch>
            <a:fillRect/>
          </a:stretch>
        </p:blipFill>
        <p:spPr>
          <a:xfrm>
            <a:off x="960120" y="1965960"/>
            <a:ext cx="1517332" cy="3291840"/>
          </a:xfrm>
          <a:prstGeom prst="rect">
            <a:avLst/>
          </a:prstGeom>
          <a:ln w="9525">
            <a:solidFill>
              <a:srgbClr val="D3D3E6"/>
            </a:solidFill>
          </a:ln>
        </p:spPr>
      </p:pic>
      <p:sp>
        <p:nvSpPr>
          <p:cNvPr id="27" name="TextBox 26"/>
          <p:cNvSpPr txBox="1"/>
          <p:nvPr/>
        </p:nvSpPr>
        <p:spPr>
          <a:xfrm>
            <a:off x="831818" y="5349240"/>
            <a:ext cx="1773936" cy="411480"/>
          </a:xfrm>
          <a:prstGeom prst="rect">
            <a:avLst/>
          </a:prstGeom>
          <a:noFill/>
        </p:spPr>
        <p:txBody>
          <a:bodyPr wrap="square" lIns="0" rIns="0" tIns="0" bIns="0">
            <a:spAutoFit/>
          </a:bodyPr>
          <a:lstStyle/>
          <a:p>
            <a:pPr algn="ctr"/>
            <a:r>
              <a:rPr sz="950">
                <a:solidFill>
                  <a:srgbClr val="4A4A7A"/>
                </a:solidFill>
                <a:latin typeface="Calibri"/>
              </a:rPr>
              <a:t>Chats inbox: latest message per conversation</a:t>
            </a:r>
          </a:p>
        </p:txBody>
      </p:sp>
      <p:pic>
        <p:nvPicPr>
          <p:cNvPr id="28" name="Picture 27" descr="CampusFinder Chat screen"/>
          <p:cNvPicPr>
            <a:picLocks noChangeAspect="1"/>
          </p:cNvPicPr>
          <p:nvPr/>
        </p:nvPicPr>
        <p:blipFill>
          <a:blip r:embed="rId8"/>
          <a:stretch>
            <a:fillRect/>
          </a:stretch>
        </p:blipFill>
        <p:spPr>
          <a:xfrm>
            <a:off x="2862072" y="1965960"/>
            <a:ext cx="1517332" cy="3291840"/>
          </a:xfrm>
          <a:prstGeom prst="rect">
            <a:avLst/>
          </a:prstGeom>
          <a:ln w="9525">
            <a:solidFill>
              <a:srgbClr val="D3D3E6"/>
            </a:solidFill>
          </a:ln>
        </p:spPr>
      </p:pic>
      <p:sp>
        <p:nvSpPr>
          <p:cNvPr id="29" name="TextBox 28"/>
          <p:cNvSpPr txBox="1"/>
          <p:nvPr/>
        </p:nvSpPr>
        <p:spPr>
          <a:xfrm>
            <a:off x="2733770" y="5349240"/>
            <a:ext cx="1773936" cy="411480"/>
          </a:xfrm>
          <a:prstGeom prst="rect">
            <a:avLst/>
          </a:prstGeom>
          <a:noFill/>
        </p:spPr>
        <p:txBody>
          <a:bodyPr wrap="square" lIns="0" rIns="0" tIns="0" bIns="0">
            <a:spAutoFit/>
          </a:bodyPr>
          <a:lstStyle/>
          <a:p>
            <a:pPr algn="ctr"/>
            <a:r>
              <a:rPr sz="950">
                <a:solidFill>
                  <a:srgbClr val="4A4A7A"/>
                </a:solidFill>
                <a:latin typeface="Calibri"/>
              </a:rPr>
              <a:t>Chat: live messages and encryption notice</a:t>
            </a:r>
          </a:p>
        </p:txBody>
      </p:sp>
      <p:pic>
        <p:nvPicPr>
          <p:cNvPr id="30" name="Picture 29" descr="Placeholder: new message alert screenshot"/>
          <p:cNvPicPr>
            <a:picLocks noChangeAspect="1"/>
          </p:cNvPicPr>
          <p:nvPr/>
        </p:nvPicPr>
        <p:blipFill>
          <a:blip r:embed="rId9"/>
          <a:stretch>
            <a:fillRect/>
          </a:stretch>
        </p:blipFill>
        <p:spPr>
          <a:xfrm>
            <a:off x="4764024" y="1965960"/>
            <a:ext cx="1517332" cy="3291840"/>
          </a:xfrm>
          <a:prstGeom prst="rect">
            <a:avLst/>
          </a:prstGeom>
          <a:ln w="9525">
            <a:solidFill>
              <a:srgbClr val="D3D3E6"/>
            </a:solidFill>
          </a:ln>
        </p:spPr>
      </p:pic>
      <p:sp>
        <p:nvSpPr>
          <p:cNvPr id="31" name="TextBox 30"/>
          <p:cNvSpPr txBox="1"/>
          <p:nvPr/>
        </p:nvSpPr>
        <p:spPr>
          <a:xfrm>
            <a:off x="4635722" y="5349240"/>
            <a:ext cx="1773936" cy="411480"/>
          </a:xfrm>
          <a:prstGeom prst="rect">
            <a:avLst/>
          </a:prstGeom>
          <a:noFill/>
        </p:spPr>
        <p:txBody>
          <a:bodyPr wrap="square" lIns="0" rIns="0" tIns="0" bIns="0">
            <a:spAutoFit/>
          </a:bodyPr>
          <a:lstStyle/>
          <a:p>
            <a:pPr algn="ctr"/>
            <a:r>
              <a:rPr sz="950">
                <a:solidFill>
                  <a:srgbClr val="4A4A7A"/>
                </a:solidFill>
                <a:latin typeface="Calibri"/>
              </a:rPr>
              <a:t>New-message banner and notification</a:t>
            </a:r>
          </a:p>
        </p:txBody>
      </p:sp>
      <p:pic>
        <p:nvPicPr>
          <p:cNvPr id="32" name="Picture 31" descr="CampusFinder Account screen"/>
          <p:cNvPicPr>
            <a:picLocks noChangeAspect="1"/>
          </p:cNvPicPr>
          <p:nvPr/>
        </p:nvPicPr>
        <p:blipFill>
          <a:blip r:embed="rId10"/>
          <a:stretch>
            <a:fillRect/>
          </a:stretch>
        </p:blipFill>
        <p:spPr>
          <a:xfrm>
            <a:off x="6665976" y="1965960"/>
            <a:ext cx="1517332" cy="3291840"/>
          </a:xfrm>
          <a:prstGeom prst="rect">
            <a:avLst/>
          </a:prstGeom>
          <a:ln w="9525">
            <a:solidFill>
              <a:srgbClr val="D3D3E6"/>
            </a:solidFill>
          </a:ln>
        </p:spPr>
      </p:pic>
      <p:sp>
        <p:nvSpPr>
          <p:cNvPr id="33" name="TextBox 32"/>
          <p:cNvSpPr txBox="1"/>
          <p:nvPr/>
        </p:nvSpPr>
        <p:spPr>
          <a:xfrm>
            <a:off x="6537674" y="5349240"/>
            <a:ext cx="1773936" cy="411480"/>
          </a:xfrm>
          <a:prstGeom prst="rect">
            <a:avLst/>
          </a:prstGeom>
          <a:noFill/>
        </p:spPr>
        <p:txBody>
          <a:bodyPr wrap="square" lIns="0" rIns="0" tIns="0" bIns="0">
            <a:spAutoFit/>
          </a:bodyPr>
          <a:lstStyle/>
          <a:p>
            <a:pPr algn="ctr"/>
            <a:r>
              <a:rPr sz="950">
                <a:solidFill>
                  <a:srgbClr val="4A4A7A"/>
                </a:solidFill>
                <a:latin typeface="Calibri"/>
              </a:rPr>
              <a:t>Account: profile, my reports, log 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Protecting Access: Four Layers</a:t>
            </a:r>
            <a:endParaRPr lang="en-US" sz="3200" dirty="0"/>
          </a:p>
        </p:txBody>
      </p:sp>
      <p:sp>
        <p:nvSpPr>
          <p:cNvPr id="141" name="Shape 141"/>
          <p:cNvSpPr/>
          <p:nvPr/>
        </p:nvSpPr>
        <p:spPr>
          <a:xfrm>
            <a:off x="548640" y="1874520"/>
            <a:ext cx="4754880" cy="822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42" name="Shape 142"/>
          <p:cNvSpPr/>
          <p:nvPr/>
        </p:nvSpPr>
        <p:spPr>
          <a:xfrm>
            <a:off x="676656" y="2057400"/>
            <a:ext cx="457200" cy="457200"/>
          </a:xfrm>
          <a:prstGeom prst="ellipse">
            <a:avLst/>
          </a:prstGeom>
          <a:solidFill>
            <a:srgbClr val="000066"/>
          </a:solidFill>
          <a:ln>
            <a:noFill/>
          </a:ln>
        </p:spPr>
        <p:txBody>
          <a:bodyPr wrap="square" lIns="0" tIns="0" rIns="0" bIns="0" rtlCol="0" anchor="ctr"/>
          <a:lstStyle/>
          <a:p>
            <a:pPr marL="0" indent="0" algn="ctr">
              <a:buNone/>
            </a:pPr>
            <a:r>
              <a:rPr lang="en-US" sz="1400" b="1" i="0" dirty="0">
                <a:solidFill>
                  <a:srgbClr val="FFFFFF"/>
                </a:solidFill>
                <a:latin typeface="Calibri" pitchFamily="34" charset="0"/>
                <a:ea typeface="Calibri" pitchFamily="34" charset="-122"/>
                <a:cs typeface="Calibri" pitchFamily="34" charset="-120"/>
              </a:rPr>
              <a:t>1</a:t>
            </a:r>
            <a:endParaRPr lang="en-US" sz="1200" dirty="0"/>
          </a:p>
        </p:txBody>
      </p:sp>
      <p:sp>
        <p:nvSpPr>
          <p:cNvPr id="143" name="Text 143"/>
          <p:cNvSpPr txBox="1"/>
          <p:nvPr/>
        </p:nvSpPr>
        <p:spPr>
          <a:xfrm>
            <a:off x="1280160" y="1947672"/>
            <a:ext cx="2697480" cy="69494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Account authentication</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Firebase email and password login; session kept on the device; repeated failures are locked out</a:t>
            </a:r>
            <a:endParaRPr lang="en-US" sz="1200" dirty="0"/>
          </a:p>
        </p:txBody>
      </p:sp>
      <p:sp>
        <p:nvSpPr>
          <p:cNvPr id="144" name="Shape 144"/>
          <p:cNvSpPr/>
          <p:nvPr/>
        </p:nvSpPr>
        <p:spPr>
          <a:xfrm>
            <a:off x="4069080" y="2139696"/>
            <a:ext cx="1115568" cy="292608"/>
          </a:xfrm>
          <a:prstGeom prst="roundRect">
            <a:avLst>
              <a:gd name="adj" fmla="val 50000"/>
            </a:avLst>
          </a:prstGeom>
          <a:solidFill>
            <a:srgbClr val="E3F1E8"/>
          </a:solidFill>
          <a:ln>
            <a:noFill/>
          </a:ln>
        </p:spPr>
        <p:txBody>
          <a:bodyPr wrap="square" lIns="0" tIns="0" rIns="0" bIns="0" rtlCol="0" anchor="ctr"/>
          <a:lstStyle/>
          <a:p>
            <a:pPr marL="0" indent="0" algn="ctr">
              <a:buNone/>
            </a:pPr>
            <a:r>
              <a:rPr lang="en-US" sz="1000" b="1" i="0" dirty="0">
                <a:solidFill>
                  <a:srgbClr val="1F7A4D"/>
                </a:solidFill>
                <a:latin typeface="Calibri" pitchFamily="34" charset="0"/>
                <a:ea typeface="Calibri" pitchFamily="34" charset="-122"/>
                <a:cs typeface="Calibri" pitchFamily="34" charset="-120"/>
              </a:rPr>
              <a:t>Working</a:t>
            </a:r>
            <a:endParaRPr lang="en-US" sz="1200" dirty="0"/>
          </a:p>
        </p:txBody>
      </p:sp>
      <p:sp>
        <p:nvSpPr>
          <p:cNvPr id="145" name="Shape 145"/>
          <p:cNvSpPr/>
          <p:nvPr/>
        </p:nvSpPr>
        <p:spPr>
          <a:xfrm>
            <a:off x="548640" y="2770632"/>
            <a:ext cx="4754880" cy="822960"/>
          </a:xfrm>
          <a:prstGeom prst="rect">
            <a:avLst/>
          </a:prstGeom>
          <a:solidFill>
            <a:srgbClr val="F7F7FB"/>
          </a:solidFill>
          <a:ln w="12700">
            <a:solidFill>
              <a:srgbClr val="4A4A7A"/>
            </a:solidFill>
            <a:prstDash val="dash"/>
          </a:ln>
        </p:spPr>
      </p:sp>
      <p:sp>
        <p:nvSpPr>
          <p:cNvPr id="146" name="Shape 146"/>
          <p:cNvSpPr/>
          <p:nvPr/>
        </p:nvSpPr>
        <p:spPr>
          <a:xfrm>
            <a:off x="676656" y="2953512"/>
            <a:ext cx="457200" cy="457200"/>
          </a:xfrm>
          <a:prstGeom prst="ellipse">
            <a:avLst/>
          </a:prstGeom>
          <a:solidFill>
            <a:srgbClr val="4A4A7A"/>
          </a:solidFill>
          <a:ln>
            <a:noFill/>
          </a:ln>
        </p:spPr>
        <p:txBody>
          <a:bodyPr wrap="square" lIns="0" tIns="0" rIns="0" bIns="0" rtlCol="0" anchor="ctr"/>
          <a:lstStyle/>
          <a:p>
            <a:pPr marL="0" indent="0" algn="ctr">
              <a:buNone/>
            </a:pPr>
            <a:r>
              <a:rPr lang="en-US" sz="1400" b="1" i="0" dirty="0">
                <a:solidFill>
                  <a:srgbClr val="FFFFFF"/>
                </a:solidFill>
                <a:latin typeface="Calibri" pitchFamily="34" charset="0"/>
                <a:ea typeface="Calibri" pitchFamily="34" charset="-122"/>
                <a:cs typeface="Calibri" pitchFamily="34" charset="-120"/>
              </a:rPr>
              <a:t>2</a:t>
            </a:r>
            <a:endParaRPr lang="en-US" sz="1200" dirty="0"/>
          </a:p>
        </p:txBody>
      </p:sp>
      <p:sp>
        <p:nvSpPr>
          <p:cNvPr id="147" name="Text 147"/>
          <p:cNvSpPr txBox="1"/>
          <p:nvPr/>
        </p:nvSpPr>
        <p:spPr>
          <a:xfrm>
            <a:off x="1280160" y="2843784"/>
            <a:ext cx="2697480" cy="69494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Email verification gate</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A link is emailed at sign-up; until it is opened the user sees only the Verification screen</a:t>
            </a:r>
            <a:endParaRPr lang="en-US" sz="1200" dirty="0"/>
          </a:p>
        </p:txBody>
      </p:sp>
      <p:sp>
        <p:nvSpPr>
          <p:cNvPr id="148" name="Shape 148"/>
          <p:cNvSpPr/>
          <p:nvPr/>
        </p:nvSpPr>
        <p:spPr>
          <a:xfrm>
            <a:off x="4069080" y="3035808"/>
            <a:ext cx="1115568" cy="292608"/>
          </a:xfrm>
          <a:prstGeom prst="roundRect">
            <a:avLst>
              <a:gd name="adj" fmla="val 50000"/>
            </a:avLst>
          </a:prstGeom>
          <a:solidFill>
            <a:srgbClr val="F8EBD3"/>
          </a:solidFill>
          <a:ln>
            <a:noFill/>
          </a:ln>
        </p:spPr>
        <p:txBody>
          <a:bodyPr wrap="square" lIns="0" tIns="0" rIns="0" bIns="0" rtlCol="0" anchor="ctr"/>
          <a:lstStyle/>
          <a:p>
            <a:pPr marL="0" indent="0" algn="ctr">
              <a:buNone/>
            </a:pPr>
            <a:r>
              <a:rPr lang="en-US" sz="1000" b="1" i="0" dirty="0">
                <a:solidFill>
                  <a:srgbClr val="9A6A1F"/>
                </a:solidFill>
                <a:latin typeface="Calibri" pitchFamily="34" charset="0"/>
                <a:ea typeface="Calibri" pitchFamily="34" charset="-122"/>
                <a:cs typeface="Calibri" pitchFamily="34" charset="-120"/>
              </a:rPr>
              <a:t>App-side only</a:t>
            </a:r>
            <a:endParaRPr lang="en-US" sz="1200" dirty="0"/>
          </a:p>
        </p:txBody>
      </p:sp>
      <p:sp>
        <p:nvSpPr>
          <p:cNvPr id="149" name="Shape 149"/>
          <p:cNvSpPr/>
          <p:nvPr/>
        </p:nvSpPr>
        <p:spPr>
          <a:xfrm>
            <a:off x="548640" y="3666744"/>
            <a:ext cx="4754880" cy="822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50" name="Shape 150"/>
          <p:cNvSpPr/>
          <p:nvPr/>
        </p:nvSpPr>
        <p:spPr>
          <a:xfrm>
            <a:off x="676656" y="3849624"/>
            <a:ext cx="457200" cy="457200"/>
          </a:xfrm>
          <a:prstGeom prst="ellipse">
            <a:avLst/>
          </a:prstGeom>
          <a:solidFill>
            <a:srgbClr val="000066"/>
          </a:solidFill>
          <a:ln>
            <a:noFill/>
          </a:ln>
        </p:spPr>
        <p:txBody>
          <a:bodyPr wrap="square" lIns="0" tIns="0" rIns="0" bIns="0" rtlCol="0" anchor="ctr"/>
          <a:lstStyle/>
          <a:p>
            <a:pPr marL="0" indent="0" algn="ctr">
              <a:buNone/>
            </a:pPr>
            <a:r>
              <a:rPr lang="en-US" sz="1400" b="1" i="0" dirty="0">
                <a:solidFill>
                  <a:srgbClr val="FFFFFF"/>
                </a:solidFill>
                <a:latin typeface="Calibri" pitchFamily="34" charset="0"/>
                <a:ea typeface="Calibri" pitchFamily="34" charset="-122"/>
                <a:cs typeface="Calibri" pitchFamily="34" charset="-120"/>
              </a:rPr>
              <a:t>3</a:t>
            </a:r>
            <a:endParaRPr lang="en-US" sz="1200" dirty="0"/>
          </a:p>
        </p:txBody>
      </p:sp>
      <p:sp>
        <p:nvSpPr>
          <p:cNvPr id="151" name="Text 151"/>
          <p:cNvSpPr txBox="1"/>
          <p:nvPr/>
        </p:nvSpPr>
        <p:spPr>
          <a:xfrm>
            <a:off x="1280160" y="3739896"/>
            <a:ext cx="2697480" cy="69494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Database security rules</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Reporter-only item edits; participant-only chats; messages cannot be changed</a:t>
            </a:r>
            <a:endParaRPr lang="en-US" sz="1200" dirty="0"/>
          </a:p>
        </p:txBody>
      </p:sp>
      <p:sp>
        <p:nvSpPr>
          <p:cNvPr id="152" name="Shape 152"/>
          <p:cNvSpPr/>
          <p:nvPr/>
        </p:nvSpPr>
        <p:spPr>
          <a:xfrm>
            <a:off x="4069080" y="3931920"/>
            <a:ext cx="1115568" cy="292608"/>
          </a:xfrm>
          <a:prstGeom prst="roundRect">
            <a:avLst>
              <a:gd name="adj" fmla="val 50000"/>
            </a:avLst>
          </a:prstGeom>
          <a:solidFill>
            <a:srgbClr val="E3F1E8"/>
          </a:solidFill>
          <a:ln>
            <a:noFill/>
          </a:ln>
        </p:spPr>
        <p:txBody>
          <a:bodyPr wrap="square" lIns="0" tIns="0" rIns="0" bIns="0" rtlCol="0" anchor="ctr"/>
          <a:lstStyle/>
          <a:p>
            <a:pPr marL="0" indent="0" algn="ctr">
              <a:buNone/>
            </a:pPr>
            <a:r>
              <a:rPr lang="en-US" sz="1000" b="1" i="0" dirty="0">
                <a:solidFill>
                  <a:srgbClr val="1F7A4D"/>
                </a:solidFill>
                <a:latin typeface="Calibri" pitchFamily="34" charset="0"/>
                <a:ea typeface="Calibri" pitchFamily="34" charset="-122"/>
                <a:cs typeface="Calibri" pitchFamily="34" charset="-120"/>
              </a:rPr>
              <a:t>Working</a:t>
            </a:r>
            <a:endParaRPr lang="en-US" sz="1200" dirty="0"/>
          </a:p>
        </p:txBody>
      </p:sp>
      <p:sp>
        <p:nvSpPr>
          <p:cNvPr id="153" name="Shape 153"/>
          <p:cNvSpPr/>
          <p:nvPr/>
        </p:nvSpPr>
        <p:spPr>
          <a:xfrm>
            <a:off x="548640" y="4562856"/>
            <a:ext cx="4754880" cy="8229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54" name="Shape 154"/>
          <p:cNvSpPr/>
          <p:nvPr/>
        </p:nvSpPr>
        <p:spPr>
          <a:xfrm>
            <a:off x="676656" y="4745736"/>
            <a:ext cx="457200" cy="457200"/>
          </a:xfrm>
          <a:prstGeom prst="ellipse">
            <a:avLst/>
          </a:prstGeom>
          <a:solidFill>
            <a:srgbClr val="000066"/>
          </a:solidFill>
          <a:ln>
            <a:noFill/>
          </a:ln>
        </p:spPr>
        <p:txBody>
          <a:bodyPr wrap="square" lIns="0" tIns="0" rIns="0" bIns="0" rtlCol="0" anchor="ctr"/>
          <a:lstStyle/>
          <a:p>
            <a:pPr marL="0" indent="0" algn="ctr">
              <a:buNone/>
            </a:pPr>
            <a:r>
              <a:rPr lang="en-US" sz="1400" b="1" i="0" dirty="0">
                <a:solidFill>
                  <a:srgbClr val="FFFFFF"/>
                </a:solidFill>
                <a:latin typeface="Calibri" pitchFamily="34" charset="0"/>
                <a:ea typeface="Calibri" pitchFamily="34" charset="-122"/>
                <a:cs typeface="Calibri" pitchFamily="34" charset="-120"/>
              </a:rPr>
              <a:t>4</a:t>
            </a:r>
            <a:endParaRPr lang="en-US" sz="1200" dirty="0"/>
          </a:p>
        </p:txBody>
      </p:sp>
      <p:sp>
        <p:nvSpPr>
          <p:cNvPr id="155" name="Text 155"/>
          <p:cNvSpPr txBox="1"/>
          <p:nvPr/>
        </p:nvSpPr>
        <p:spPr>
          <a:xfrm>
            <a:off x="1280160" y="4636008"/>
            <a:ext cx="2697480" cy="69494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Encrypted chat messages</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AES encryption with crypto-js before a message is saved; the inbox preview is encrypted too</a:t>
            </a:r>
            <a:endParaRPr lang="en-US" sz="1200" dirty="0"/>
          </a:p>
        </p:txBody>
      </p:sp>
      <p:sp>
        <p:nvSpPr>
          <p:cNvPr id="156" name="Shape 156"/>
          <p:cNvSpPr/>
          <p:nvPr/>
        </p:nvSpPr>
        <p:spPr>
          <a:xfrm>
            <a:off x="4069080" y="4828032"/>
            <a:ext cx="1115568" cy="292608"/>
          </a:xfrm>
          <a:prstGeom prst="roundRect">
            <a:avLst>
              <a:gd name="adj" fmla="val 50000"/>
            </a:avLst>
          </a:prstGeom>
          <a:solidFill>
            <a:srgbClr val="E3F1E8"/>
          </a:solidFill>
          <a:ln>
            <a:noFill/>
          </a:ln>
        </p:spPr>
        <p:txBody>
          <a:bodyPr wrap="square" lIns="0" tIns="0" rIns="0" bIns="0" rtlCol="0" anchor="ctr"/>
          <a:lstStyle/>
          <a:p>
            <a:pPr marL="0" indent="0" algn="ctr">
              <a:buNone/>
            </a:pPr>
            <a:r>
              <a:rPr lang="en-US" sz="1000" b="1" i="0" dirty="0">
                <a:solidFill>
                  <a:srgbClr val="1F7A4D"/>
                </a:solidFill>
                <a:latin typeface="Calibri" pitchFamily="34" charset="0"/>
                <a:ea typeface="Calibri" pitchFamily="34" charset="-122"/>
                <a:cs typeface="Calibri" pitchFamily="34" charset="-120"/>
              </a:rPr>
              <a:t>Working</a:t>
            </a:r>
            <a:endParaRPr lang="en-US" sz="1200" dirty="0"/>
          </a:p>
        </p:txBody>
      </p:sp>
      <p:sp>
        <p:nvSpPr>
          <p:cNvPr id="157" name="Shape 157"/>
          <p:cNvSpPr/>
          <p:nvPr/>
        </p:nvSpPr>
        <p:spPr>
          <a:xfrm>
            <a:off x="548640" y="5513832"/>
            <a:ext cx="4754880" cy="704088"/>
          </a:xfrm>
          <a:prstGeom prst="rect">
            <a:avLst/>
          </a:prstGeom>
          <a:solidFill>
            <a:srgbClr val="F3ECDF"/>
          </a:solidFill>
          <a:ln>
            <a:noFill/>
          </a:ln>
        </p:spPr>
        <p:txBody>
          <a:bodyPr wrap="square" lIns="137160" tIns="45720" rIns="137160" bIns="45720" rtlCol="0" anchor="ctr"/>
          <a:lstStyle/>
          <a:p>
            <a:pPr marL="0" indent="0" algn="l">
              <a:buNone/>
            </a:pPr>
            <a:r>
              <a:rPr lang="en-US" sz="1050" b="1" i="0" dirty="0">
                <a:solidFill>
                  <a:srgbClr val="000066"/>
                </a:solidFill>
                <a:latin typeface="Calibri" pitchFamily="34" charset="0"/>
                <a:ea typeface="Calibri" pitchFamily="34" charset="-122"/>
                <a:cs typeface="Calibri" pitchFamily="34" charset="-120"/>
              </a:rPr>
              <a:t xml:space="preserve">Honest gaps: </a:t>
            </a:r>
            <a:r>
              <a:rPr lang="en-US" sz="1050" b="0" i="0" dirty="0">
                <a:solidFill>
                  <a:srgbClr val="000066"/>
                </a:solidFill>
                <a:latin typeface="Calibri" pitchFamily="34" charset="0"/>
                <a:ea typeface="Calibri" pitchFamily="34" charset="-122"/>
                <a:cs typeface="Calibri" pitchFamily="34" charset="-120"/>
              </a:rPr>
              <a:t>the rules check sign-in, not email verification; any email domain is accepted; the chat key is derived from the chat id and a constant in the app.</a:t>
            </a:r>
            <a:endParaRPr lang="en-US" sz="1200" dirty="0"/>
          </a:p>
        </p:txBody>
      </p:sp>
      <p:pic>
        <p:nvPicPr>
          <p:cNvPr id="158" name="Picture 158" descr="Placeholder: Verification screen screenshot"/>
          <p:cNvPicPr>
            <a:picLocks noChangeAspect="1"/>
          </p:cNvPicPr>
          <p:nvPr/>
        </p:nvPicPr>
        <p:blipFill>
          <a:blip r:embed="rId4"/>
          <a:stretch>
            <a:fillRect/>
          </a:stretch>
        </p:blipFill>
        <p:spPr>
          <a:xfrm>
            <a:off x="6524565" y="1874519"/>
            <a:ext cx="1032629" cy="2240280"/>
          </a:xfrm>
          <a:prstGeom prst="rect">
            <a:avLst/>
          </a:prstGeom>
          <a:ln w="9525">
            <a:solidFill>
              <a:srgbClr val="D3D3E6"/>
            </a:solidFill>
          </a:ln>
        </p:spPr>
      </p:pic>
      <p:sp>
        <p:nvSpPr>
          <p:cNvPr id="159" name="Text 159"/>
          <p:cNvSpPr txBox="1"/>
          <p:nvPr/>
        </p:nvSpPr>
        <p:spPr>
          <a:xfrm>
            <a:off x="5486400" y="4151376"/>
            <a:ext cx="3108960" cy="27432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Verification screen: check your email, resend the link</a:t>
            </a:r>
            <a:endParaRPr lang="en-US" sz="1200" dirty="0"/>
          </a:p>
        </p:txBody>
      </p:sp>
      <p:sp>
        <p:nvSpPr>
          <p:cNvPr id="160" name="Shape 160"/>
          <p:cNvSpPr/>
          <p:nvPr/>
        </p:nvSpPr>
        <p:spPr>
          <a:xfrm>
            <a:off x="5486400" y="4498848"/>
            <a:ext cx="3108960" cy="1719072"/>
          </a:xfrm>
          <a:prstGeom prst="rect">
            <a:avLst/>
          </a:prstGeom>
          <a:solidFill>
            <a:srgbClr val="000066"/>
          </a:solidFill>
          <a:ln w="9525">
            <a:solidFill>
              <a:srgbClr val="000066"/>
            </a:solidFill>
            <a:prstDash val="solid"/>
          </a:ln>
        </p:spPr>
        <p:txBody>
          <a:bodyPr wrap="square" lIns="164592" tIns="128016" rIns="137160" bIns="91440" rtlCol="0" anchor="t"/>
          <a:lstStyle/>
          <a:p>
            <a:pPr marL="0" indent="0" algn="l">
              <a:spcAft>
                <a:spcPts val="500"/>
              </a:spcAft>
              <a:buNone/>
            </a:pPr>
            <a:r>
              <a:rPr lang="en-US" sz="1000" b="1" i="0" dirty="0">
                <a:solidFill>
                  <a:srgbClr val="B08B57"/>
                </a:solidFill>
                <a:latin typeface="Calibri" pitchFamily="34" charset="0"/>
                <a:ea typeface="Calibri" pitchFamily="34" charset="-122"/>
                <a:cs typeface="Calibri" pitchFamily="34" charset="-120"/>
              </a:rPr>
              <a:t>PRIVACY BY DESIGN</a:t>
            </a:r>
            <a:endParaRPr lang="en-US" sz="1200" dirty="0"/>
          </a:p>
          <a:p>
            <a:pPr marL="171450" indent="-171450" algn="l">
              <a:spcAft>
                <a:spcPts val="500"/>
              </a:spcAft>
              <a:buClr>
                <a:srgbClr val="B08B57"/>
              </a:buClr>
              <a:buFont typeface="Arial"/>
              <a:buChar char="•"/>
            </a:pPr>
            <a:r>
              <a:rPr lang="en-US" sz="1100" b="0" i="0" dirty="0">
                <a:solidFill>
                  <a:srgbClr val="FFFFFF"/>
                </a:solidFill>
                <a:latin typeface="Calibri" pitchFamily="34" charset="0"/>
                <a:ea typeface="Calibri" pitchFamily="34" charset="-122"/>
                <a:cs typeface="Calibri" pitchFamily="34" charset="-120"/>
              </a:rPr>
              <a:t>No phone number is shown; contact happens only in the in-app chat</a:t>
            </a:r>
            <a:endParaRPr lang="en-US" sz="1200" dirty="0"/>
          </a:p>
          <a:p>
            <a:pPr marL="171450" indent="-171450" algn="l">
              <a:spcAft>
                <a:spcPts val="500"/>
              </a:spcAft>
              <a:buClr>
                <a:srgbClr val="B08B57"/>
              </a:buClr>
              <a:buFont typeface="Arial"/>
              <a:buChar char="•"/>
            </a:pPr>
            <a:r>
              <a:rPr lang="en-US" sz="1100" b="0" i="0" dirty="0">
                <a:solidFill>
                  <a:srgbClr val="FFFFFF"/>
                </a:solidFill>
                <a:latin typeface="Calibri" pitchFamily="34" charset="0"/>
                <a:ea typeface="Calibri" pitchFamily="34" charset="-122"/>
                <a:cs typeface="Calibri" pitchFamily="34" charset="-120"/>
              </a:rPr>
              <a:t>Photos go to Cloudinary through an unsigned preset, so no secret key is in the app</a:t>
            </a:r>
            <a:endParaRPr lang="en-US" sz="1200" dirty="0"/>
          </a:p>
          <a:p>
            <a:pPr marL="171450" indent="-171450" algn="l">
              <a:spcAft>
                <a:spcPts val="500"/>
              </a:spcAft>
              <a:buClr>
                <a:srgbClr val="B08B57"/>
              </a:buClr>
              <a:buFont typeface="Arial"/>
              <a:buChar char="•"/>
            </a:pPr>
            <a:r>
              <a:rPr lang="en-US" sz="1100" b="0" i="0" dirty="0">
                <a:solidFill>
                  <a:srgbClr val="FFFFFF"/>
                </a:solidFill>
                <a:latin typeface="Calibri" pitchFamily="34" charset="0"/>
                <a:ea typeface="Calibri" pitchFamily="34" charset="-122"/>
                <a:cs typeface="Calibri" pitchFamily="34" charset="-120"/>
              </a:rPr>
              <a:t>Passwords are handled by Firebase Authentication, never stored by the app</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How a Chat Message Is Protected</a:t>
            </a:r>
            <a:endParaRPr lang="en-US" sz="3200" dirty="0"/>
          </a:p>
        </p:txBody>
      </p:sp>
      <p:sp>
        <p:nvSpPr>
          <p:cNvPr id="161" name="Text 161"/>
          <p:cNvSpPr txBox="1"/>
          <p:nvPr/>
        </p:nvSpPr>
        <p:spPr>
          <a:xfrm>
            <a:off x="548640" y="1874520"/>
            <a:ext cx="4937760" cy="274320"/>
          </a:xfrm>
          <a:prstGeom prst="rect">
            <a:avLst/>
          </a:prstGeom>
          <a:noFill/>
          <a:ln>
            <a:noFill/>
          </a:ln>
        </p:spPr>
        <p:txBody>
          <a:bodyPr wrap="square" lIns="0" tIns="0" rIns="0" bIns="0" rtlCol="0" anchor="t"/>
          <a:lstStyle/>
          <a:p>
            <a:pPr marL="0" indent="0" algn="l">
              <a:buNone/>
            </a:pPr>
            <a:r>
              <a:rPr lang="en-US" sz="1150" b="0" i="0" dirty="0">
                <a:solidFill>
                  <a:srgbClr val="000066"/>
                </a:solidFill>
                <a:latin typeface="Calibri" pitchFamily="34" charset="0"/>
                <a:ea typeface="Calibri" pitchFamily="34" charset="-122"/>
                <a:cs typeface="Calibri" pitchFamily="34" charset="-120"/>
              </a:rPr>
              <a:t xml:space="preserve">Encrypted on the sender's phone, so the database holds </a:t>
            </a:r>
            <a:r>
              <a:rPr lang="en-US" sz="1150" b="1" i="0" dirty="0">
                <a:solidFill>
                  <a:srgbClr val="000066"/>
                </a:solidFill>
                <a:latin typeface="Calibri" pitchFamily="34" charset="0"/>
                <a:ea typeface="Calibri" pitchFamily="34" charset="-122"/>
                <a:cs typeface="Calibri" pitchFamily="34" charset="-120"/>
              </a:rPr>
              <a:t>ciphertext, not text:</a:t>
            </a:r>
            <a:endParaRPr lang="en-US" sz="1200" dirty="0"/>
          </a:p>
        </p:txBody>
      </p:sp>
      <p:sp>
        <p:nvSpPr>
          <p:cNvPr id="162" name="Shape 162"/>
          <p:cNvSpPr/>
          <p:nvPr/>
        </p:nvSpPr>
        <p:spPr>
          <a:xfrm>
            <a:off x="548640" y="2258568"/>
            <a:ext cx="1143000" cy="457200"/>
          </a:xfrm>
          <a:prstGeom prst="roundRect">
            <a:avLst>
              <a:gd name="adj" fmla="val 20000"/>
            </a:avLst>
          </a:prstGeom>
          <a:solidFill>
            <a:srgbClr val="F3ECDF"/>
          </a:solidFill>
          <a:ln>
            <a:noFill/>
          </a:ln>
        </p:spPr>
        <p:txBody>
          <a:bodyPr wrap="square" lIns="45720" tIns="0" rIns="45720" bIns="0" rtlCol="0" anchor="ctr"/>
          <a:lstStyle/>
          <a:p>
            <a:pPr marL="0" indent="0" algn="ctr">
              <a:buNone/>
            </a:pPr>
            <a:r>
              <a:rPr lang="en-US" sz="950" b="1" i="0" dirty="0">
                <a:solidFill>
                  <a:srgbClr val="000066"/>
                </a:solidFill>
                <a:latin typeface="Calibri" pitchFamily="34" charset="0"/>
                <a:ea typeface="Calibri" pitchFamily="34" charset="-122"/>
                <a:cs typeface="Calibri" pitchFamily="34" charset="-120"/>
              </a:rPr>
              <a:t>Typed on the phone</a:t>
            </a:r>
            <a:endParaRPr lang="en-US" sz="1200" dirty="0"/>
          </a:p>
        </p:txBody>
      </p:sp>
      <p:sp>
        <p:nvSpPr>
          <p:cNvPr id="163" name="Shape 163"/>
          <p:cNvSpPr/>
          <p:nvPr/>
        </p:nvSpPr>
        <p:spPr>
          <a:xfrm>
            <a:off x="1783080" y="2258568"/>
            <a:ext cx="1143000" cy="457200"/>
          </a:xfrm>
          <a:prstGeom prst="roundRect">
            <a:avLst>
              <a:gd name="adj" fmla="val 20000"/>
            </a:avLst>
          </a:prstGeom>
          <a:solidFill>
            <a:srgbClr val="F3ECDF"/>
          </a:solidFill>
          <a:ln>
            <a:noFill/>
          </a:ln>
        </p:spPr>
        <p:txBody>
          <a:bodyPr wrap="square" lIns="45720" tIns="0" rIns="45720" bIns="0" rtlCol="0" anchor="ctr"/>
          <a:lstStyle/>
          <a:p>
            <a:pPr marL="0" indent="0" algn="ctr">
              <a:buNone/>
            </a:pPr>
            <a:r>
              <a:rPr lang="en-US" sz="950" b="1" i="0" dirty="0">
                <a:solidFill>
                  <a:srgbClr val="000066"/>
                </a:solidFill>
                <a:latin typeface="Calibri" pitchFamily="34" charset="0"/>
                <a:ea typeface="Calibri" pitchFamily="34" charset="-122"/>
                <a:cs typeface="Calibri" pitchFamily="34" charset="-120"/>
              </a:rPr>
              <a:t>Key from the chat id (SHA-256)</a:t>
            </a:r>
            <a:endParaRPr lang="en-US" sz="1200" dirty="0"/>
          </a:p>
        </p:txBody>
      </p:sp>
      <p:sp>
        <p:nvSpPr>
          <p:cNvPr id="164" name="Shape 164"/>
          <p:cNvSpPr/>
          <p:nvPr/>
        </p:nvSpPr>
        <p:spPr>
          <a:xfrm>
            <a:off x="3017520" y="2258568"/>
            <a:ext cx="1143000" cy="457200"/>
          </a:xfrm>
          <a:prstGeom prst="roundRect">
            <a:avLst>
              <a:gd name="adj" fmla="val 20000"/>
            </a:avLst>
          </a:prstGeom>
          <a:solidFill>
            <a:srgbClr val="F3ECDF"/>
          </a:solidFill>
          <a:ln>
            <a:noFill/>
          </a:ln>
        </p:spPr>
        <p:txBody>
          <a:bodyPr wrap="square" lIns="45720" tIns="0" rIns="45720" bIns="0" rtlCol="0" anchor="ctr"/>
          <a:lstStyle/>
          <a:p>
            <a:pPr marL="0" indent="0" algn="ctr">
              <a:buNone/>
            </a:pPr>
            <a:r>
              <a:rPr lang="en-US" sz="950" b="1" i="0" dirty="0">
                <a:solidFill>
                  <a:srgbClr val="000066"/>
                </a:solidFill>
                <a:latin typeface="Calibri" pitchFamily="34" charset="0"/>
                <a:ea typeface="Calibri" pitchFamily="34" charset="-122"/>
                <a:cs typeface="Calibri" pitchFamily="34" charset="-120"/>
              </a:rPr>
              <a:t>AES encryption (crypto-js)</a:t>
            </a:r>
            <a:endParaRPr lang="en-US" sz="1200" dirty="0"/>
          </a:p>
        </p:txBody>
      </p:sp>
      <p:sp>
        <p:nvSpPr>
          <p:cNvPr id="165" name="Shape 165"/>
          <p:cNvSpPr/>
          <p:nvPr/>
        </p:nvSpPr>
        <p:spPr>
          <a:xfrm>
            <a:off x="4251960" y="2258568"/>
            <a:ext cx="1143000" cy="457200"/>
          </a:xfrm>
          <a:prstGeom prst="roundRect">
            <a:avLst>
              <a:gd name="adj" fmla="val 20000"/>
            </a:avLst>
          </a:prstGeom>
          <a:solidFill>
            <a:srgbClr val="F3ECDF"/>
          </a:solidFill>
          <a:ln>
            <a:noFill/>
          </a:ln>
        </p:spPr>
        <p:txBody>
          <a:bodyPr wrap="square" lIns="45720" tIns="0" rIns="45720" bIns="0" rtlCol="0" anchor="ctr"/>
          <a:lstStyle/>
          <a:p>
            <a:pPr marL="0" indent="0" algn="ctr">
              <a:buNone/>
            </a:pPr>
            <a:r>
              <a:rPr lang="en-US" sz="950" b="1" i="0" dirty="0">
                <a:solidFill>
                  <a:srgbClr val="000066"/>
                </a:solidFill>
                <a:latin typeface="Calibri" pitchFamily="34" charset="0"/>
                <a:ea typeface="Calibri" pitchFamily="34" charset="-122"/>
                <a:cs typeface="Calibri" pitchFamily="34" charset="-120"/>
              </a:rPr>
              <a:t>Stored and synced by Firestore</a:t>
            </a:r>
            <a:endParaRPr lang="en-US" sz="1200" dirty="0"/>
          </a:p>
        </p:txBody>
      </p:sp>
      <p:sp>
        <p:nvSpPr>
          <p:cNvPr id="166" name="Shape 166"/>
          <p:cNvSpPr/>
          <p:nvPr/>
        </p:nvSpPr>
        <p:spPr>
          <a:xfrm>
            <a:off x="548640" y="5257800"/>
            <a:ext cx="1143000" cy="960120"/>
          </a:xfrm>
          <a:prstGeom prst="rect">
            <a:avLst/>
          </a:prstGeom>
          <a:solidFill>
            <a:srgbClr val="E4E4EE"/>
          </a:solidFill>
          <a:ln>
            <a:noFill/>
          </a:ln>
        </p:spPr>
        <p:txBody>
          <a:bodyPr wrap="square" lIns="91440" tIns="73152" rIns="73152" bIns="45720" rtlCol="0" anchor="t"/>
          <a:lstStyle/>
          <a:p>
            <a:pPr marL="0" indent="0" algn="l">
              <a:buNone/>
            </a:pPr>
            <a:r>
              <a:rPr lang="en-US" sz="2000" b="1" i="0" dirty="0">
                <a:solidFill>
                  <a:srgbClr val="4A4A7A"/>
                </a:solidFill>
                <a:latin typeface="Calibri" pitchFamily="34" charset="0"/>
                <a:ea typeface="Calibri" pitchFamily="34" charset="-122"/>
                <a:cs typeface="Calibri" pitchFamily="34" charset="-120"/>
              </a:rPr>
              <a:t>0</a:t>
            </a:r>
            <a:endParaRPr lang="en-US" sz="1200" dirty="0"/>
          </a:p>
          <a:p>
            <a:pPr marL="0" indent="0" algn="l">
              <a:spcAft>
                <a:spcPts val="300"/>
              </a:spcAft>
              <a:buNone/>
            </a:pPr>
            <a:r>
              <a:rPr lang="en-US" sz="1150" b="1" i="0" dirty="0">
                <a:solidFill>
                  <a:srgbClr val="4A4A7A"/>
                </a:solidFill>
                <a:latin typeface="Calibri" pitchFamily="34" charset="0"/>
                <a:ea typeface="Calibri" pitchFamily="34" charset="-122"/>
                <a:cs typeface="Calibri" pitchFamily="34" charset="-120"/>
              </a:rPr>
              <a:t>Plain text</a:t>
            </a:r>
            <a:endParaRPr lang="en-US" sz="1200" dirty="0"/>
          </a:p>
          <a:p>
            <a:pPr marL="0" indent="0" algn="l">
              <a:buNone/>
            </a:pPr>
            <a:r>
              <a:rPr lang="en-US" sz="950" b="0" i="0" dirty="0">
                <a:solidFill>
                  <a:srgbClr val="4A4A7A"/>
                </a:solidFill>
                <a:latin typeface="Calibri" pitchFamily="34" charset="0"/>
                <a:ea typeface="Calibri" pitchFamily="34" charset="-122"/>
                <a:cs typeface="Calibri" pitchFamily="34" charset="-120"/>
              </a:rPr>
              <a:t>Only on the two phones</a:t>
            </a:r>
            <a:endParaRPr lang="en-US" sz="1200" dirty="0"/>
          </a:p>
        </p:txBody>
      </p:sp>
      <p:sp>
        <p:nvSpPr>
          <p:cNvPr id="167" name="Shape 167"/>
          <p:cNvSpPr/>
          <p:nvPr/>
        </p:nvSpPr>
        <p:spPr>
          <a:xfrm>
            <a:off x="1783080" y="4709160"/>
            <a:ext cx="1143000" cy="1508760"/>
          </a:xfrm>
          <a:prstGeom prst="rect">
            <a:avLst/>
          </a:prstGeom>
          <a:solidFill>
            <a:srgbClr val="4A4A7A"/>
          </a:solidFill>
          <a:ln>
            <a:noFill/>
          </a:ln>
        </p:spPr>
        <p:txBody>
          <a:bodyPr wrap="square" lIns="91440" tIns="73152" rIns="73152" bIns="45720" rtlCol="0" anchor="t"/>
          <a:lstStyle/>
          <a:p>
            <a:pPr marL="0" indent="0" algn="l">
              <a:buNone/>
            </a:pPr>
            <a:r>
              <a:rPr lang="en-US" sz="2000" b="1" i="0" dirty="0">
                <a:solidFill>
                  <a:srgbClr val="FFFFFF"/>
                </a:solidFill>
                <a:latin typeface="Calibri" pitchFamily="34" charset="0"/>
                <a:ea typeface="Calibri" pitchFamily="34" charset="-122"/>
                <a:cs typeface="Calibri" pitchFamily="34" charset="-120"/>
              </a:rPr>
              <a:t>1</a:t>
            </a:r>
            <a:endParaRPr lang="en-US" sz="1200" dirty="0"/>
          </a:p>
          <a:p>
            <a:pPr marL="0" indent="0" algn="l">
              <a:spcAft>
                <a:spcPts val="300"/>
              </a:spcAft>
              <a:buNone/>
            </a:pPr>
            <a:r>
              <a:rPr lang="en-US" sz="1150" b="1" i="0" dirty="0">
                <a:solidFill>
                  <a:srgbClr val="FFFFFF"/>
                </a:solidFill>
                <a:latin typeface="Calibri" pitchFamily="34" charset="0"/>
                <a:ea typeface="Calibri" pitchFamily="34" charset="-122"/>
                <a:cs typeface="Calibri" pitchFamily="34" charset="-120"/>
              </a:rPr>
              <a:t>Encrypted</a:t>
            </a:r>
            <a:endParaRPr lang="en-US" sz="1200" dirty="0"/>
          </a:p>
          <a:p>
            <a:pPr marL="0" indent="0" algn="l">
              <a:buNone/>
            </a:pPr>
            <a:r>
              <a:rPr lang="en-US" sz="950" b="0" i="0" dirty="0">
                <a:solidFill>
                  <a:srgbClr val="FFFFFF"/>
                </a:solidFill>
                <a:latin typeface="Calibri" pitchFamily="34" charset="0"/>
                <a:ea typeface="Calibri" pitchFamily="34" charset="-122"/>
                <a:cs typeface="Calibri" pitchFamily="34" charset="-120"/>
              </a:rPr>
              <a:t>AES with a per-chat key before upload</a:t>
            </a:r>
            <a:endParaRPr lang="en-US" sz="1200" dirty="0"/>
          </a:p>
        </p:txBody>
      </p:sp>
      <p:sp>
        <p:nvSpPr>
          <p:cNvPr id="168" name="Shape 168"/>
          <p:cNvSpPr/>
          <p:nvPr/>
        </p:nvSpPr>
        <p:spPr>
          <a:xfrm>
            <a:off x="3017520" y="4114800"/>
            <a:ext cx="1143000" cy="2103120"/>
          </a:xfrm>
          <a:prstGeom prst="rect">
            <a:avLst/>
          </a:prstGeom>
          <a:solidFill>
            <a:srgbClr val="000066"/>
          </a:solidFill>
          <a:ln>
            <a:noFill/>
          </a:ln>
        </p:spPr>
        <p:txBody>
          <a:bodyPr wrap="square" lIns="91440" tIns="73152" rIns="73152" bIns="45720" rtlCol="0" anchor="t"/>
          <a:lstStyle/>
          <a:p>
            <a:pPr marL="0" indent="0" algn="l">
              <a:buNone/>
            </a:pPr>
            <a:r>
              <a:rPr lang="en-US" sz="2000" b="1" i="0" dirty="0">
                <a:solidFill>
                  <a:srgbClr val="FFFFFF"/>
                </a:solidFill>
                <a:latin typeface="Calibri" pitchFamily="34" charset="0"/>
                <a:ea typeface="Calibri" pitchFamily="34" charset="-122"/>
                <a:cs typeface="Calibri" pitchFamily="34" charset="-120"/>
              </a:rPr>
              <a:t>2</a:t>
            </a:r>
            <a:endParaRPr lang="en-US" sz="1200" dirty="0"/>
          </a:p>
          <a:p>
            <a:pPr marL="0" indent="0" algn="l">
              <a:spcAft>
                <a:spcPts val="300"/>
              </a:spcAft>
              <a:buNone/>
            </a:pPr>
            <a:r>
              <a:rPr lang="en-US" sz="1150" b="1" i="0" dirty="0">
                <a:solidFill>
                  <a:srgbClr val="FFFFFF"/>
                </a:solidFill>
                <a:latin typeface="Calibri" pitchFamily="34" charset="0"/>
                <a:ea typeface="Calibri" pitchFamily="34" charset="-122"/>
                <a:cs typeface="Calibri" pitchFamily="34" charset="-120"/>
              </a:rPr>
              <a:t>Restricted</a:t>
            </a:r>
            <a:endParaRPr lang="en-US" sz="1200" dirty="0"/>
          </a:p>
          <a:p>
            <a:pPr marL="0" indent="0" algn="l">
              <a:buNone/>
            </a:pPr>
            <a:r>
              <a:rPr lang="en-US" sz="950" b="0" i="0" dirty="0">
                <a:solidFill>
                  <a:srgbClr val="FFFFFF"/>
                </a:solidFill>
                <a:latin typeface="Calibri" pitchFamily="34" charset="0"/>
                <a:ea typeface="Calibri" pitchFamily="34" charset="-122"/>
                <a:cs typeface="Calibri" pitchFamily="34" charset="-120"/>
              </a:rPr>
              <a:t>Rules limit reading and sending to the two participants</a:t>
            </a:r>
            <a:endParaRPr lang="en-US" sz="1200" dirty="0"/>
          </a:p>
        </p:txBody>
      </p:sp>
      <p:sp>
        <p:nvSpPr>
          <p:cNvPr id="169" name="Shape 169"/>
          <p:cNvSpPr/>
          <p:nvPr/>
        </p:nvSpPr>
        <p:spPr>
          <a:xfrm>
            <a:off x="4251960" y="3520440"/>
            <a:ext cx="1143000" cy="2697480"/>
          </a:xfrm>
          <a:prstGeom prst="rect">
            <a:avLst/>
          </a:prstGeom>
          <a:solidFill>
            <a:srgbClr val="B08B57"/>
          </a:solidFill>
          <a:ln>
            <a:noFill/>
          </a:ln>
        </p:spPr>
        <p:txBody>
          <a:bodyPr wrap="square" lIns="91440" tIns="73152" rIns="73152" bIns="45720" rtlCol="0" anchor="t"/>
          <a:lstStyle/>
          <a:p>
            <a:pPr marL="0" indent="0" algn="l">
              <a:buNone/>
            </a:pPr>
            <a:r>
              <a:rPr lang="en-US" sz="2000" b="1" i="0" dirty="0">
                <a:solidFill>
                  <a:srgbClr val="FFFFFF"/>
                </a:solidFill>
                <a:latin typeface="Calibri" pitchFamily="34" charset="0"/>
                <a:ea typeface="Calibri" pitchFamily="34" charset="-122"/>
                <a:cs typeface="Calibri" pitchFamily="34" charset="-120"/>
              </a:rPr>
              <a:t>3</a:t>
            </a:r>
            <a:endParaRPr lang="en-US" sz="1200" dirty="0"/>
          </a:p>
          <a:p>
            <a:pPr marL="0" indent="0" algn="l">
              <a:spcAft>
                <a:spcPts val="300"/>
              </a:spcAft>
              <a:buNone/>
            </a:pPr>
            <a:r>
              <a:rPr lang="en-US" sz="1150" b="1" i="0" dirty="0">
                <a:solidFill>
                  <a:srgbClr val="FFFFFF"/>
                </a:solidFill>
                <a:latin typeface="Calibri" pitchFamily="34" charset="0"/>
                <a:ea typeface="Calibri" pitchFamily="34" charset="-122"/>
                <a:cs typeface="Calibri" pitchFamily="34" charset="-120"/>
              </a:rPr>
              <a:t>Immutable</a:t>
            </a:r>
            <a:endParaRPr lang="en-US" sz="1200" dirty="0"/>
          </a:p>
          <a:p>
            <a:pPr marL="0" indent="0" algn="l">
              <a:buNone/>
            </a:pPr>
            <a:r>
              <a:rPr lang="en-US" sz="950" b="0" i="0" dirty="0">
                <a:solidFill>
                  <a:srgbClr val="FFFFFF"/>
                </a:solidFill>
                <a:latin typeface="Calibri" pitchFamily="34" charset="0"/>
                <a:ea typeface="Calibri" pitchFamily="34" charset="-122"/>
                <a:cs typeface="Calibri" pitchFamily="34" charset="-120"/>
              </a:rPr>
              <a:t>Messages cannot be edited or deleted; chats cannot be deleted</a:t>
            </a:r>
            <a:endParaRPr lang="en-US" sz="1200" dirty="0"/>
          </a:p>
        </p:txBody>
      </p:sp>
      <p:pic>
        <p:nvPicPr>
          <p:cNvPr id="170" name="Picture 170" descr="CampusFinder Chat screen, top part with encryption notice"/>
          <p:cNvPicPr>
            <a:picLocks noChangeAspect="1"/>
          </p:cNvPicPr>
          <p:nvPr/>
        </p:nvPicPr>
        <p:blipFill>
          <a:blip r:embed="rId4"/>
          <a:stretch>
            <a:fillRect/>
          </a:stretch>
        </p:blipFill>
        <p:spPr>
          <a:xfrm>
            <a:off x="5989320" y="1874520"/>
            <a:ext cx="2377440" cy="2670048"/>
          </a:xfrm>
          <a:prstGeom prst="rect">
            <a:avLst/>
          </a:prstGeom>
          <a:ln w="9525">
            <a:solidFill>
              <a:srgbClr val="D3D3E6"/>
            </a:solidFill>
          </a:ln>
        </p:spPr>
      </p:pic>
      <p:sp>
        <p:nvSpPr>
          <p:cNvPr id="171" name="Text 171"/>
          <p:cNvSpPr txBox="1"/>
          <p:nvPr/>
        </p:nvSpPr>
        <p:spPr>
          <a:xfrm>
            <a:off x="5669280" y="4590288"/>
            <a:ext cx="3017520" cy="274320"/>
          </a:xfrm>
          <a:prstGeom prst="rect">
            <a:avLst/>
          </a:prstGeom>
          <a:noFill/>
          <a:ln>
            <a:noFill/>
          </a:ln>
        </p:spPr>
        <p:txBody>
          <a:bodyPr wrap="square" lIns="0" tIns="0" rIns="0" bIns="0" rtlCol="0" anchor="t"/>
          <a:lstStyle/>
          <a:p>
            <a:pPr marL="0" indent="0" algn="ctr">
              <a:buNone/>
            </a:pPr>
            <a:r>
              <a:rPr lang="en-US" sz="950" b="0" i="0" dirty="0">
                <a:solidFill>
                  <a:srgbClr val="4A4A7A"/>
                </a:solidFill>
                <a:latin typeface="Calibri" pitchFamily="34" charset="0"/>
                <a:ea typeface="Calibri" pitchFamily="34" charset="-122"/>
                <a:cs typeface="Calibri" pitchFamily="34" charset="-120"/>
              </a:rPr>
              <a:t>Encryption notice at the top of every chat</a:t>
            </a:r>
            <a:endParaRPr lang="en-US" sz="1200" dirty="0"/>
          </a:p>
        </p:txBody>
      </p:sp>
      <p:sp>
        <p:nvSpPr>
          <p:cNvPr id="172" name="Shape 172"/>
          <p:cNvSpPr/>
          <p:nvPr/>
        </p:nvSpPr>
        <p:spPr>
          <a:xfrm>
            <a:off x="5669280" y="4919472"/>
            <a:ext cx="2926080" cy="1298448"/>
          </a:xfrm>
          <a:prstGeom prst="rect">
            <a:avLst/>
          </a:prstGeom>
          <a:solidFill>
            <a:srgbClr val="000066"/>
          </a:solidFill>
          <a:ln w="9525">
            <a:solidFill>
              <a:srgbClr val="000066"/>
            </a:solidFill>
            <a:prstDash val="solid"/>
          </a:ln>
        </p:spPr>
        <p:txBody>
          <a:bodyPr wrap="square" lIns="164592" tIns="73152" rIns="137160" bIns="73152" rtlCol="0" anchor="ctr"/>
          <a:lstStyle/>
          <a:p>
            <a:pPr marL="0" indent="0" algn="l">
              <a:spcAft>
                <a:spcPts val="400"/>
              </a:spcAft>
              <a:buNone/>
            </a:pPr>
            <a:r>
              <a:rPr lang="en-US" sz="1150" b="1" i="1" dirty="0">
                <a:solidFill>
                  <a:srgbClr val="FFFFFF"/>
                </a:solidFill>
                <a:latin typeface="Calibri" pitchFamily="34" charset="0"/>
                <a:ea typeface="Calibri" pitchFamily="34" charset="-122"/>
                <a:cs typeface="Calibri" pitchFamily="34" charset="-120"/>
              </a:rPr>
              <a:t>“Encrypted in the app, but not yet true end-to-end.”</a:t>
            </a:r>
            <a:endParaRPr lang="en-US" sz="1200" dirty="0"/>
          </a:p>
          <a:p>
            <a:pPr marL="0" indent="0" algn="l">
              <a:buNone/>
            </a:pPr>
            <a:r>
              <a:rPr lang="en-US" sz="950" b="0" i="0" dirty="0">
                <a:solidFill>
                  <a:srgbClr val="B08B57"/>
                </a:solidFill>
                <a:latin typeface="Calibri" pitchFamily="34" charset="0"/>
                <a:ea typeface="Calibri" pitchFamily="34" charset="-122"/>
                <a:cs typeface="Calibri" pitchFamily="34" charset="-120"/>
              </a:rPr>
              <a:t>The key can be rebuilt from the chat id and a constant in the code. Per-user keys are future work.</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Demonstration</a:t>
            </a:r>
            <a:endParaRPr lang="en-US" sz="3200" dirty="0"/>
          </a:p>
        </p:txBody>
      </p:sp>
      <p:sp>
        <p:nvSpPr>
          <p:cNvPr id="3" name="Shape 1"/>
          <p:cNvSpPr/>
          <p:nvPr/>
        </p:nvSpPr>
        <p:spPr>
          <a:xfrm>
            <a:off x="548640" y="1874520"/>
            <a:ext cx="3108960" cy="4160520"/>
          </a:xfrm>
          <a:prstGeom prst="rect">
            <a:avLst/>
          </a:prstGeom>
          <a:solidFill>
            <a:srgbClr val="000066"/>
          </a:solidFill>
          <a:ln w="12700">
            <a:solidFill>
              <a:srgbClr val="000066"/>
            </a:solidFill>
            <a:prstDash val="solid"/>
          </a:ln>
        </p:spPr>
      </p:sp>
      <p:sp>
        <p:nvSpPr>
          <p:cNvPr id="4" name="Shape 2"/>
          <p:cNvSpPr/>
          <p:nvPr/>
        </p:nvSpPr>
        <p:spPr>
          <a:xfrm>
            <a:off x="1600200" y="2514600"/>
            <a:ext cx="1005840" cy="1005840"/>
          </a:xfrm>
          <a:prstGeom prst="ellipse">
            <a:avLst/>
          </a:prstGeom>
          <a:solidFill>
            <a:srgbClr val="B08B57"/>
          </a:solidFill>
          <a:ln w="12700">
            <a:solidFill>
              <a:srgbClr val="B08B57"/>
            </a:solidFill>
            <a:prstDash val="solid"/>
          </a:ln>
        </p:spPr>
      </p:sp>
      <p:pic>
        <p:nvPicPr>
          <p:cNvPr id="5" name="Image 0" descr="preencoded.png">    </p:cNvPr>
          <p:cNvPicPr>
            <a:picLocks noChangeAspect="1"/>
          </p:cNvPicPr>
          <p:nvPr/>
        </p:nvPicPr>
        <p:blipFill>
          <a:blip r:embed="rId1"/>
          <a:stretch>
            <a:fillRect/>
          </a:stretch>
        </p:blipFill>
        <p:spPr>
          <a:xfrm>
            <a:off x="1851660" y="2766060"/>
            <a:ext cx="502920" cy="502920"/>
          </a:xfrm>
          <a:prstGeom prst="rect">
            <a:avLst/>
          </a:prstGeom>
        </p:spPr>
      </p:pic>
      <p:sp>
        <p:nvSpPr>
          <p:cNvPr id="6" name="Text 3"/>
          <p:cNvSpPr txBox="1"/>
          <p:nvPr/>
        </p:nvSpPr>
        <p:spPr>
          <a:xfrm>
            <a:off x="548640" y="3749040"/>
            <a:ext cx="310896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LIVE DEMO</a:t>
            </a:r>
            <a:endParaRPr lang="en-US" sz="3000" dirty="0"/>
          </a:p>
        </p:txBody>
      </p:sp>
      <p:sp>
        <p:nvSpPr>
          <p:cNvPr id="7" name="Text 4"/>
          <p:cNvSpPr txBox="1"/>
          <p:nvPr/>
        </p:nvSpPr>
        <p:spPr>
          <a:xfrm>
            <a:off x="548640" y="4297680"/>
            <a:ext cx="3108960" cy="365760"/>
          </a:xfrm>
          <a:prstGeom prst="rect">
            <a:avLst/>
          </a:prstGeom>
          <a:noFill/>
          <a:ln/>
        </p:spPr>
        <p:txBody>
          <a:bodyPr wrap="square" lIns="0" tIns="0" rIns="0" bIns="0" rtlCol="0" anchor="ctr"/>
          <a:lstStyle/>
          <a:p>
            <a:pPr algn="ctr" indent="0" marL="0">
              <a:buNone/>
            </a:pPr>
            <a:r>
              <a:rPr lang="en-US" sz="1400" dirty="0">
                <a:solidFill>
                  <a:srgbClr val="DCE6F2"/>
                </a:solidFill>
                <a:latin typeface="Calibri" pitchFamily="34" charset="0"/>
                <a:ea typeface="Calibri" pitchFamily="34" charset="-122"/>
                <a:cs typeface="Calibri" pitchFamily="34" charset="-120"/>
              </a:rPr>
              <a:t>Switch to the running system</a:t>
            </a:r>
            <a:endParaRPr lang="en-US" sz="1400" dirty="0"/>
          </a:p>
        </p:txBody>
      </p:sp>
      <p:sp>
        <p:nvSpPr>
          <p:cNvPr id="8" name="Text 5"/>
          <p:cNvSpPr txBox="1"/>
          <p:nvPr/>
        </p:nvSpPr>
        <p:spPr>
          <a:xfrm>
            <a:off x="3977640" y="1874520"/>
            <a:ext cx="4617720" cy="411480"/>
          </a:xfrm>
          <a:prstGeom prst="rect">
            <a:avLst/>
          </a:prstGeom>
          <a:noFill/>
          <a:ln/>
        </p:spPr>
        <p:txBody>
          <a:bodyPr wrap="square" lIns="0" tIns="0" rIns="0" bIns="0" rtlCol="0" anchor="ctr"/>
          <a:lstStyle/>
          <a:p>
            <a:pPr indent="0" marL="0">
              <a:buNone/>
            </a:pPr>
            <a:r>
              <a:rPr lang="en-US" sz="1700" b="1" dirty="0">
                <a:solidFill>
                  <a:srgbClr val="000066"/>
                </a:solidFill>
                <a:latin typeface="Calibri" pitchFamily="34" charset="0"/>
                <a:ea typeface="Calibri" pitchFamily="34" charset="-122"/>
                <a:cs typeface="Calibri" pitchFamily="34" charset="-120"/>
              </a:rPr>
              <a:t>Demo script</a:t>
            </a:r>
            <a:endParaRPr lang="en-US" sz="1700" dirty="0"/>
          </a:p>
        </p:txBody>
      </p:sp>
      <p:sp>
        <p:nvSpPr>
          <p:cNvPr id="9" name="Shape 6"/>
          <p:cNvSpPr/>
          <p:nvPr/>
        </p:nvSpPr>
        <p:spPr>
          <a:xfrm>
            <a:off x="3977640" y="2414016"/>
            <a:ext cx="384048" cy="384048"/>
          </a:xfrm>
          <a:prstGeom prst="ellipse">
            <a:avLst/>
          </a:prstGeom>
          <a:solidFill>
            <a:srgbClr val="B08B57"/>
          </a:solidFill>
          <a:ln w="12700">
            <a:solidFill>
              <a:srgbClr val="B08B57"/>
            </a:solidFill>
            <a:prstDash val="solid"/>
          </a:ln>
        </p:spPr>
      </p:sp>
      <p:sp>
        <p:nvSpPr>
          <p:cNvPr id="10" name="Text 7"/>
          <p:cNvSpPr txBox="1"/>
          <p:nvPr/>
        </p:nvSpPr>
        <p:spPr>
          <a:xfrm>
            <a:off x="3977640" y="24140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4526280" y="2377440"/>
            <a:ext cx="4069080" cy="457200"/>
          </a:xfrm>
          <a:prstGeom prst="rect">
            <a:avLst/>
          </a:prstGeom>
          <a:noFill/>
          <a:ln/>
        </p:spPr>
        <p:txBody>
          <a:bodyPr wrap="square" lIns="0" tIns="0" rIns="0" bIns="0" rtlCol="0" anchor="ctr"/>
          <a:lstStyle/>
          <a:p>
            <a:pPr indent="0" marL="0">
              <a:buNone/>
            </a:pPr>
            <a:r>
              <a:rPr lang="en-US" sz="1400" dirty="0">
                <a:solidFill>
                  <a:srgbClr val="000066"/>
                </a:solidFill>
                <a:latin typeface="Calibri" pitchFamily="34" charset="0"/>
                <a:ea typeface="Calibri" pitchFamily="34" charset="-122"/>
                <a:cs typeface="Calibri" pitchFamily="34" charset="-120"/>
              </a:rPr>
              <a:t>Sign up with an email address, open the verification link and reach the Welcome screen</a:t>
            </a:r>
            <a:endParaRPr lang="en-US" sz="1400" dirty="0"/>
          </a:p>
        </p:txBody>
      </p:sp>
      <p:sp>
        <p:nvSpPr>
          <p:cNvPr id="12" name="Shape 9"/>
          <p:cNvSpPr/>
          <p:nvPr/>
        </p:nvSpPr>
        <p:spPr>
          <a:xfrm>
            <a:off x="3977640" y="3072384"/>
            <a:ext cx="384048" cy="384048"/>
          </a:xfrm>
          <a:prstGeom prst="ellipse">
            <a:avLst/>
          </a:prstGeom>
          <a:solidFill>
            <a:srgbClr val="B08B57"/>
          </a:solidFill>
          <a:ln w="12700">
            <a:solidFill>
              <a:srgbClr val="B08B57"/>
            </a:solidFill>
            <a:prstDash val="solid"/>
          </a:ln>
        </p:spPr>
      </p:sp>
      <p:sp>
        <p:nvSpPr>
          <p:cNvPr id="13" name="Text 10"/>
          <p:cNvSpPr txBox="1"/>
          <p:nvPr/>
        </p:nvSpPr>
        <p:spPr>
          <a:xfrm>
            <a:off x="3977640" y="30723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4526280" y="3035808"/>
            <a:ext cx="4069080" cy="457200"/>
          </a:xfrm>
          <a:prstGeom prst="rect">
            <a:avLst/>
          </a:prstGeom>
          <a:noFill/>
          <a:ln/>
        </p:spPr>
        <p:txBody>
          <a:bodyPr wrap="square" lIns="0" tIns="0" rIns="0" bIns="0" rtlCol="0" anchor="ctr"/>
          <a:lstStyle/>
          <a:p>
            <a:pPr indent="0" marL="0">
              <a:buNone/>
            </a:pPr>
            <a:r>
              <a:rPr lang="en-US" sz="1400" dirty="0">
                <a:solidFill>
                  <a:srgbClr val="000066"/>
                </a:solidFill>
                <a:latin typeface="Calibri" pitchFamily="34" charset="0"/>
                <a:ea typeface="Calibri" pitchFamily="34" charset="-122"/>
                <a:cs typeface="Calibri" pitchFamily="34" charset="-120"/>
              </a:rPr>
              <a:t>Report a found item with a photo; it appears on the Browse list at once</a:t>
            </a:r>
            <a:endParaRPr lang="en-US" sz="1400" dirty="0"/>
          </a:p>
        </p:txBody>
      </p:sp>
      <p:sp>
        <p:nvSpPr>
          <p:cNvPr id="15" name="Shape 12"/>
          <p:cNvSpPr/>
          <p:nvPr/>
        </p:nvSpPr>
        <p:spPr>
          <a:xfrm>
            <a:off x="3977640" y="3730752"/>
            <a:ext cx="384048" cy="384048"/>
          </a:xfrm>
          <a:prstGeom prst="ellipse">
            <a:avLst/>
          </a:prstGeom>
          <a:solidFill>
            <a:srgbClr val="B08B57"/>
          </a:solidFill>
          <a:ln w="12700">
            <a:solidFill>
              <a:srgbClr val="B08B57"/>
            </a:solidFill>
            <a:prstDash val="solid"/>
          </a:ln>
        </p:spPr>
      </p:sp>
      <p:sp>
        <p:nvSpPr>
          <p:cNvPr id="16" name="Text 13"/>
          <p:cNvSpPr txBox="1"/>
          <p:nvPr/>
        </p:nvSpPr>
        <p:spPr>
          <a:xfrm>
            <a:off x="3977640" y="373075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4526280" y="3694176"/>
            <a:ext cx="4069080" cy="457200"/>
          </a:xfrm>
          <a:prstGeom prst="rect">
            <a:avLst/>
          </a:prstGeom>
          <a:noFill/>
          <a:ln/>
        </p:spPr>
        <p:txBody>
          <a:bodyPr wrap="square" lIns="0" tIns="0" rIns="0" bIns="0" rtlCol="0" anchor="ctr"/>
          <a:lstStyle/>
          <a:p>
            <a:pPr indent="0" marL="0">
              <a:buNone/>
            </a:pPr>
            <a:r>
              <a:rPr lang="en-US" sz="1400" dirty="0">
                <a:solidFill>
                  <a:srgbClr val="000066"/>
                </a:solidFill>
                <a:latin typeface="Calibri" pitchFamily="34" charset="0"/>
                <a:ea typeface="Calibri" pitchFamily="34" charset="-122"/>
                <a:cs typeface="Calibri" pitchFamily="34" charset="-120"/>
              </a:rPr>
              <a:t>On a second phone, search for the item, open its details and start a secure chat</a:t>
            </a:r>
            <a:endParaRPr lang="en-US" sz="1400" dirty="0"/>
          </a:p>
        </p:txBody>
      </p:sp>
      <p:sp>
        <p:nvSpPr>
          <p:cNvPr id="18" name="Shape 15"/>
          <p:cNvSpPr/>
          <p:nvPr/>
        </p:nvSpPr>
        <p:spPr>
          <a:xfrm>
            <a:off x="3977640" y="4389120"/>
            <a:ext cx="384048" cy="384048"/>
          </a:xfrm>
          <a:prstGeom prst="ellipse">
            <a:avLst/>
          </a:prstGeom>
          <a:solidFill>
            <a:srgbClr val="B08B57"/>
          </a:solidFill>
          <a:ln w="12700">
            <a:solidFill>
              <a:srgbClr val="B08B57"/>
            </a:solidFill>
            <a:prstDash val="solid"/>
          </a:ln>
        </p:spPr>
      </p:sp>
      <p:sp>
        <p:nvSpPr>
          <p:cNvPr id="19" name="Text 16"/>
          <p:cNvSpPr txBox="1"/>
          <p:nvPr/>
        </p:nvSpPr>
        <p:spPr>
          <a:xfrm>
            <a:off x="3977640" y="4389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4526280" y="4352544"/>
            <a:ext cx="4069080" cy="457200"/>
          </a:xfrm>
          <a:prstGeom prst="rect">
            <a:avLst/>
          </a:prstGeom>
          <a:noFill/>
          <a:ln/>
        </p:spPr>
        <p:txBody>
          <a:bodyPr wrap="square" lIns="0" tIns="0" rIns="0" bIns="0" rtlCol="0" anchor="ctr"/>
          <a:lstStyle/>
          <a:p>
            <a:pPr indent="0" marL="0">
              <a:buNone/>
            </a:pPr>
            <a:r>
              <a:rPr lang="en-US" sz="1400" dirty="0">
                <a:solidFill>
                  <a:srgbClr val="000066"/>
                </a:solidFill>
                <a:latin typeface="Calibri" pitchFamily="34" charset="0"/>
                <a:ea typeface="Calibri" pitchFamily="34" charset="-122"/>
                <a:cs typeface="Calibri" pitchFamily="34" charset="-120"/>
              </a:rPr>
              <a:t>Exchange messages in real time; show the stored ciphertext in the Firestore console</a:t>
            </a:r>
            <a:endParaRPr lang="en-US" sz="1400" dirty="0"/>
          </a:p>
        </p:txBody>
      </p:sp>
      <p:sp>
        <p:nvSpPr>
          <p:cNvPr id="21" name="Shape 18"/>
          <p:cNvSpPr/>
          <p:nvPr/>
        </p:nvSpPr>
        <p:spPr>
          <a:xfrm>
            <a:off x="3977640" y="5120640"/>
            <a:ext cx="4617720" cy="914400"/>
          </a:xfrm>
          <a:prstGeom prst="rect">
            <a:avLst/>
          </a:prstGeom>
          <a:solidFill>
            <a:srgbClr val="F3ECD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22" name="Text 19"/>
          <p:cNvSpPr txBox="1"/>
          <p:nvPr/>
        </p:nvSpPr>
        <p:spPr>
          <a:xfrm>
            <a:off x="4160520" y="5120640"/>
            <a:ext cx="4297680" cy="914400"/>
          </a:xfrm>
          <a:prstGeom prst="rect">
            <a:avLst/>
          </a:prstGeom>
          <a:noFill/>
          <a:ln/>
        </p:spPr>
        <p:txBody>
          <a:bodyPr wrap="square" lIns="0" tIns="0" rIns="0" bIns="0" rtlCol="0" anchor="ctr"/>
          <a:lstStyle/>
          <a:p>
            <a:pPr indent="0" marL="0">
              <a:buNone/>
            </a:pPr>
            <a:r>
              <a:rPr lang="en-US" sz="1300" b="1" dirty="0">
                <a:solidFill>
                  <a:srgbClr val="000066"/>
                </a:solidFill>
                <a:latin typeface="Calibri" pitchFamily="34" charset="0"/>
                <a:ea typeface="Calibri" pitchFamily="34" charset="-122"/>
                <a:cs typeface="Calibri" pitchFamily="34" charset="-120"/>
              </a:rPr>
              <a:t xml:space="preserve">Backup: </a:t>
            </a:r>
            <a:pPr indent="0" marL="0">
              <a:buNone/>
            </a:pPr>
            <a:r>
              <a:rPr lang="en-US" sz="1300" dirty="0" b="0">
                <a:solidFill>
                  <a:srgbClr val="000066"/>
                </a:solidFill>
                <a:latin typeface="Calibri" pitchFamily="34" charset="0"/>
                <a:ea typeface="Calibri" pitchFamily="34" charset="-122"/>
                <a:cs typeface="Calibri" pitchFamily="34" charset="-120"/>
              </a:rPr>
              <a:t>a screen recording of the four scenarios, in case the network fails. [INSERT: confirm it is recorded] The demo uses test accounts.</a:t>
            </a:r>
            <a:endParaRPr lang="en-US" sz="13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Evaluation Plan</a:t>
            </a:r>
            <a:endParaRPr lang="en-US" sz="3200" dirty="0"/>
          </a:p>
        </p:txBody>
      </p:sp>
      <p:sp>
        <p:nvSpPr>
          <p:cNvPr id="173" name="Text 173"/>
          <p:cNvSpPr txBox="1"/>
          <p:nvPr/>
        </p:nvSpPr>
        <p:spPr>
          <a:xfrm>
            <a:off x="548640" y="1874520"/>
            <a:ext cx="5120640" cy="219456"/>
          </a:xfrm>
          <a:prstGeom prst="rect">
            <a:avLst/>
          </a:prstGeom>
          <a:noFill/>
          <a:ln>
            <a:noFill/>
          </a:ln>
        </p:spPr>
        <p:txBody>
          <a:bodyPr wrap="square" lIns="0" tIns="0" rIns="0" bIns="0" rtlCol="0" anchor="t"/>
          <a:lstStyle/>
          <a:p>
            <a:pPr marL="0" indent="0" algn="l">
              <a:buNone/>
            </a:pPr>
            <a:r>
              <a:rPr lang="en-US" sz="1000" b="1" i="0" dirty="0">
                <a:solidFill>
                  <a:srgbClr val="B08B57"/>
                </a:solidFill>
                <a:latin typeface="Calibri" pitchFamily="34" charset="0"/>
                <a:ea typeface="Calibri" pitchFamily="34" charset="-122"/>
                <a:cs typeface="Calibri" pitchFamily="34" charset="-120"/>
              </a:rPr>
              <a:t>USABILITY STUDY  ·  PLANNED, NOT YET RUN</a:t>
            </a:r>
            <a:endParaRPr lang="en-US" sz="1200" dirty="0"/>
          </a:p>
        </p:txBody>
      </p:sp>
      <p:sp>
        <p:nvSpPr>
          <p:cNvPr id="174" name="Text 174"/>
          <p:cNvSpPr txBox="1"/>
          <p:nvPr/>
        </p:nvSpPr>
        <p:spPr>
          <a:xfrm>
            <a:off x="5897880" y="1874520"/>
            <a:ext cx="2743200" cy="219456"/>
          </a:xfrm>
          <a:prstGeom prst="rect">
            <a:avLst/>
          </a:prstGeom>
          <a:noFill/>
          <a:ln>
            <a:noFill/>
          </a:ln>
        </p:spPr>
        <p:txBody>
          <a:bodyPr wrap="square" lIns="0" tIns="0" rIns="0" bIns="0" rtlCol="0" anchor="t"/>
          <a:lstStyle/>
          <a:p>
            <a:pPr marL="0" indent="0" algn="l">
              <a:buNone/>
            </a:pPr>
            <a:r>
              <a:rPr lang="en-US" sz="1000" b="1" i="0" dirty="0">
                <a:solidFill>
                  <a:srgbClr val="B08B57"/>
                </a:solidFill>
                <a:latin typeface="Calibri" pitchFamily="34" charset="0"/>
                <a:ea typeface="Calibri" pitchFamily="34" charset="-122"/>
                <a:cs typeface="Calibri" pitchFamily="34" charset="-120"/>
              </a:rPr>
              <a:t>SYSTEM TESTING  ·  MANUAL SO FAR</a:t>
            </a:r>
            <a:endParaRPr lang="en-US" sz="1200" dirty="0"/>
          </a:p>
        </p:txBody>
      </p:sp>
      <p:sp>
        <p:nvSpPr>
          <p:cNvPr id="175" name="Shape 175"/>
          <p:cNvSpPr/>
          <p:nvPr/>
        </p:nvSpPr>
        <p:spPr>
          <a:xfrm>
            <a:off x="548640" y="2176272"/>
            <a:ext cx="5166360" cy="89611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76" name="Shape 176"/>
          <p:cNvSpPr/>
          <p:nvPr/>
        </p:nvSpPr>
        <p:spPr>
          <a:xfrm>
            <a:off x="658368" y="2414016"/>
            <a:ext cx="640080" cy="420624"/>
          </a:xfrm>
          <a:prstGeom prst="rect">
            <a:avLst/>
          </a:prstGeom>
          <a:solidFill>
            <a:srgbClr val="000066"/>
          </a:solidFill>
          <a:ln w="9525">
            <a:solidFill>
              <a:srgbClr val="000066"/>
            </a:solidFill>
            <a:prstDash val="solid"/>
          </a:ln>
        </p:spPr>
        <p:txBody>
          <a:bodyPr wrap="square" lIns="0" tIns="0" rIns="0" bIns="0" rtlCol="0" anchor="ctr"/>
          <a:lstStyle/>
          <a:p>
            <a:pPr marL="0" indent="0" algn="ctr">
              <a:buNone/>
            </a:pPr>
            <a:r>
              <a:rPr lang="en-US" sz="1250" b="1" i="0" dirty="0">
                <a:solidFill>
                  <a:srgbClr val="FFFFFF"/>
                </a:solidFill>
                <a:latin typeface="Calibri" pitchFamily="34" charset="0"/>
                <a:ea typeface="Calibri" pitchFamily="34" charset="-122"/>
                <a:cs typeface="Calibri" pitchFamily="34" charset="-120"/>
              </a:rPr>
              <a:t>RQ1</a:t>
            </a:r>
            <a:endParaRPr lang="en-US" sz="1200" dirty="0"/>
          </a:p>
        </p:txBody>
      </p:sp>
      <p:sp>
        <p:nvSpPr>
          <p:cNvPr id="177" name="Text 177"/>
          <p:cNvSpPr txBox="1"/>
          <p:nvPr/>
        </p:nvSpPr>
        <p:spPr>
          <a:xfrm>
            <a:off x="1444752" y="2231136"/>
            <a:ext cx="3383280" cy="78638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Time to report and find an item</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Time on task in CampusFinder vs a described WhatsApp group scenario</a:t>
            </a:r>
            <a:endParaRPr lang="en-US" sz="1200" dirty="0"/>
          </a:p>
        </p:txBody>
      </p:sp>
      <p:sp>
        <p:nvSpPr>
          <p:cNvPr id="178" name="Text 178"/>
          <p:cNvSpPr txBox="1"/>
          <p:nvPr/>
        </p:nvSpPr>
        <p:spPr>
          <a:xfrm>
            <a:off x="4846320" y="2231136"/>
            <a:ext cx="777240" cy="786384"/>
          </a:xfrm>
          <a:prstGeom prst="rect">
            <a:avLst/>
          </a:prstGeom>
          <a:noFill/>
          <a:ln>
            <a:noFill/>
          </a:ln>
        </p:spPr>
        <p:txBody>
          <a:bodyPr wrap="square" lIns="0" tIns="0" rIns="0" bIns="0" rtlCol="0" anchor="ctr"/>
          <a:lstStyle/>
          <a:p>
            <a:pPr marL="0" indent="0" algn="r">
              <a:buNone/>
            </a:pPr>
            <a:r>
              <a:rPr lang="en-US" sz="1100" b="1" i="0" dirty="0">
                <a:solidFill>
                  <a:srgbClr val="B08B57"/>
                </a:solidFill>
                <a:latin typeface="Calibri" pitchFamily="34" charset="0"/>
                <a:ea typeface="Calibri" pitchFamily="34" charset="-122"/>
                <a:cs typeface="Calibri" pitchFamily="34" charset="-120"/>
              </a:rPr>
              <a:t>→ O4</a:t>
            </a:r>
            <a:endParaRPr lang="en-US" sz="1200" dirty="0"/>
          </a:p>
        </p:txBody>
      </p:sp>
      <p:sp>
        <p:nvSpPr>
          <p:cNvPr id="179" name="Shape 179"/>
          <p:cNvSpPr/>
          <p:nvPr/>
        </p:nvSpPr>
        <p:spPr>
          <a:xfrm>
            <a:off x="548640" y="3163824"/>
            <a:ext cx="5166360" cy="89611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80" name="Shape 180"/>
          <p:cNvSpPr/>
          <p:nvPr/>
        </p:nvSpPr>
        <p:spPr>
          <a:xfrm>
            <a:off x="658368" y="3401568"/>
            <a:ext cx="640080" cy="420624"/>
          </a:xfrm>
          <a:prstGeom prst="rect">
            <a:avLst/>
          </a:prstGeom>
          <a:solidFill>
            <a:srgbClr val="000066"/>
          </a:solidFill>
          <a:ln w="9525">
            <a:solidFill>
              <a:srgbClr val="000066"/>
            </a:solidFill>
            <a:prstDash val="solid"/>
          </a:ln>
        </p:spPr>
        <p:txBody>
          <a:bodyPr wrap="square" lIns="0" tIns="0" rIns="0" bIns="0" rtlCol="0" anchor="ctr"/>
          <a:lstStyle/>
          <a:p>
            <a:pPr marL="0" indent="0" algn="ctr">
              <a:buNone/>
            </a:pPr>
            <a:r>
              <a:rPr lang="en-US" sz="1250" b="1" i="0" dirty="0">
                <a:solidFill>
                  <a:srgbClr val="FFFFFF"/>
                </a:solidFill>
                <a:latin typeface="Calibri" pitchFamily="34" charset="0"/>
                <a:ea typeface="Calibri" pitchFamily="34" charset="-122"/>
                <a:cs typeface="Calibri" pitchFamily="34" charset="-120"/>
              </a:rPr>
              <a:t>RQ2</a:t>
            </a:r>
            <a:endParaRPr lang="en-US" sz="1200" dirty="0"/>
          </a:p>
        </p:txBody>
      </p:sp>
      <p:sp>
        <p:nvSpPr>
          <p:cNvPr id="181" name="Text 181"/>
          <p:cNvSpPr txBox="1"/>
          <p:nvPr/>
        </p:nvSpPr>
        <p:spPr>
          <a:xfrm>
            <a:off x="1444752" y="3218688"/>
            <a:ext cx="3383280" cy="78638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Usability</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System Usability Scale questionnaire (Brooke, 1996) after the tasks</a:t>
            </a:r>
            <a:endParaRPr lang="en-US" sz="1200" dirty="0"/>
          </a:p>
        </p:txBody>
      </p:sp>
      <p:sp>
        <p:nvSpPr>
          <p:cNvPr id="182" name="Text 182"/>
          <p:cNvSpPr txBox="1"/>
          <p:nvPr/>
        </p:nvSpPr>
        <p:spPr>
          <a:xfrm>
            <a:off x="4846320" y="3218688"/>
            <a:ext cx="777240" cy="786384"/>
          </a:xfrm>
          <a:prstGeom prst="rect">
            <a:avLst/>
          </a:prstGeom>
          <a:noFill/>
          <a:ln>
            <a:noFill/>
          </a:ln>
        </p:spPr>
        <p:txBody>
          <a:bodyPr wrap="square" lIns="0" tIns="0" rIns="0" bIns="0" rtlCol="0" anchor="ctr"/>
          <a:lstStyle/>
          <a:p>
            <a:pPr marL="0" indent="0" algn="r">
              <a:buNone/>
            </a:pPr>
            <a:r>
              <a:rPr lang="en-US" sz="1100" b="1" i="0" dirty="0">
                <a:solidFill>
                  <a:srgbClr val="B08B57"/>
                </a:solidFill>
                <a:latin typeface="Calibri" pitchFamily="34" charset="0"/>
                <a:ea typeface="Calibri" pitchFamily="34" charset="-122"/>
                <a:cs typeface="Calibri" pitchFamily="34" charset="-120"/>
              </a:rPr>
              <a:t>→ O4</a:t>
            </a:r>
            <a:endParaRPr lang="en-US" sz="1200" dirty="0"/>
          </a:p>
        </p:txBody>
      </p:sp>
      <p:sp>
        <p:nvSpPr>
          <p:cNvPr id="183" name="Shape 183"/>
          <p:cNvSpPr/>
          <p:nvPr/>
        </p:nvSpPr>
        <p:spPr>
          <a:xfrm>
            <a:off x="548640" y="4151376"/>
            <a:ext cx="5166360" cy="896112"/>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84" name="Shape 184"/>
          <p:cNvSpPr/>
          <p:nvPr/>
        </p:nvSpPr>
        <p:spPr>
          <a:xfrm>
            <a:off x="658368" y="4389120"/>
            <a:ext cx="640080" cy="420624"/>
          </a:xfrm>
          <a:prstGeom prst="rect">
            <a:avLst/>
          </a:prstGeom>
          <a:solidFill>
            <a:srgbClr val="000066"/>
          </a:solidFill>
          <a:ln w="9525">
            <a:solidFill>
              <a:srgbClr val="000066"/>
            </a:solidFill>
            <a:prstDash val="solid"/>
          </a:ln>
        </p:spPr>
        <p:txBody>
          <a:bodyPr wrap="square" lIns="0" tIns="0" rIns="0" bIns="0" rtlCol="0" anchor="ctr"/>
          <a:lstStyle/>
          <a:p>
            <a:pPr marL="0" indent="0" algn="ctr">
              <a:buNone/>
            </a:pPr>
            <a:r>
              <a:rPr lang="en-US" sz="1250" b="1" i="0" dirty="0">
                <a:solidFill>
                  <a:srgbClr val="FFFFFF"/>
                </a:solidFill>
                <a:latin typeface="Calibri" pitchFamily="34" charset="0"/>
                <a:ea typeface="Calibri" pitchFamily="34" charset="-122"/>
                <a:cs typeface="Calibri" pitchFamily="34" charset="-120"/>
              </a:rPr>
              <a:t>RQ3</a:t>
            </a:r>
            <a:endParaRPr lang="en-US" sz="1200" dirty="0"/>
          </a:p>
        </p:txBody>
      </p:sp>
      <p:sp>
        <p:nvSpPr>
          <p:cNvPr id="185" name="Text 185"/>
          <p:cNvSpPr txBox="1"/>
          <p:nvPr/>
        </p:nvSpPr>
        <p:spPr>
          <a:xfrm>
            <a:off x="1444752" y="4206240"/>
            <a:ext cx="3383280" cy="786384"/>
          </a:xfrm>
          <a:prstGeom prst="rect">
            <a:avLst/>
          </a:prstGeom>
          <a:noFill/>
          <a:ln>
            <a:noFill/>
          </a:ln>
        </p:spPr>
        <p:txBody>
          <a:bodyPr wrap="square" lIns="0" tIns="0" rIns="0" bIns="0" rtlCol="0" anchor="ctr"/>
          <a:lstStyle/>
          <a:p>
            <a:pPr marL="0" indent="0" algn="l">
              <a:spcAft>
                <a:spcPts val="100"/>
              </a:spcAft>
              <a:buNone/>
            </a:pPr>
            <a:r>
              <a:rPr lang="en-US" sz="1250" b="1" i="0" dirty="0">
                <a:solidFill>
                  <a:srgbClr val="000066"/>
                </a:solidFill>
                <a:latin typeface="Calibri" pitchFamily="34" charset="0"/>
                <a:ea typeface="Calibri" pitchFamily="34" charset="-122"/>
                <a:cs typeface="Calibri" pitchFamily="34" charset="-120"/>
              </a:rPr>
              <a:t>Trust in the safeguards</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Rating items + open questions on email verification, private chat and the encryption notice</a:t>
            </a:r>
            <a:endParaRPr lang="en-US" sz="1200" dirty="0"/>
          </a:p>
        </p:txBody>
      </p:sp>
      <p:sp>
        <p:nvSpPr>
          <p:cNvPr id="186" name="Text 186"/>
          <p:cNvSpPr txBox="1"/>
          <p:nvPr/>
        </p:nvSpPr>
        <p:spPr>
          <a:xfrm>
            <a:off x="4846320" y="4206240"/>
            <a:ext cx="777240" cy="786384"/>
          </a:xfrm>
          <a:prstGeom prst="rect">
            <a:avLst/>
          </a:prstGeom>
          <a:noFill/>
          <a:ln>
            <a:noFill/>
          </a:ln>
        </p:spPr>
        <p:txBody>
          <a:bodyPr wrap="square" lIns="0" tIns="0" rIns="0" bIns="0" rtlCol="0" anchor="ctr"/>
          <a:lstStyle/>
          <a:p>
            <a:pPr marL="0" indent="0" algn="r">
              <a:buNone/>
            </a:pPr>
            <a:r>
              <a:rPr lang="en-US" sz="1100" b="1" i="0" dirty="0">
                <a:solidFill>
                  <a:srgbClr val="B08B57"/>
                </a:solidFill>
                <a:latin typeface="Calibri" pitchFamily="34" charset="0"/>
                <a:ea typeface="Calibri" pitchFamily="34" charset="-122"/>
                <a:cs typeface="Calibri" pitchFamily="34" charset="-120"/>
              </a:rPr>
              <a:t>→ O2, O4</a:t>
            </a:r>
            <a:endParaRPr lang="en-US" sz="1200" dirty="0"/>
          </a:p>
        </p:txBody>
      </p:sp>
      <p:sp>
        <p:nvSpPr>
          <p:cNvPr id="187" name="Shape 187"/>
          <p:cNvSpPr/>
          <p:nvPr/>
        </p:nvSpPr>
        <p:spPr>
          <a:xfrm>
            <a:off x="548640" y="5166360"/>
            <a:ext cx="5166360" cy="1051560"/>
          </a:xfrm>
          <a:prstGeom prst="rect">
            <a:avLst/>
          </a:prstGeom>
          <a:solidFill>
            <a:srgbClr val="F3ECDF"/>
          </a:solidFill>
          <a:ln>
            <a:noFill/>
          </a:ln>
        </p:spPr>
        <p:txBody>
          <a:bodyPr wrap="square" lIns="164592" tIns="54864" rIns="137160" bIns="54864" rtlCol="0" anchor="ctr"/>
          <a:lstStyle/>
          <a:p>
            <a:pPr marL="0" indent="0" algn="l">
              <a:spcAft>
                <a:spcPts val="400"/>
              </a:spcAft>
              <a:buNone/>
            </a:pPr>
            <a:r>
              <a:rPr lang="en-US" sz="1050" b="1" i="0" dirty="0">
                <a:solidFill>
                  <a:srgbClr val="000066"/>
                </a:solidFill>
                <a:latin typeface="Calibri" pitchFamily="34" charset="0"/>
                <a:ea typeface="Calibri" pitchFamily="34" charset="-122"/>
                <a:cs typeface="Calibri" pitchFamily="34" charset="-120"/>
              </a:rPr>
              <a:t xml:space="preserve">Participants: </a:t>
            </a:r>
            <a:r>
              <a:rPr lang="en-US" sz="1050" b="0" i="0" dirty="0">
                <a:solidFill>
                  <a:srgbClr val="000066"/>
                </a:solidFill>
                <a:latin typeface="Calibri" pitchFamily="34" charset="0"/>
                <a:ea typeface="Calibri" pitchFamily="34" charset="-122"/>
                <a:cs typeface="Calibri" pitchFamily="34" charset="-120"/>
              </a:rPr>
              <a:t>[INSERT: number] University of Ghana students; think-aloud on a phone</a:t>
            </a:r>
            <a:endParaRPr lang="en-US" sz="1200" dirty="0"/>
          </a:p>
          <a:p>
            <a:pPr marL="0" indent="0" algn="l">
              <a:buNone/>
            </a:pPr>
            <a:r>
              <a:rPr lang="en-US" sz="1050" b="1" i="0" dirty="0">
                <a:solidFill>
                  <a:srgbClr val="000066"/>
                </a:solidFill>
                <a:latin typeface="Calibri" pitchFamily="34" charset="0"/>
                <a:ea typeface="Calibri" pitchFamily="34" charset="-122"/>
                <a:cs typeface="Calibri" pitchFamily="34" charset="-120"/>
              </a:rPr>
              <a:t xml:space="preserve">Before the study: </a:t>
            </a:r>
            <a:r>
              <a:rPr lang="en-US" sz="1050" b="0" i="0" dirty="0">
                <a:solidFill>
                  <a:srgbClr val="000066"/>
                </a:solidFill>
                <a:latin typeface="Calibri" pitchFamily="34" charset="0"/>
                <a:ea typeface="Calibri" pitchFamily="34" charset="-122"/>
                <a:cs typeface="Calibri" pitchFamily="34" charset="-120"/>
              </a:rPr>
              <a:t>[INSERT: consent and ethics steps]; the O1 survey sets the baseline</a:t>
            </a:r>
            <a:endParaRPr lang="en-US" sz="1200" dirty="0"/>
          </a:p>
        </p:txBody>
      </p:sp>
      <p:sp>
        <p:nvSpPr>
          <p:cNvPr id="188" name="Shape 188"/>
          <p:cNvSpPr/>
          <p:nvPr/>
        </p:nvSpPr>
        <p:spPr>
          <a:xfrm>
            <a:off x="5897880" y="2176272"/>
            <a:ext cx="2697480" cy="12801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txBody>
          <a:bodyPr wrap="square" lIns="182880" tIns="91440" rIns="137160" bIns="73152" rtlCol="0" anchor="ctr"/>
          <a:lstStyle/>
          <a:p>
            <a:pPr marL="0" indent="0" algn="l">
              <a:buNone/>
            </a:pPr>
            <a:r>
              <a:rPr lang="en-US" sz="3000" b="1" i="0" dirty="0">
                <a:solidFill>
                  <a:srgbClr val="000066"/>
                </a:solidFill>
                <a:latin typeface="Calibri" pitchFamily="34" charset="0"/>
                <a:ea typeface="Calibri" pitchFamily="34" charset="-122"/>
                <a:cs typeface="Calibri" pitchFamily="34" charset="-120"/>
              </a:rPr>
              <a:t>[INSERT]</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manual test cases run on a physical phone through Expo Go, and how many passed</a:t>
            </a:r>
            <a:endParaRPr lang="en-US" sz="1200" dirty="0"/>
          </a:p>
        </p:txBody>
      </p:sp>
      <p:sp>
        <p:nvSpPr>
          <p:cNvPr id="189" name="Shape 189"/>
          <p:cNvSpPr/>
          <p:nvPr/>
        </p:nvSpPr>
        <p:spPr>
          <a:xfrm>
            <a:off x="5897880" y="3520440"/>
            <a:ext cx="2697480" cy="12801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txBody>
          <a:bodyPr wrap="square" lIns="182880" tIns="91440" rIns="137160" bIns="73152" rtlCol="0" anchor="ctr"/>
          <a:lstStyle/>
          <a:p>
            <a:pPr marL="0" indent="0" algn="l">
              <a:buNone/>
            </a:pPr>
            <a:r>
              <a:rPr lang="en-US" sz="3000" b="1" i="0" dirty="0">
                <a:solidFill>
                  <a:srgbClr val="000066"/>
                </a:solidFill>
                <a:latin typeface="Calibri" pitchFamily="34" charset="0"/>
                <a:ea typeface="Calibri" pitchFamily="34" charset="-122"/>
                <a:cs typeface="Calibri" pitchFamily="34" charset="-120"/>
              </a:rPr>
              <a:t>[INSERT]</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devices and operating system versions the app was tested on</a:t>
            </a:r>
            <a:endParaRPr lang="en-US" sz="1200" dirty="0"/>
          </a:p>
        </p:txBody>
      </p:sp>
      <p:sp>
        <p:nvSpPr>
          <p:cNvPr id="190" name="Shape 190"/>
          <p:cNvSpPr/>
          <p:nvPr/>
        </p:nvSpPr>
        <p:spPr>
          <a:xfrm>
            <a:off x="5897880" y="4864608"/>
            <a:ext cx="2697480" cy="128016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txBody>
          <a:bodyPr wrap="square" lIns="182880" tIns="91440" rIns="137160" bIns="73152" rtlCol="0" anchor="ctr"/>
          <a:lstStyle/>
          <a:p>
            <a:pPr marL="0" indent="0" algn="l">
              <a:buNone/>
            </a:pPr>
            <a:r>
              <a:rPr lang="en-US" sz="3000" b="1" i="0" dirty="0">
                <a:solidFill>
                  <a:srgbClr val="000066"/>
                </a:solidFill>
                <a:latin typeface="Calibri" pitchFamily="34" charset="0"/>
                <a:ea typeface="Calibri" pitchFamily="34" charset="-122"/>
                <a:cs typeface="Calibri" pitchFamily="34" charset="-120"/>
              </a:rPr>
              <a:t>0</a:t>
            </a:r>
            <a:endParaRPr lang="en-US" sz="1200" dirty="0"/>
          </a:p>
          <a:p>
            <a:pPr marL="0" indent="0" algn="l">
              <a:buNone/>
            </a:pPr>
            <a:r>
              <a:rPr lang="en-US" sz="1000" b="0" i="0" dirty="0">
                <a:solidFill>
                  <a:srgbClr val="4A4A7A"/>
                </a:solidFill>
                <a:latin typeface="Calibri" pitchFamily="34" charset="0"/>
                <a:ea typeface="Calibri" pitchFamily="34" charset="-122"/>
                <a:cs typeface="Calibri" pitchFamily="34" charset="-120"/>
              </a:rPr>
              <a:t>automated tests in the repository so far; unit tests for the five service modules are planned</a:t>
            </a:r>
            <a:endParaRPr lang="en-US" sz="12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Objectives Revisited</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8046720" cy="914400"/>
        </p:xfrm>
        <a:graphic>
          <a:graphicData uri="http://schemas.openxmlformats.org/drawingml/2006/table">
            <a:tbl>
              <a:tblPr/>
              <a:tblGrid>
                <a:gridCol w="1005840"/>
                <a:gridCol w="3108960"/>
                <a:gridCol w="2377440"/>
                <a:gridCol w="155448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Objective</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it stands</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000066"/>
                    </a:solidFill>
                  </a:tcPr>
                </a:tc>
              </a:tr>
              <a:tr h="658368">
                <a:tc>
                  <a:txBody>
                    <a:bodyPr/>
                    <a:lstStyle/>
                    <a:p>
                      <a:pPr indent="0" marL="0">
                        <a:buNone/>
                      </a:pPr>
                      <a:r>
                        <a:rPr lang="en-US" sz="1050" b="1" dirty="0">
                          <a:solidFill>
                            <a:srgbClr val="000066"/>
                          </a:solidFill>
                          <a:latin typeface="Calibri" pitchFamily="34" charset="0"/>
                          <a:ea typeface="Calibri" pitchFamily="34" charset="-122"/>
                          <a:cs typeface="Calibri" pitchFamily="34" charset="-120"/>
                        </a:rPr>
                        <a:t>O1</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Related systems reviewed; survey of University of Ghana students still to run</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Related work review; [INSERT: survey instrument]</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66"/>
                          </a:solidFill>
                          <a:latin typeface="Calibri" pitchFamily="34" charset="0"/>
                          <a:ea typeface="Calibri" pitchFamily="34" charset="-122"/>
                          <a:cs typeface="Calibri" pitchFamily="34" charset="-120"/>
                        </a:rPr>
                        <a:t>Survey pending</a:t>
                        &gt;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658368">
                <a:tc>
                  <a:txBody>
                    <a:bodyPr/>
                    <a:lstStyle/>
                    <a:p>
                      <a:pPr indent="0" marL="0">
                        <a:buNone/>
                      </a:pPr>
                      <a:r>
                        <a:rPr lang="en-US" sz="1050" b="1" dirty="0">
                          <a:solidFill>
                            <a:srgbClr val="000066"/>
                          </a:solidFill>
                          <a:latin typeface="Calibri" pitchFamily="34" charset="0"/>
                          <a:ea typeface="Calibri" pitchFamily="34" charset="-122"/>
                          <a:cs typeface="Calibri" pitchFamily="34" charset="-120"/>
                        </a:rPr>
                        <a:t>O2</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Email verification gate, Firestore security rules and AES-encrypted chat implemented</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FR-01 to FR-03, FR-09; rules file and chat service</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66"/>
                          </a:solidFill>
                          <a:latin typeface="Calibri" pitchFamily="34" charset="0"/>
                          <a:ea typeface="Calibri" pitchFamily="34" charset="-122"/>
                          <a:cs typeface="Calibri" pitchFamily="34" charset="-120"/>
                        </a:rPr>
                        <a:t>Built; key handling to harden</a:t>
                        &gt;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658368">
                <a:tc>
                  <a:txBody>
                    <a:bodyPr/>
                    <a:lstStyle/>
                    <a:p>
                      <a:pPr indent="0" marL="0">
                        <a:buNone/>
                      </a:pPr>
                      <a:r>
                        <a:rPr lang="en-US" sz="1050" b="1" dirty="0">
                          <a:solidFill>
                            <a:srgbClr val="000066"/>
                          </a:solidFill>
                          <a:latin typeface="Calibri" pitchFamily="34" charset="0"/>
                          <a:ea typeface="Calibri" pitchFamily="34" charset="-122"/>
                          <a:cs typeface="Calibri" pitchFamily="34" charset="-120"/>
                        </a:rPr>
                        <a:t>O3</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Reporting with photos, live browsing, search, filters, chat inbox and alerts running on a phone</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12 requirements; 10 screens, 5 service modules</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66"/>
                          </a:solidFill>
                          <a:latin typeface="Calibri" pitchFamily="34" charset="0"/>
                          <a:ea typeface="Calibri" pitchFamily="34" charset="-122"/>
                          <a:cs typeface="Calibri" pitchFamily="34" charset="-120"/>
                        </a:rPr>
                        <a:t>Built; claim step not yet</a:t>
                        &gt;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r h="658368">
                <a:tc>
                  <a:txBody>
                    <a:bodyPr/>
                    <a:lstStyle/>
                    <a:p>
                      <a:pPr indent="0" marL="0">
                        <a:buNone/>
                      </a:pPr>
                      <a:r>
                        <a:rPr lang="en-US" sz="1050" b="1" dirty="0">
                          <a:solidFill>
                            <a:srgbClr val="000066"/>
                          </a:solidFill>
                          <a:latin typeface="Calibri" pitchFamily="34" charset="0"/>
                          <a:ea typeface="Calibri" pitchFamily="34" charset="-122"/>
                          <a:cs typeface="Calibri" pitchFamily="34" charset="-120"/>
                        </a:rPr>
                        <a:t>O4</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Functional testing by hand so far; usability study (RQ1 to RQ3) planned</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indent="0" marL="0">
                        <a:buNone/>
                      </a:pPr>
                      <a:r>
                        <a:rPr lang="en-US" sz="1050" dirty="0" b="0">
                          <a:solidFill>
                            <a:srgbClr val="000066"/>
                          </a:solidFill>
                          <a:latin typeface="Calibri" pitchFamily="34" charset="0"/>
                          <a:ea typeface="Calibri" pitchFamily="34" charset="-122"/>
                          <a:cs typeface="Calibri" pitchFamily="34" charset="-120"/>
                        </a:rPr>
                        <a:t>[INSERT: test log]; study protocol</a: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0066"/>
                          </a:solidFill>
                          <a:latin typeface="Calibri" pitchFamily="34" charset="0"/>
                          <a:ea typeface="Calibri" pitchFamily="34" charset="-122"/>
                          <a:cs typeface="Calibri" pitchFamily="34" charset="-120"/>
                        </a:rPr>
                        <a:t>Study pending</a:t>
                        &gt;
                      </a:r>
                      <a:endParaRPr lang="en-US" sz="1300" dirty="0">
                        <a:latin typeface="Calibri" charset="0"/>
                        <a:ea typeface="Calibri" charset="0"/>
                        <a:cs typeface="Calibri" charset="0"/>
                      </a:endParaRPr>
                    </a:p>
                  </a:txBody>
                  <a:tcPr marL="73152" marR="73152" marT="73152" marB="73152" anchor="ctr">
                    <a:lnL w="9525" cap="flat" cmpd="sng" algn="ctr">
                      <a:solidFill>
                        <a:srgbClr val="D3D3E6"/>
                      </a:solidFill>
                      <a:prstDash val="solid"/>
                      <a:round/>
                      <a:headEnd type="none" w="med" len="med"/>
                      <a:tailEnd type="none" w="med" len="med"/>
                    </a:lnL>
                    <a:lnR w="9525" cap="flat" cmpd="sng" algn="ctr">
                      <a:solidFill>
                        <a:srgbClr val="D3D3E6"/>
                      </a:solidFill>
                      <a:prstDash val="solid"/>
                      <a:round/>
                      <a:headEnd type="none" w="med" len="med"/>
                      <a:tailEnd type="none" w="med" len="med"/>
                    </a:lnR>
                    <a:lnT w="9525" cap="flat" cmpd="sng" algn="ctr">
                      <a:solidFill>
                        <a:srgbClr val="D3D3E6"/>
                      </a:solidFill>
                      <a:prstDash val="solid"/>
                      <a:round/>
                      <a:headEnd type="none" w="med" len="med"/>
                      <a:tailEnd type="none" w="med" len="med"/>
                    </a:lnT>
                    <a:lnB w="9525" cap="flat" cmpd="sng" algn="ctr">
                      <a:solidFill>
                        <a:srgbClr val="D3D3E6"/>
                      </a:solidFill>
                      <a:prstDash val="solid"/>
                      <a:round/>
                      <a:headEnd type="none" w="med" len="med"/>
                      <a:tailEnd type="none" w="med" len="med"/>
                    </a:lnB>
                    <a:solidFill>
                      <a:srgbClr val="F3ECDF"/>
                    </a:solidFill>
                  </a:tcPr>
                </a:tc>
              </a:tr>
            </a:tbl>
          </a:graphicData>
        </a:graphic>
      </p:graphicFrame>
      <p:sp>
        <p:nvSpPr>
          <p:cNvPr id="4" name="Shape 1"/>
          <p:cNvSpPr/>
          <p:nvPr/>
        </p:nvSpPr>
        <p:spPr>
          <a:xfrm>
            <a:off x="548640" y="5257800"/>
            <a:ext cx="8046720" cy="7772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5" name="Text 2"/>
          <p:cNvSpPr txBox="1"/>
          <p:nvPr/>
        </p:nvSpPr>
        <p:spPr>
          <a:xfrm>
            <a:off x="777240" y="5257800"/>
            <a:ext cx="7589520" cy="777240"/>
          </a:xfrm>
          <a:prstGeom prst="rect">
            <a:avLst/>
          </a:prstGeom>
          <a:noFill/>
          <a:ln/>
        </p:spPr>
        <p:txBody>
          <a:bodyPr wrap="square" lIns="0" tIns="0" rIns="0" bIns="0" rtlCol="0" anchor="ctr"/>
          <a:lstStyle/>
          <a:p>
            <a:pPr indent="0" marL="0">
              <a:buNone/>
            </a:pPr>
            <a:r>
              <a:rPr lang="en-US" sz="1500" b="1" dirty="0">
                <a:solidFill>
                  <a:srgbClr val="000066"/>
                </a:solidFill>
                <a:latin typeface="Calibri" pitchFamily="34" charset="0"/>
                <a:ea typeface="Calibri" pitchFamily="34" charset="-122"/>
                <a:cs typeface="Calibri" pitchFamily="34" charset="-120"/>
              </a:rPr>
              <a:t>Contribution: a working, serverless reference design for a campus lost-and-found service that combines verified accounts, database access rules, photo reports, live search and encrypted private chat in one mobile application.</a:t>
            </a:r>
            <a:pPr indent="0" marL="0">
              <a:buNone/>
            </a:pP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Limitations &amp; Future Work</a:t>
            </a:r>
            <a:endParaRPr lang="en-US" sz="3200" dirty="0"/>
          </a:p>
        </p:txBody>
      </p:sp>
      <p:sp>
        <p:nvSpPr>
          <p:cNvPr id="3" name="Shape 1"/>
          <p:cNvSpPr/>
          <p:nvPr/>
        </p:nvSpPr>
        <p:spPr>
          <a:xfrm>
            <a:off x="548640" y="1874520"/>
            <a:ext cx="3886200" cy="37490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Shape 2"/>
          <p:cNvSpPr/>
          <p:nvPr/>
        </p:nvSpPr>
        <p:spPr>
          <a:xfrm>
            <a:off x="822960" y="2103120"/>
            <a:ext cx="548640" cy="548640"/>
          </a:xfrm>
          <a:prstGeom prst="ellipse">
            <a:avLst/>
          </a:prstGeom>
          <a:solidFill>
            <a:srgbClr val="000066"/>
          </a:solidFill>
          <a:ln w="12700">
            <a:solidFill>
              <a:srgbClr val="000066"/>
            </a:solidFill>
            <a:prstDash val="solid"/>
          </a:ln>
        </p:spPr>
      </p:sp>
      <p:pic>
        <p:nvPicPr>
          <p:cNvPr id="5" name="Image 0" descr="preencoded.png">    </p:cNvPr>
          <p:cNvPicPr>
            <a:picLocks noChangeAspect="1"/>
          </p:cNvPicPr>
          <p:nvPr/>
        </p:nvPicPr>
        <p:blipFill>
          <a:blip r:embed="rId1"/>
          <a:stretch>
            <a:fillRect/>
          </a:stretch>
        </p:blipFill>
        <p:spPr>
          <a:xfrm>
            <a:off x="960120" y="2240280"/>
            <a:ext cx="274320" cy="274320"/>
          </a:xfrm>
          <a:prstGeom prst="rect">
            <a:avLst/>
          </a:prstGeom>
        </p:spPr>
      </p:pic>
      <p:sp>
        <p:nvSpPr>
          <p:cNvPr id="6" name="Text 3"/>
          <p:cNvSpPr txBox="1"/>
          <p:nvPr/>
        </p:nvSpPr>
        <p:spPr>
          <a:xfrm>
            <a:off x="1508760" y="2103120"/>
            <a:ext cx="2743200" cy="548640"/>
          </a:xfrm>
          <a:prstGeom prst="rect">
            <a:avLst/>
          </a:prstGeom>
          <a:noFill/>
          <a:ln/>
        </p:spPr>
        <p:txBody>
          <a:bodyPr wrap="square" lIns="0" tIns="0" rIns="0" bIns="0" rtlCol="0" anchor="ctr"/>
          <a:lstStyle/>
          <a:p>
            <a:pPr indent="0" marL="0">
              <a:buNone/>
            </a:pPr>
            <a:r>
              <a:rPr lang="en-US" sz="1800" b="1" dirty="0">
                <a:solidFill>
                  <a:srgbClr val="000066"/>
                </a:solidFill>
                <a:latin typeface="Calibri" pitchFamily="34" charset="0"/>
                <a:ea typeface="Calibri" pitchFamily="34" charset="-122"/>
                <a:cs typeface="Calibri" pitchFamily="34" charset="-120"/>
              </a:rPr>
              <a:t>Limitations</a:t>
            </a:r>
            <a:endParaRPr lang="en-US" sz="1800" dirty="0"/>
          </a:p>
        </p:txBody>
      </p:sp>
      <p:sp>
        <p:nvSpPr>
          <p:cNvPr id="7" name="Text 4"/>
          <p:cNvSpPr txBox="1"/>
          <p:nvPr/>
        </p:nvSpPr>
        <p:spPr>
          <a:xfrm>
            <a:off x="822960" y="2880360"/>
            <a:ext cx="3429000" cy="2606040"/>
          </a:xfrm>
          <a:prstGeom prst="rect">
            <a:avLst/>
          </a:prstGeom>
          <a:noFill/>
          <a:ln/>
        </p:spPr>
        <p:txBody>
          <a:bodyPr wrap="square" lIns="0" tIns="0" rIns="0" bIns="0" rtlCol="0" anchor="t"/>
          <a:lstStyle/>
          <a:p>
            <a:pPr marL="190500" indent="-190500">
              <a:spcAft>
                <a:spcPts val="1400"/>
              </a:spcAft>
              <a:buSzPct val="100000"/>
              <a:buChar char="•"/>
            </a:pPr>
            <a:r>
              <a:rPr lang="en-US" sz="1500" dirty="0" b="1">
                <a:solidFill>
                  <a:srgbClr val="4A4A7A"/>
                </a:solidFill>
                <a:latin typeface="Calibri" pitchFamily="34" charset="0"/>
                <a:ea typeface="Calibri" pitchFamily="34" charset="-122"/>
                <a:cs typeface="Calibri" pitchFamily="34" charset="-120"/>
              </a:rPr>
              <a:t xml:space="preserve">Claims: </a:t>
            </a:r>
            <a:r>
              <a:rPr lang="en-US" sz="1500" dirty="0" b="0">
                <a:solidFill>
                  <a:srgbClr val="4A4A7A"/>
                </a:solidFill>
                <a:latin typeface="Calibri" pitchFamily="34" charset="0"/>
                <a:ea typeface="Calibri" pitchFamily="34" charset="-122"/>
                <a:cs typeface="Calibri" pitchFamily="34" charset="-120"/>
              </a:rPr>
              <a:t>no claim approval, proof of ownership or Returned status</a:t>
            </a:r>
            <a:endParaRPr lang="en-US" sz="1500" dirty="0"/>
          </a:p>
          <a:p>
            <a:pPr marL="190500" indent="-190500">
              <a:spcAft>
                <a:spcPts val="1400"/>
              </a:spcAft>
              <a:buSzPct val="100000"/>
              <a:buChar char="•"/>
            </a:pPr>
            <a:r>
              <a:rPr lang="en-US" sz="1500" dirty="0" b="1">
                <a:solidFill>
                  <a:srgbClr val="4A4A7A"/>
                </a:solidFill>
                <a:latin typeface="Calibri" pitchFamily="34" charset="0"/>
                <a:ea typeface="Calibri" pitchFamily="34" charset="-122"/>
                <a:cs typeface="Calibri" pitchFamily="34" charset="-120"/>
              </a:rPr>
              <a:t xml:space="preserve">Moderation: </a:t>
            </a:r>
            <a:r>
              <a:rPr lang="en-US" sz="1500" dirty="0" b="0">
                <a:solidFill>
                  <a:srgbClr val="4A4A7A"/>
                </a:solidFill>
                <a:latin typeface="Calibri" pitchFamily="34" charset="0"/>
                <a:ea typeface="Calibri" pitchFamily="34" charset="-122"/>
                <a:cs typeface="Calibri" pitchFamily="34" charset="-120"/>
              </a:rPr>
              <a:t>no admin role; no way to report a user or a false post</a:t>
            </a:r>
            <a:endParaRPr lang="en-US" sz="1500" dirty="0"/>
          </a:p>
          <a:p>
            <a:pPr marL="190500" indent="-190500">
              <a:spcAft>
                <a:spcPts val="1400"/>
              </a:spcAft>
              <a:buSzPct val="100000"/>
              <a:buChar char="•"/>
            </a:pPr>
            <a:r>
              <a:rPr lang="en-US" sz="1500" dirty="0" b="1">
                <a:solidFill>
                  <a:srgbClr val="4A4A7A"/>
                </a:solidFill>
                <a:latin typeface="Calibri" pitchFamily="34" charset="0"/>
                <a:ea typeface="Calibri" pitchFamily="34" charset="-122"/>
                <a:cs typeface="Calibri" pitchFamily="34" charset="-120"/>
              </a:rPr>
              <a:t xml:space="preserve">Security: </a:t>
            </a:r>
            <a:r>
              <a:rPr lang="en-US" sz="1500" dirty="0" b="0">
                <a:solidFill>
                  <a:srgbClr val="4A4A7A"/>
                </a:solidFill>
                <a:latin typeface="Calibri" pitchFamily="34" charset="0"/>
                <a:ea typeface="Calibri" pitchFamily="34" charset="-122"/>
                <a:cs typeface="Calibri" pitchFamily="34" charset="-120"/>
              </a:rPr>
              <a:t>chat key derivable from the app; verification checked app-side</a:t>
            </a:r>
            <a:endParaRPr lang="en-US" sz="1500" dirty="0"/>
          </a:p>
          <a:p>
            <a:pPr marL="190500" indent="-190500">
              <a:spcAft>
                <a:spcPts val="1400"/>
              </a:spcAft>
              <a:buSzPct val="100000"/>
              <a:buChar char="•"/>
            </a:pPr>
            <a:r>
              <a:rPr lang="en-US" sz="1500" dirty="0" b="1">
                <a:solidFill>
                  <a:srgbClr val="4A4A7A"/>
                </a:solidFill>
                <a:latin typeface="Calibri" pitchFamily="34" charset="0"/>
                <a:ea typeface="Calibri" pitchFamily="34" charset="-122"/>
                <a:cs typeface="Calibri" pitchFamily="34" charset="-120"/>
              </a:rPr>
              <a:t xml:space="preserve">Evaluation: </a:t>
            </a:r>
            <a:r>
              <a:rPr lang="en-US" sz="1500" dirty="0" b="0">
                <a:solidFill>
                  <a:srgbClr val="4A4A7A"/>
                </a:solidFill>
                <a:latin typeface="Calibri" pitchFamily="34" charset="0"/>
                <a:ea typeface="Calibri" pitchFamily="34" charset="-122"/>
                <a:cs typeface="Calibri" pitchFamily="34" charset="-120"/>
              </a:rPr>
              <a:t>no automated tests; usability study not yet run</a:t>
            </a:r>
            <a:endParaRPr lang="en-US" sz="1500" dirty="0"/>
          </a:p>
        </p:txBody>
      </p:sp>
      <p:sp>
        <p:nvSpPr>
          <p:cNvPr id="8" name="Shape 5"/>
          <p:cNvSpPr/>
          <p:nvPr/>
        </p:nvSpPr>
        <p:spPr>
          <a:xfrm>
            <a:off x="4709160" y="1874520"/>
            <a:ext cx="3886200" cy="37490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9" name="Shape 6"/>
          <p:cNvSpPr/>
          <p:nvPr/>
        </p:nvSpPr>
        <p:spPr>
          <a:xfrm>
            <a:off x="4983480" y="2103120"/>
            <a:ext cx="548640" cy="548640"/>
          </a:xfrm>
          <a:prstGeom prst="ellipse">
            <a:avLst/>
          </a:prstGeom>
          <a:solidFill>
            <a:srgbClr val="000066"/>
          </a:solidFill>
          <a:ln w="12700">
            <a:solidFill>
              <a:srgbClr val="000066"/>
            </a:solidFill>
            <a:prstDash val="solid"/>
          </a:ln>
        </p:spPr>
      </p:sp>
      <p:pic>
        <p:nvPicPr>
          <p:cNvPr id="10" name="Image 1" descr="preencoded.png">    </p:cNvPr>
          <p:cNvPicPr>
            <a:picLocks noChangeAspect="1"/>
          </p:cNvPicPr>
          <p:nvPr/>
        </p:nvPicPr>
        <p:blipFill>
          <a:blip r:embed="rId2"/>
          <a:stretch>
            <a:fillRect/>
          </a:stretch>
        </p:blipFill>
        <p:spPr>
          <a:xfrm>
            <a:off x="5120640" y="2240280"/>
            <a:ext cx="274320" cy="274320"/>
          </a:xfrm>
          <a:prstGeom prst="rect">
            <a:avLst/>
          </a:prstGeom>
        </p:spPr>
      </p:pic>
      <p:sp>
        <p:nvSpPr>
          <p:cNvPr id="11" name="Text 7"/>
          <p:cNvSpPr txBox="1"/>
          <p:nvPr/>
        </p:nvSpPr>
        <p:spPr>
          <a:xfrm>
            <a:off x="5669280" y="2103120"/>
            <a:ext cx="2743200" cy="548640"/>
          </a:xfrm>
          <a:prstGeom prst="rect">
            <a:avLst/>
          </a:prstGeom>
          <a:noFill/>
          <a:ln/>
        </p:spPr>
        <p:txBody>
          <a:bodyPr wrap="square" lIns="0" tIns="0" rIns="0" bIns="0" rtlCol="0" anchor="ctr"/>
          <a:lstStyle/>
          <a:p>
            <a:pPr indent="0" marL="0">
              <a:buNone/>
            </a:pPr>
            <a:r>
              <a:rPr lang="en-US" sz="1800" b="1" dirty="0">
                <a:solidFill>
                  <a:srgbClr val="000066"/>
                </a:solidFill>
                <a:latin typeface="Calibri" pitchFamily="34" charset="0"/>
                <a:ea typeface="Calibri" pitchFamily="34" charset="-122"/>
                <a:cs typeface="Calibri" pitchFamily="34" charset="-120"/>
              </a:rPr>
              <a:t>Future Work</a:t>
            </a:r>
            <a:endParaRPr lang="en-US" sz="1800" dirty="0"/>
          </a:p>
        </p:txBody>
      </p:sp>
      <p:sp>
        <p:nvSpPr>
          <p:cNvPr id="12" name="Text 8"/>
          <p:cNvSpPr txBox="1"/>
          <p:nvPr/>
        </p:nvSpPr>
        <p:spPr>
          <a:xfrm>
            <a:off x="4983480" y="2880360"/>
            <a:ext cx="3429000" cy="2606040"/>
          </a:xfrm>
          <a:prstGeom prst="rect">
            <a:avLst/>
          </a:prstGeom>
          <a:noFill/>
          <a:ln/>
        </p:spPr>
        <p:txBody>
          <a:bodyPr wrap="square" lIns="0" tIns="0" rIns="0" bIns="0" rtlCol="0" anchor="t"/>
          <a:lstStyle/>
          <a:p>
            <a:pPr marL="190500" indent="-190500">
              <a:spcAft>
                <a:spcPts val="1400"/>
              </a:spcAft>
              <a:buSzPct val="100000"/>
              <a:buChar char="•"/>
            </a:pPr>
            <a:r>
              <a:rPr lang="en-US" sz="1500" dirty="0">
                <a:solidFill>
                  <a:srgbClr val="4A4A7A"/>
                </a:solidFill>
                <a:latin typeface="Calibri" pitchFamily="34" charset="0"/>
                <a:ea typeface="Calibri" pitchFamily="34" charset="-122"/>
                <a:cs typeface="Calibri" pitchFamily="34" charset="-120"/>
              </a:rPr>
              <a:t>Add a claim workflow with proof questions and a Returned status</a:t>
            </a:r>
            <a:endParaRPr lang="en-US" sz="1500" dirty="0"/>
          </a:p>
          <a:p>
            <a:pPr marL="190500" indent="-190500">
              <a:spcAft>
                <a:spcPts val="1400"/>
              </a:spcAft>
              <a:buSzPct val="100000"/>
              <a:buChar char="•"/>
            </a:pPr>
            <a:r>
              <a:rPr lang="en-US" sz="1500" dirty="0">
                <a:solidFill>
                  <a:srgbClr val="4A4A7A"/>
                </a:solidFill>
                <a:latin typeface="Calibri" pitchFamily="34" charset="0"/>
                <a:ea typeface="Calibri" pitchFamily="34" charset="-122"/>
                <a:cs typeface="Calibri" pitchFamily="34" charset="-120"/>
              </a:rPr>
              <a:t>Add an admin console and user reporting for moderation</a:t>
            </a:r>
            <a:endParaRPr lang="en-US" sz="1500" dirty="0"/>
          </a:p>
          <a:p>
            <a:pPr marL="190500" indent="-190500">
              <a:spcAft>
                <a:spcPts val="1400"/>
              </a:spcAft>
              <a:buSzPct val="100000"/>
              <a:buChar char="•"/>
            </a:pPr>
            <a:r>
              <a:rPr lang="en-US" sz="1500" dirty="0">
                <a:solidFill>
                  <a:srgbClr val="4A4A7A"/>
                </a:solidFill>
                <a:latin typeface="Calibri" pitchFamily="34" charset="0"/>
                <a:ea typeface="Calibri" pitchFamily="34" charset="-122"/>
                <a:cs typeface="Calibri" pitchFamily="34" charset="-120"/>
              </a:rPr>
              <a:t>Per-user key exchange; rules that require a verified university email</a:t>
            </a:r>
            <a:endParaRPr lang="en-US" sz="1500" dirty="0"/>
          </a:p>
          <a:p>
            <a:pPr marL="190500" indent="-190500">
              <a:spcAft>
                <a:spcPts val="1400"/>
              </a:spcAft>
              <a:buSzPct val="100000"/>
              <a:buChar char="•"/>
            </a:pPr>
            <a:r>
              <a:rPr lang="en-US" sz="1500" dirty="0">
                <a:solidFill>
                  <a:srgbClr val="4A4A7A"/>
                </a:solidFill>
                <a:latin typeface="Calibri" pitchFamily="34" charset="0"/>
                <a:ea typeface="Calibri" pitchFamily="34" charset="-122"/>
                <a:cs typeface="Calibri" pitchFamily="34" charset="-120"/>
              </a:rPr>
              <a:t>Finish My reported items, password reset and dark mode; add tests, run the study</a:t>
            </a:r>
            <a:endParaRPr lang="en-US" sz="15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548640" y="1874520"/>
            <a:ext cx="2514600" cy="26060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4" name="Text 2"/>
          <p:cNvSpPr txBox="1"/>
          <p:nvPr/>
        </p:nvSpPr>
        <p:spPr>
          <a:xfrm>
            <a:off x="777240" y="2057400"/>
            <a:ext cx="2103120" cy="731520"/>
          </a:xfrm>
          <a:prstGeom prst="rect">
            <a:avLst/>
          </a:prstGeom>
          <a:noFill/>
          <a:ln/>
        </p:spPr>
        <p:txBody>
          <a:bodyPr wrap="square" lIns="0" tIns="0" rIns="0" bIns="0" rtlCol="0" anchor="ctr"/>
          <a:lstStyle/>
          <a:p>
            <a:pPr indent="0" marL="0">
              <a:buNone/>
            </a:pPr>
            <a:r>
              <a:rPr lang="en-US" sz="4000" b="1" dirty="0">
                <a:solidFill>
                  <a:srgbClr val="B08B57"/>
                </a:solidFill>
                <a:latin typeface="Calibri" pitchFamily="34" charset="0"/>
                <a:ea typeface="Calibri" pitchFamily="34" charset="-122"/>
                <a:cs typeface="Calibri" pitchFamily="34" charset="-120"/>
              </a:rPr>
              <a:t>01</a:t>
            </a:r>
            <a:endParaRPr lang="en-US" sz="4000" dirty="0"/>
          </a:p>
        </p:txBody>
      </p:sp>
      <p:sp>
        <p:nvSpPr>
          <p:cNvPr id="5" name="Text 3"/>
          <p:cNvSpPr txBox="1"/>
          <p:nvPr/>
        </p:nvSpPr>
        <p:spPr>
          <a:xfrm>
            <a:off x="777240" y="2834640"/>
            <a:ext cx="2103120" cy="411480"/>
          </a:xfrm>
          <a:prstGeom prst="rect">
            <a:avLst/>
          </a:prstGeom>
          <a:noFill/>
          <a:ln/>
        </p:spPr>
        <p:txBody>
          <a:bodyPr wrap="square" lIns="0" tIns="0" rIns="0" bIns="0" rtlCol="0" anchor="ctr"/>
          <a:lstStyle/>
          <a:p>
            <a:pPr indent="0" marL="0">
              <a:buNone/>
            </a:pPr>
            <a:r>
              <a:rPr lang="en-US" sz="1800" b="1" dirty="0">
                <a:solidFill>
                  <a:srgbClr val="000066"/>
                </a:solidFill>
                <a:latin typeface="Calibri" pitchFamily="34" charset="0"/>
                <a:ea typeface="Calibri" pitchFamily="34" charset="-122"/>
                <a:cs typeface="Calibri" pitchFamily="34" charset="-120"/>
              </a:rPr>
              <a:t>The problem</a:t>
            </a:r>
            <a:endParaRPr lang="en-US" sz="1800" dirty="0"/>
          </a:p>
        </p:txBody>
      </p:sp>
      <p:sp>
        <p:nvSpPr>
          <p:cNvPr id="6" name="Text 4"/>
          <p:cNvSpPr txBox="1"/>
          <p:nvPr/>
        </p:nvSpPr>
        <p:spPr>
          <a:xfrm>
            <a:off x="777240" y="3291840"/>
            <a:ext cx="2103120" cy="1051560"/>
          </a:xfrm>
          <a:prstGeom prst="rect">
            <a:avLst/>
          </a:prstGeom>
          <a:noFill/>
          <a:ln/>
        </p:spPr>
        <p:txBody>
          <a:bodyPr wrap="square" lIns="0" tIns="0" rIns="0" bIns="0" rtlCol="0" anchor="t"/>
          <a:lstStyle/>
          <a:p>
            <a:pPr indent="0" marL="0">
              <a:buNone/>
            </a:pPr>
            <a:r>
              <a:rPr lang="en-US" sz="1500" dirty="0">
                <a:solidFill>
                  <a:srgbClr val="4A4A7A"/>
                </a:solidFill>
                <a:latin typeface="Calibri" pitchFamily="34" charset="0"/>
                <a:ea typeface="Calibri" pitchFamily="34" charset="-122"/>
                <a:cs typeface="Calibri" pitchFamily="34" charset="-120"/>
              </a:rPr>
              <a:t>Lost items on campus are chased through WhatsApp posts and notice boards that get buried.</a:t>
            </a:r>
            <a:endParaRPr lang="en-US" sz="1500" dirty="0"/>
          </a:p>
        </p:txBody>
      </p:sp>
      <p:sp>
        <p:nvSpPr>
          <p:cNvPr id="7" name="Shape 5"/>
          <p:cNvSpPr/>
          <p:nvPr/>
        </p:nvSpPr>
        <p:spPr>
          <a:xfrm>
            <a:off x="3314700" y="1874520"/>
            <a:ext cx="2514600" cy="26060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8" name="Text 6"/>
          <p:cNvSpPr txBox="1"/>
          <p:nvPr/>
        </p:nvSpPr>
        <p:spPr>
          <a:xfrm>
            <a:off x="3543300" y="2057400"/>
            <a:ext cx="2103120" cy="731520"/>
          </a:xfrm>
          <a:prstGeom prst="rect">
            <a:avLst/>
          </a:prstGeom>
          <a:noFill/>
          <a:ln/>
        </p:spPr>
        <p:txBody>
          <a:bodyPr wrap="square" lIns="0" tIns="0" rIns="0" bIns="0" rtlCol="0" anchor="ctr"/>
          <a:lstStyle/>
          <a:p>
            <a:pPr indent="0" marL="0">
              <a:buNone/>
            </a:pPr>
            <a:r>
              <a:rPr lang="en-US" sz="4000" b="1" dirty="0">
                <a:solidFill>
                  <a:srgbClr val="B08B57"/>
                </a:solidFill>
                <a:latin typeface="Calibri" pitchFamily="34" charset="0"/>
                <a:ea typeface="Calibri" pitchFamily="34" charset="-122"/>
                <a:cs typeface="Calibri" pitchFamily="34" charset="-120"/>
              </a:rPr>
              <a:t>02</a:t>
            </a:r>
            <a:endParaRPr lang="en-US" sz="4000" dirty="0"/>
          </a:p>
        </p:txBody>
      </p:sp>
      <p:sp>
        <p:nvSpPr>
          <p:cNvPr id="9" name="Text 7"/>
          <p:cNvSpPr txBox="1"/>
          <p:nvPr/>
        </p:nvSpPr>
        <p:spPr>
          <a:xfrm>
            <a:off x="3543300" y="2834640"/>
            <a:ext cx="2103120" cy="411480"/>
          </a:xfrm>
          <a:prstGeom prst="rect">
            <a:avLst/>
          </a:prstGeom>
          <a:noFill/>
          <a:ln/>
        </p:spPr>
        <p:txBody>
          <a:bodyPr wrap="square" lIns="0" tIns="0" rIns="0" bIns="0" rtlCol="0" anchor="ctr"/>
          <a:lstStyle/>
          <a:p>
            <a:pPr indent="0" marL="0">
              <a:buNone/>
            </a:pPr>
            <a:r>
              <a:rPr lang="en-US" sz="1800" b="1" dirty="0">
                <a:solidFill>
                  <a:srgbClr val="000066"/>
                </a:solidFill>
                <a:latin typeface="Calibri" pitchFamily="34" charset="0"/>
                <a:ea typeface="Calibri" pitchFamily="34" charset="-122"/>
                <a:cs typeface="Calibri" pitchFamily="34" charset="-120"/>
              </a:rPr>
              <a:t>The artefact</a:t>
            </a:r>
            <a:endParaRPr lang="en-US" sz="1800" dirty="0"/>
          </a:p>
        </p:txBody>
      </p:sp>
      <p:sp>
        <p:nvSpPr>
          <p:cNvPr id="10" name="Text 8"/>
          <p:cNvSpPr txBox="1"/>
          <p:nvPr/>
        </p:nvSpPr>
        <p:spPr>
          <a:xfrm>
            <a:off x="3543300" y="3291840"/>
            <a:ext cx="2103120" cy="1051560"/>
          </a:xfrm>
          <a:prstGeom prst="rect">
            <a:avLst/>
          </a:prstGeom>
          <a:noFill/>
          <a:ln/>
        </p:spPr>
        <p:txBody>
          <a:bodyPr wrap="square" lIns="0" tIns="0" rIns="0" bIns="0" rtlCol="0" anchor="t"/>
          <a:lstStyle/>
          <a:p>
            <a:pPr indent="0" marL="0">
              <a:buNone/>
            </a:pPr>
            <a:r>
              <a:rPr lang="en-US" sz="1500" dirty="0">
                <a:solidFill>
                  <a:srgbClr val="4A4A7A"/>
                </a:solidFill>
                <a:latin typeface="Calibri" pitchFamily="34" charset="0"/>
                <a:ea typeface="Calibri" pitchFamily="34" charset="-122"/>
                <a:cs typeface="Calibri" pitchFamily="34" charset="-120"/>
              </a:rPr>
              <a:t>A mobile app taking an item from report, through live search, to a private encrypted chat.</a:t>
            </a:r>
            <a:endParaRPr lang="en-US" sz="1500" dirty="0"/>
          </a:p>
        </p:txBody>
      </p:sp>
      <p:sp>
        <p:nvSpPr>
          <p:cNvPr id="11" name="Shape 9"/>
          <p:cNvSpPr/>
          <p:nvPr/>
        </p:nvSpPr>
        <p:spPr>
          <a:xfrm>
            <a:off x="6080760" y="1874520"/>
            <a:ext cx="2514600" cy="2606040"/>
          </a:xfrm>
          <a:prstGeom prst="rect">
            <a:avLst/>
          </a:prstGeom>
          <a:solidFill>
            <a:srgbClr val="FFFFFF"/>
          </a:solidFill>
          <a:ln w="9525">
            <a:solidFill>
              <a:srgbClr val="D3D3E6"/>
            </a:solidFill>
            <a:prstDash val="solid"/>
          </a:ln>
          <a:effectLst>
            <a:outerShdw sx="100000" sy="100000" kx="0" ky="0" algn="bl" rotWithShape="0" blurRad="50800" dist="19050" dir="5400000">
              <a:srgbClr val="000000">
                <a:alpha val="12000"/>
              </a:srgbClr>
            </a:outerShdw>
          </a:effectLst>
        </p:spPr>
      </p:sp>
      <p:sp>
        <p:nvSpPr>
          <p:cNvPr id="12" name="Text 10"/>
          <p:cNvSpPr txBox="1"/>
          <p:nvPr/>
        </p:nvSpPr>
        <p:spPr>
          <a:xfrm>
            <a:off x="6309360" y="2057400"/>
            <a:ext cx="2103120" cy="731520"/>
          </a:xfrm>
          <a:prstGeom prst="rect">
            <a:avLst/>
          </a:prstGeom>
          <a:noFill/>
          <a:ln/>
        </p:spPr>
        <p:txBody>
          <a:bodyPr wrap="square" lIns="0" tIns="0" rIns="0" bIns="0" rtlCol="0" anchor="ctr"/>
          <a:lstStyle/>
          <a:p>
            <a:pPr indent="0" marL="0">
              <a:buNone/>
            </a:pPr>
            <a:r>
              <a:rPr lang="en-US" sz="4000" b="1" dirty="0">
                <a:solidFill>
                  <a:srgbClr val="B08B57"/>
                </a:solidFill>
                <a:latin typeface="Calibri" pitchFamily="34" charset="0"/>
                <a:ea typeface="Calibri" pitchFamily="34" charset="-122"/>
                <a:cs typeface="Calibri" pitchFamily="34" charset="-120"/>
              </a:rPr>
              <a:t>03</a:t>
            </a:r>
            <a:endParaRPr lang="en-US" sz="4000" dirty="0"/>
          </a:p>
        </p:txBody>
      </p:sp>
      <p:sp>
        <p:nvSpPr>
          <p:cNvPr id="13" name="Text 11"/>
          <p:cNvSpPr txBox="1"/>
          <p:nvPr/>
        </p:nvSpPr>
        <p:spPr>
          <a:xfrm>
            <a:off x="6309360" y="2834640"/>
            <a:ext cx="2103120" cy="411480"/>
          </a:xfrm>
          <a:prstGeom prst="rect">
            <a:avLst/>
          </a:prstGeom>
          <a:noFill/>
          <a:ln/>
        </p:spPr>
        <p:txBody>
          <a:bodyPr wrap="square" lIns="0" tIns="0" rIns="0" bIns="0" rtlCol="0" anchor="ctr"/>
          <a:lstStyle/>
          <a:p>
            <a:pPr indent="0" marL="0">
              <a:buNone/>
            </a:pPr>
            <a:r>
              <a:rPr lang="en-US" sz="1800" b="1" dirty="0">
                <a:solidFill>
                  <a:srgbClr val="000066"/>
                </a:solidFill>
                <a:latin typeface="Calibri" pitchFamily="34" charset="0"/>
                <a:ea typeface="Calibri" pitchFamily="34" charset="-122"/>
                <a:cs typeface="Calibri" pitchFamily="34" charset="-120"/>
              </a:rPr>
              <a:t>The evidence</a:t>
            </a:r>
            <a:endParaRPr lang="en-US" sz="1800" dirty="0"/>
          </a:p>
        </p:txBody>
      </p:sp>
      <p:sp>
        <p:nvSpPr>
          <p:cNvPr id="14" name="Text 12"/>
          <p:cNvSpPr txBox="1"/>
          <p:nvPr/>
        </p:nvSpPr>
        <p:spPr>
          <a:xfrm>
            <a:off x="6309360" y="3291840"/>
            <a:ext cx="2103120" cy="1051560"/>
          </a:xfrm>
          <a:prstGeom prst="rect">
            <a:avLst/>
          </a:prstGeom>
          <a:noFill/>
          <a:ln/>
        </p:spPr>
        <p:txBody>
          <a:bodyPr wrap="square" lIns="0" tIns="0" rIns="0" bIns="0" rtlCol="0" anchor="t"/>
          <a:lstStyle/>
          <a:p>
            <a:pPr indent="0" marL="0">
              <a:buNone/>
            </a:pPr>
            <a:r>
              <a:rPr lang="en-US" sz="1500" dirty="0">
                <a:solidFill>
                  <a:srgbClr val="4A4A7A"/>
                </a:solidFill>
                <a:latin typeface="Calibri" pitchFamily="34" charset="0"/>
                <a:ea typeface="Calibri" pitchFamily="34" charset="-122"/>
                <a:cs typeface="Calibri" pitchFamily="34" charset="-120"/>
              </a:rPr>
              <a:t>12 requirements built across 10 screens and 5 service modules. Usability study to come.</a:t>
            </a:r>
            <a:endParaRPr lang="en-US" sz="1500" dirty="0"/>
          </a:p>
        </p:txBody>
      </p:sp>
      <p:sp>
        <p:nvSpPr>
          <p:cNvPr id="15" name="Shape 13"/>
          <p:cNvSpPr/>
          <p:nvPr/>
        </p:nvSpPr>
        <p:spPr>
          <a:xfrm>
            <a:off x="548640" y="4754880"/>
            <a:ext cx="8046720" cy="960120"/>
          </a:xfrm>
          <a:prstGeom prst="rect">
            <a:avLst/>
          </a:prstGeom>
          <a:solidFill>
            <a:srgbClr val="000066"/>
          </a:solidFill>
          <a:ln w="12700">
            <a:solidFill>
              <a:srgbClr val="000066"/>
            </a:solidFill>
            <a:prstDash val="solid"/>
          </a:ln>
        </p:spPr>
      </p:sp>
      <p:sp>
        <p:nvSpPr>
          <p:cNvPr id="16" name="Text 14"/>
          <p:cNvSpPr txBox="1"/>
          <p:nvPr/>
        </p:nvSpPr>
        <p:spPr>
          <a:xfrm>
            <a:off x="822960" y="4754880"/>
            <a:ext cx="7498080" cy="960120"/>
          </a:xfrm>
          <a:prstGeom prst="rect">
            <a:avLst/>
          </a:prstGeom>
          <a:noFill/>
          <a:ln/>
        </p:spPr>
        <p:txBody>
          <a:bodyPr wrap="square" lIns="0" tIns="0" rIns="0" bIns="0" rtlCol="0" anchor="ctr"/>
          <a:lstStyle/>
          <a:p>
            <a:pPr indent="0" marL="0">
              <a:buNone/>
            </a:pPr>
            <a:r>
              <a:rPr lang="en-US" sz="1700" dirty="0">
                <a:solidFill>
                  <a:srgbClr val="FFFFFF"/>
                </a:solidFill>
                <a:latin typeface="Calibri" pitchFamily="34" charset="0"/>
                <a:ea typeface="Calibri" pitchFamily="34" charset="-122"/>
                <a:cs typeface="Calibri" pitchFamily="34" charset="-120"/>
              </a:rPr>
              <a:t>CampusFinder shows that verified accounts, access rules, live search and encrypted chat can be delivered in one serverless mobile app, and leaves a documented base the Department can extend with claims and moderation.</a:t>
            </a:r>
            <a:endParaRPr lang="en-US" sz="17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5" type="title" hasCustomPrompt="1"/>
          </p:nvPr>
        </p:nvSpPr>
        <p:spPr>
          <a:xfrm>
            <a:off x="548640" y="365760"/>
            <a:ext cx="8046720" cy="114300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References</a:t>
            </a:r>
            <a:endParaRPr lang="en-US" sz="3200" dirty="0"/>
          </a:p>
        </p:txBody>
      </p:sp>
      <p:sp>
        <p:nvSpPr>
          <p:cNvPr id="3" name="Text 3"/>
          <p:cNvSpPr/>
          <p:nvPr>
            <p:ph idx="106" type="body" hasCustomPrompt="1"/>
          </p:nvPr>
        </p:nvSpPr>
        <p:spPr>
          <a:xfrm>
            <a:off x="548640" y="1874520"/>
            <a:ext cx="8046720" cy="4206240"/>
          </a:xfrm>
          <a:prstGeom prst="rect">
            <a:avLst/>
          </a:prstGeom>
          <a:noFill/>
          <a:ln/>
        </p:spPr>
        <p:txBody>
          <a:bodyPr wrap="square" rtlCol="0" anchor="t"/>
          <a:lstStyle/>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Apple Inc. (2021, April 20). Apple introduces AirTag [Press release]. https://www.apple.com/newsroom/2021/04/apple-introduces-airtag/</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Brooke, J. (1996). SUS: A 'quick and dirty' usability scale. In P. W. Jordan, B. Thomas, B. A. Weerdmeester, &amp; I. L. McClelland (Eds.), Usability evaluation in industry (pp. 189-194). Taylor &amp; Francis.</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Chargerback. (n.d.). About the company. https://www.chargerback.com/the-company.asp</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Cloudinary. (n.d.). Upload API reference. https://cloudinary.com/documentation/image_upload_api_reference [VERIFY page title]</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Crowdfind. (n.d.). Lost and found software. https://www.crowdfind.com [VERIFY page title]</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Google. (n.d.). Get started with Cloud Firestore Security Rules. Firebase documentation. https://firebase.google.com/docs/firestore/security/get-started</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Hevner, A. R., March, S. T., Park, J., &amp; Ram, S. (2004). Design science in information systems research. MIS Quarterly, 28(1), 75-105.</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National Institute of Standards and Technology. (2001). Advanced Encryption Standard (AES) (FIPS PUB 197). https://doi.org/10.6028/NIST.FIPS.197</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Peffers, K., Tuunanen, T., Rothenberger, M. A., &amp; Chatterjee, S. (2007). A design science research methodology for information systems research. Journal of Management Information Systems, 24(3), 45-77.</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Republic of Ghana. (2012). Data Protection Act, 2012 (Act 843). Accra: Assembly Press.</a:t>
            </a:r>
            <a:pPr indent="0" marL="0">
              <a:spcAft>
                <a:spcPts val="1000"/>
              </a:spcAft>
              <a:buNone/>
            </a:pPr>
            <a:pPr indent="0" marL="0">
              <a:spcAft>
                <a:spcPts val="1000"/>
              </a:spcAft>
              <a:buNone/>
            </a:pPr>
            <a:endParaRPr lang="en-US" sz="1800" dirty="0"/>
          </a:p>
          <a:p>
            <a:pPr indent="0" marL="0">
              <a:spcAft>
                <a:spcPts val="1000"/>
              </a:spcAft>
              <a:buNone/>
            </a:pPr>
            <a:r>
              <a:rPr lang="en-US" sz="1100" dirty="0">
                <a:solidFill>
                  <a:srgbClr val="000066"/>
                </a:solidFill>
                <a:latin typeface="Calibri" pitchFamily="34" charset="0"/>
                <a:ea typeface="Calibri" pitchFamily="34" charset="-122"/>
                <a:cs typeface="Calibri" pitchFamily="34" charset="-120"/>
              </a:rPr>
              <a:t>Tan &amp; Chong. An effective lost and found system in university campus. [VERIFY: initials, year, journal and pages before citing]</a:t>
            </a:r>
            <a:pPr indent="0" marL="0">
              <a:spcAft>
                <a:spcPts val="1000"/>
              </a:spcAft>
              <a:buNone/>
            </a:pPr>
            <a:pPr indent="0" marL="0">
              <a:spcAft>
                <a:spcPts val="1000"/>
              </a:spcAft>
              <a:buNone/>
            </a:pPr>
            <a:endParaRPr lang="en-US" sz="1800" dirty="0"/>
          </a:p>
        </p:txBody>
      </p:sp>
      <p:sp>
        <p:nvSpPr>
          <p:cNvPr id="25" name="Slide Number Placeholder 0"/>
          <p:cNvSpPr>
            <a:spLocks noGrp="1"/>
          </p:cNvSpPr>
          <p:nvPr>
            <p:ph type="sldNum" sz="quarter" idx="4294967295"/>
          </p:nvPr>
        </p:nvSpPr>
        <p:spPr>
          <a:xfrm>
            <a:off x="45720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4A4A7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617720"/>
          </a:xfrm>
          <a:prstGeom prst="rect">
            <a:avLst/>
          </a:prstGeom>
          <a:solidFill>
            <a:srgbClr val="000066"/>
          </a:solidFill>
          <a:ln w="12700">
            <a:solidFill>
              <a:srgbClr val="000066"/>
            </a:solidFill>
            <a:prstDash val="solid"/>
          </a:ln>
        </p:spPr>
      </p:sp>
      <p:sp>
        <p:nvSpPr>
          <p:cNvPr id="3" name="Shape 1"/>
          <p:cNvSpPr/>
          <p:nvPr/>
        </p:nvSpPr>
        <p:spPr>
          <a:xfrm>
            <a:off x="0" y="4617720"/>
            <a:ext cx="9144000" cy="201168"/>
          </a:xfrm>
          <a:prstGeom prst="rect">
            <a:avLst/>
          </a:prstGeom>
          <a:solidFill>
            <a:srgbClr val="B08B57"/>
          </a:solidFill>
          <a:ln w="12700">
            <a:solidFill>
              <a:srgbClr val="B08B57"/>
            </a:solidFill>
            <a:prstDash val="solid"/>
          </a:ln>
        </p:spPr>
      </p:sp>
      <p:sp>
        <p:nvSpPr>
          <p:cNvPr id="4" name="Text 2"/>
          <p:cNvSpPr txBox="1"/>
          <p:nvPr/>
        </p:nvSpPr>
        <p:spPr>
          <a:xfrm>
            <a:off x="548640" y="411480"/>
            <a:ext cx="8046720" cy="1828800"/>
          </a:xfrm>
          <a:prstGeom prst="rect">
            <a:avLst/>
          </a:prstGeom>
          <a:noFill/>
          <a:ln/>
        </p:spPr>
        <p:txBody>
          <a:bodyPr wrap="square" lIns="0" tIns="0" rIns="0" bIns="0" rtlCol="0" anchor="ctr">
            <a:normAutofit/>
          </a:bodyP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a:t>
            </a:r>
            <a:endParaRPr lang="en-US" sz="4000" dirty="0"/>
          </a:p>
        </p:txBody>
      </p:sp>
      <p:sp>
        <p:nvSpPr>
          <p:cNvPr id="5" name="Text 3"/>
          <p:cNvSpPr txBox="1"/>
          <p:nvPr/>
        </p:nvSpPr>
        <p:spPr>
          <a:xfrm>
            <a:off x="548640" y="2514600"/>
            <a:ext cx="8046720" cy="594360"/>
          </a:xfrm>
          <a:prstGeom prst="rect">
            <a:avLst/>
          </a:prstGeom>
          <a:noFill/>
          <a:ln/>
          <a:effectLst>
            <a:outerShdw sx="100000" sy="100000" kx="0" ky="0" algn="bl" rotWithShape="0" blurRad="38100" dist="25400" dir="2700000">
              <a:srgbClr val="000000">
                <a:alpha val="60000"/>
              </a:srgbClr>
            </a:outerShdw>
          </a:effectLst>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Questions &amp; Comments</a:t>
            </a:r>
            <a:endParaRPr lang="en-US" sz="3000" dirty="0"/>
          </a:p>
        </p:txBody>
      </p:sp>
      <p:sp>
        <p:nvSpPr>
          <p:cNvPr id="6" name="Text 4"/>
          <p:cNvSpPr txBox="1"/>
          <p:nvPr/>
        </p:nvSpPr>
        <p:spPr>
          <a:xfrm>
            <a:off x="548640" y="3383280"/>
            <a:ext cx="8046720" cy="868680"/>
          </a:xfrm>
          <a:prstGeom prst="rect">
            <a:avLst/>
          </a:prstGeom>
          <a:noFill/>
          <a:ln/>
        </p:spPr>
        <p:txBody>
          <a:bodyPr wrap="square" lIns="0" tIns="0" rIns="0" bIns="0" rtlCol="0" anchor="ctr"/>
          <a:lstStyle/>
          <a:p>
            <a:pPr algn="ctr" indent="0" marL="0">
              <a:buNone/>
            </a:pPr>
            <a:r>
              <a:rPr lang="en-US" sz="2000" b="1" dirty="0">
                <a:solidFill>
                  <a:srgbClr val="DCE6F2"/>
                </a:solidFill>
                <a:latin typeface="Times New Roman" pitchFamily="34" charset="0"/>
                <a:ea typeface="Times New Roman" pitchFamily="34" charset="-122"/>
                <a:cs typeface="Times New Roman" pitchFamily="34" charset="-120"/>
              </a:rPr>
              <a:t>Theodore Abbey Gyaqueh ([INSERT student number])</a:t>
            </a:r>
            <a:endParaRPr lang="en-US" sz="2000" dirty="0"/>
          </a:p>
          <a:p>
            <a:pPr algn="ctr" indent="0" marL="0">
              <a:buNone/>
            </a:pPr>
            <a:r>
              <a:rPr lang="en-US" sz="2000" dirty="0" b="0">
                <a:solidFill>
                  <a:srgbClr val="FFFFFF"/>
                </a:solidFill>
                <a:latin typeface="Times New Roman" pitchFamily="34" charset="0"/>
                <a:ea typeface="Times New Roman" pitchFamily="34" charset="-122"/>
                <a:cs typeface="Times New Roman" pitchFamily="34" charset="-120"/>
              </a:rPr>
              <a:t>Supervisor: Mr. Julius Ludu</a:t>
            </a:r>
            <a:endParaRPr lang="en-US" sz="2000" dirty="0"/>
          </a:p>
        </p:txBody>
      </p:sp>
      <p:pic>
        <p:nvPicPr>
          <p:cNvPr id="7" name="Image 0" descr="crest.png">    </p:cNvPr>
          <p:cNvPicPr>
            <a:picLocks noChangeAspect="1"/>
          </p:cNvPicPr>
          <p:nvPr/>
        </p:nvPicPr>
        <p:blipFill>
          <a:blip r:embed="rId1"/>
          <a:stretch>
            <a:fillRect/>
          </a:stretch>
        </p:blipFill>
        <p:spPr>
          <a:xfrm>
            <a:off x="822960" y="5001768"/>
            <a:ext cx="868680" cy="1064362"/>
          </a:xfrm>
          <a:prstGeom prst="rect">
            <a:avLst/>
          </a:prstGeom>
        </p:spPr>
      </p:pic>
      <p:pic>
        <p:nvPicPr>
          <p:cNvPr id="8" name="Image 1" descr="wordmark.png">    </p:cNvPr>
          <p:cNvPicPr>
            <a:picLocks noChangeAspect="1"/>
          </p:cNvPicPr>
          <p:nvPr/>
        </p:nvPicPr>
        <p:blipFill>
          <a:blip r:embed="rId2"/>
          <a:stretch>
            <a:fillRect/>
          </a:stretch>
        </p:blipFill>
        <p:spPr>
          <a:xfrm>
            <a:off x="2121408" y="5074920"/>
            <a:ext cx="6053328" cy="416966"/>
          </a:xfrm>
          <a:prstGeom prst="rect">
            <a:avLst/>
          </a:prstGeom>
        </p:spPr>
      </p:pic>
      <p:sp>
        <p:nvSpPr>
          <p:cNvPr id="9" name="Text 5"/>
          <p:cNvSpPr txBox="1"/>
          <p:nvPr/>
        </p:nvSpPr>
        <p:spPr>
          <a:xfrm>
            <a:off x="1920240" y="5559552"/>
            <a:ext cx="6492240" cy="274320"/>
          </a:xfrm>
          <a:prstGeom prst="rect">
            <a:avLst/>
          </a:prstGeom>
          <a:noFill/>
          <a:ln/>
        </p:spPr>
        <p:txBody>
          <a:bodyPr wrap="square" lIns="0" tIns="0" rIns="0" bIns="0" rtlCol="0" anchor="ctr"/>
          <a:lstStyle/>
          <a:p>
            <a:pPr algn="ctr" indent="0" marL="0">
              <a:buNone/>
            </a:pPr>
            <a:r>
              <a:rPr lang="en-US" sz="1600" dirty="0">
                <a:solidFill>
                  <a:srgbClr val="002060"/>
                </a:solidFill>
                <a:latin typeface="Tw Cen MT" pitchFamily="34" charset="0"/>
                <a:ea typeface="Tw Cen MT" pitchFamily="34" charset="-122"/>
                <a:cs typeface="Tw Cen MT" pitchFamily="34" charset="-120"/>
              </a:rPr>
              <a:t>College of Basic and Applied Sciences (CBAS)</a:t>
            </a:r>
            <a:endParaRPr lang="en-US" sz="1600" dirty="0"/>
          </a:p>
        </p:txBody>
      </p:sp>
      <p:sp>
        <p:nvSpPr>
          <p:cNvPr id="10" name="Text 6"/>
          <p:cNvSpPr txBox="1"/>
          <p:nvPr/>
        </p:nvSpPr>
        <p:spPr>
          <a:xfrm>
            <a:off x="1920240" y="5833872"/>
            <a:ext cx="6492240" cy="274320"/>
          </a:xfrm>
          <a:prstGeom prst="rect">
            <a:avLst/>
          </a:prstGeom>
          <a:noFill/>
          <a:ln/>
        </p:spPr>
        <p:txBody>
          <a:bodyPr wrap="square" lIns="0" tIns="0" rIns="0" bIns="0" rtlCol="0" anchor="ctr"/>
          <a:lstStyle/>
          <a:p>
            <a:pPr algn="ctr" indent="0" marL="0">
              <a:buNone/>
            </a:pPr>
            <a:r>
              <a:rPr lang="en-US" sz="1600" b="1" dirty="0">
                <a:solidFill>
                  <a:srgbClr val="002060"/>
                </a:solidFill>
                <a:latin typeface="Tw Cen MT" pitchFamily="34" charset="0"/>
                <a:ea typeface="Tw Cen MT" pitchFamily="34" charset="-122"/>
                <a:cs typeface="Tw Cen MT" pitchFamily="34" charset="-120"/>
              </a:rPr>
              <a:t>School of Physical and Mathematical Sciences (SPMS)</a:t>
            </a:r>
            <a:endParaRPr lang="en-US" sz="1600" dirty="0"/>
          </a:p>
        </p:txBody>
      </p:sp>
      <p:sp>
        <p:nvSpPr>
          <p:cNvPr id="11" name="Text 7"/>
          <p:cNvSpPr txBox="1"/>
          <p:nvPr/>
        </p:nvSpPr>
        <p:spPr>
          <a:xfrm>
            <a:off x="1920240" y="6108192"/>
            <a:ext cx="6492240" cy="274320"/>
          </a:xfrm>
          <a:prstGeom prst="rect">
            <a:avLst/>
          </a:prstGeom>
          <a:noFill/>
          <a:ln/>
        </p:spPr>
        <p:txBody>
          <a:bodyPr wrap="square" lIns="0" tIns="0" rIns="0" bIns="0" rtlCol="0" anchor="ctr"/>
          <a:lstStyle/>
          <a:p>
            <a:pPr algn="ctr" indent="0" marL="0">
              <a:buNone/>
            </a:pPr>
            <a:r>
              <a:rPr lang="en-US" sz="1600" b="1" dirty="0">
                <a:solidFill>
                  <a:srgbClr val="002060"/>
                </a:solidFill>
                <a:latin typeface="Tw Cen MT" pitchFamily="34" charset="0"/>
                <a:ea typeface="Tw Cen MT" pitchFamily="34" charset="-122"/>
                <a:cs typeface="Tw Cen MT" pitchFamily="34" charset="-120"/>
              </a:rPr>
              <a:t>Department of Computer Science</a:t>
            </a:r>
            <a:endParaRPr lang="en-US" sz="1600" dirty="0"/>
          </a:p>
        </p:txBody>
      </p:sp>
      <p:sp>
        <p:nvSpPr>
          <p:cNvPr id="12" name="Text 8"/>
          <p:cNvSpPr txBox="1"/>
          <p:nvPr/>
        </p:nvSpPr>
        <p:spPr>
          <a:xfrm>
            <a:off x="1920240" y="6400800"/>
            <a:ext cx="6492240" cy="237744"/>
          </a:xfrm>
          <a:prstGeom prst="rect">
            <a:avLst/>
          </a:prstGeom>
          <a:noFill/>
          <a:ln/>
        </p:spPr>
        <p:txBody>
          <a:bodyPr wrap="square" lIns="0" tIns="0" rIns="0" bIns="0" rtlCol="0" anchor="ctr"/>
          <a:lstStyle/>
          <a:p>
            <a:pPr algn="ctr" indent="0" marL="0">
              <a:buNone/>
            </a:pPr>
            <a:r>
              <a:rPr lang="en-US" sz="1200" dirty="0">
                <a:solidFill>
                  <a:srgbClr val="002060"/>
                </a:solidFill>
                <a:latin typeface="Tw Cen MT" pitchFamily="34" charset="0"/>
                <a:ea typeface="Tw Cen MT" pitchFamily="34" charset="-122"/>
                <a:cs typeface="Tw Cen MT" pitchFamily="34" charset="-120"/>
              </a:rPr>
              <a:t>[INSERT defence month and year]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CampusFinder Project Defence</dc:title>
  <dc:subject>BSc Computer Science Project Defence</dc:subject>
  <dc:creator>Theodore Abbey Gyaqueh</dc:creator>
  <cp:lastModifiedBy>Theodore Abbey Gyaqueh</cp:lastModifiedBy>
  <cp:revision>1</cp:revision>
  <dcterms:created xsi:type="dcterms:W3CDTF">2026-09-19T21:49:50Z</dcterms:created>
  <dcterms:modified xsi:type="dcterms:W3CDTF">2026-09-19T21:49:50Z</dcterms:modified>
</cp:coreProperties>
</file>